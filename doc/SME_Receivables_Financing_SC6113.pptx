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8257bae894e4485" /><Relationship Type="http://schemas.openxmlformats.org/officeDocument/2006/relationships/extended-properties" Target="/docProps/app.xml" Id="Rf6081787a29d41d3" /><Relationship Type="http://schemas.openxmlformats.org/officeDocument/2006/relationships/officeDocument" Target="/ppt/presentation.xml" Id="Rabef21554fa84f85" /></Relationships>
</file>

<file path=ppt/presentation.xml><?xml version="1.0" encoding="utf-8"?>
<p:presentation xmlns:p="http://schemas.openxmlformats.org/presentationml/2006/main">
  <p:sldMasterIdLst>
    <p:sldMasterId xmlns:r="http://schemas.openxmlformats.org/officeDocument/2006/relationships" id="2147483648" r:id="Rc5325ae585d74db5"/>
  </p:sldMasterIdLst>
  <p:notesMasterIdLst>
    <p:notesMasterId xmlns:r="http://schemas.openxmlformats.org/officeDocument/2006/relationships" r:id="R5df62f599b154ed5"/>
  </p:notesMasterIdLst>
  <p:sldIdLst>
    <p:sldId xmlns:r="http://schemas.openxmlformats.org/officeDocument/2006/relationships" id="256" r:id="Rcf1095df6558480a"/>
    <p:sldId xmlns:r="http://schemas.openxmlformats.org/officeDocument/2006/relationships" id="257" r:id="R68882b037cfe4084"/>
    <p:sldId xmlns:r="http://schemas.openxmlformats.org/officeDocument/2006/relationships" id="258" r:id="R3d087825f49c4ba8"/>
    <p:sldId xmlns:r="http://schemas.openxmlformats.org/officeDocument/2006/relationships" id="259" r:id="Rd4f0d417c31346ce"/>
    <p:sldId xmlns:r="http://schemas.openxmlformats.org/officeDocument/2006/relationships" id="260" r:id="R906a611bc7fc4b25"/>
    <p:sldId xmlns:r="http://schemas.openxmlformats.org/officeDocument/2006/relationships" id="261" r:id="Rcee89b2762d84df9"/>
    <p:sldId xmlns:r="http://schemas.openxmlformats.org/officeDocument/2006/relationships" id="262" r:id="R98fc06bb45494391"/>
    <p:sldId xmlns:r="http://schemas.openxmlformats.org/officeDocument/2006/relationships" id="263" r:id="R62cb6cde8d414b99"/>
    <p:sldId xmlns:r="http://schemas.openxmlformats.org/officeDocument/2006/relationships" id="264" r:id="R4189036d15f84a3e"/>
    <p:sldId xmlns:r="http://schemas.openxmlformats.org/officeDocument/2006/relationships" id="265" r:id="R1ad323962d524de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56728e58ee74f41" /><Relationship Type="http://schemas.openxmlformats.org/officeDocument/2006/relationships/slideMaster" Target="/ppt/slideMasters/slideMaster1.xml" Id="Rc5325ae585d74db5" /><Relationship Type="http://schemas.openxmlformats.org/officeDocument/2006/relationships/notesMaster" Target="/ppt/notesMasters/notesMaster1.xml" Id="R5df62f599b154ed5" /><Relationship Type="http://schemas.openxmlformats.org/officeDocument/2006/relationships/presProps" Target="/ppt/presProps.xml" Id="R570774ed724d43fb" /><Relationship Type="http://schemas.openxmlformats.org/officeDocument/2006/relationships/tableStyles" Target="/ppt/tableStyles.xml" Id="R8028de4d0d4a427b" /><Relationship Type="http://schemas.openxmlformats.org/officeDocument/2006/relationships/slide" Target="/ppt/slides/slide1.xml" Id="Rcf1095df6558480a" /><Relationship Type="http://schemas.openxmlformats.org/officeDocument/2006/relationships/slide" Target="/ppt/slides/slide2.xml" Id="R68882b037cfe4084" /><Relationship Type="http://schemas.openxmlformats.org/officeDocument/2006/relationships/slide" Target="/ppt/slides/slide3.xml" Id="R3d087825f49c4ba8" /><Relationship Type="http://schemas.openxmlformats.org/officeDocument/2006/relationships/slide" Target="/ppt/slides/slide4.xml" Id="Rd4f0d417c31346ce" /><Relationship Type="http://schemas.openxmlformats.org/officeDocument/2006/relationships/slide" Target="/ppt/slides/slide5.xml" Id="R906a611bc7fc4b25" /><Relationship Type="http://schemas.openxmlformats.org/officeDocument/2006/relationships/slide" Target="/ppt/slides/slide6.xml" Id="Rcee89b2762d84df9" /><Relationship Type="http://schemas.openxmlformats.org/officeDocument/2006/relationships/slide" Target="/ppt/slides/slide7.xml" Id="R98fc06bb45494391" /><Relationship Type="http://schemas.openxmlformats.org/officeDocument/2006/relationships/slide" Target="/ppt/slides/slide8.xml" Id="R62cb6cde8d414b99" /><Relationship Type="http://schemas.openxmlformats.org/officeDocument/2006/relationships/slide" Target="/ppt/slides/slide9.xml" Id="R4189036d15f84a3e" /><Relationship Type="http://schemas.openxmlformats.org/officeDocument/2006/relationships/slide" Target="/ppt/slides/slide10.xml" Id="R1ad323962d524d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9c4c31b2a54f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aa4c79c438474b" /><Relationship Type="http://schemas.openxmlformats.org/officeDocument/2006/relationships/notesMaster" Target="/ppt/notesMasters/notesMaster1.xml" Id="R1f5c3de74dcb40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378c95ac1c4c44" /><Relationship Type="http://schemas.openxmlformats.org/officeDocument/2006/relationships/notesMaster" Target="/ppt/notesMasters/notesMaster1.xml" Id="Rab7d6b0ca2b242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42263fb4e0463c" /><Relationship Type="http://schemas.openxmlformats.org/officeDocument/2006/relationships/notesMaster" Target="/ppt/notesMasters/notesMaster1.xml" Id="R5818e194f61d45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8869b5e23c4cdf" /><Relationship Type="http://schemas.openxmlformats.org/officeDocument/2006/relationships/notesMaster" Target="/ppt/notesMasters/notesMaster1.xml" Id="R768aa18562484d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be457b6764493e" /><Relationship Type="http://schemas.openxmlformats.org/officeDocument/2006/relationships/notesMaster" Target="/ppt/notesMasters/notesMaster1.xml" Id="Rfae11132fda54e8c" /></Relationships>
</file>

<file path=ppt/notesSlides/_rels/notesSlide6.xml.rels>&#65279;<?xml version="1.0" encoding="utf-8"?><Relationships xmlns="http://schemas.openxmlformats.org/package/2006/relationships"><Relationship Type="http://schemas.openxmlformats.org/officeDocument/2006/relationships/slide" Target="/ppt/slides/slide6.xml" Id="R780147343e65429b" /><Relationship Type="http://schemas.openxmlformats.org/officeDocument/2006/relationships/notesMaster" Target="/ppt/notesMasters/notesMaster1.xml" Id="R547828eb985a46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3f9cb407c14136" /><Relationship Type="http://schemas.openxmlformats.org/officeDocument/2006/relationships/notesMaster" Target="/ppt/notesMasters/notesMaster1.xml" Id="R0cd625b8cd4c4a3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35760ceb0f74412" /><Relationship Type="http://schemas.openxmlformats.org/officeDocument/2006/relationships/notesMaster" Target="/ppt/notesMasters/notesMaster1.xml" Id="Rc540cca37fb247f5"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433897f6e44a27" /><Relationship Type="http://schemas.openxmlformats.org/officeDocument/2006/relationships/notesMaster" Target="/ppt/notesMasters/notesMaster1.xml" Id="R7439377a1fff491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b95e90a8362494b" /><Relationship Type="http://schemas.openxmlformats.org/officeDocument/2006/relationships/notesMaster" Target="/ppt/notesMasters/notesMaster1.xml" Id="R8f459a532ddc4a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SME Flow is a receivables financing application for small and medium-sized suppliers. It connects the Supplier, Buyer and Funder through an invoice confirmed by the Buyer. The prototype runs on Ethereum Sepolia, and our demonstration uses test ETH.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Suppliers can deliver goods before receiving payment, but still need cash for wages, materials and their next order. ADB's 2025 survey estimates a global trade finance gap of 2.5 trillion dollars. Our project addresses one part of this problem: coordinating financing around a confirmed invoice. Each party authorizes its own actions, while shared contract records allow participants to check the same invoice states and payments. Role approval and Buyer confirmation remain essential.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Supplier registers an invoice and the designated Buyer confirms it. Funders then quote an annual rate, and the Supplier selects an offer. Acceptance alone does not move any money. The selected Funder must transfer the full principal to the Pool. Later, the Buyer repays the invoice face value and the Pool distributes the funds. The Admin approves roles, the Arbitrator resolves disputes, and the Auditor reviews records. Contract checks also enforce participation and conflicts of interest.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example uses invoice INV-DEMO-001, with a face value of 0.05 test ETH and financing of 0.04. The Pool retains ten percent of the principal, or 0.004, as Holdback. The Supplier receives the remaining 0.036 test ETH. That equals 72 percent of this invoice's value, released at funding. The Holdback comes from the Funder's principal and remains in the Pool for the later settlement or default allocation.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React interface prepares requests, and MetaMask lets users approve signatures and transactions. Flask supports login and invoice metadata, with application records stored in SQLite. The five contracts handle roles, invoices, financing, payments and disputes. They hold the authoritative financial state and custody of the funds. The interface also reads contract states and events directly, so the audit view can bring together current status, payment allocations and transaction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funding, a participant can open a dispute. Financing operations freeze, but the Buyer can still pay the full invoice value into escrow. The invoice then becomes RepaymentDeposited. When an eligible Arbitrator who is not a participant in this invoice selects RESUME, the contract clears the freeze and settles the locked allocation in the same transaction. The invoice becomes Repaid and the financing becomes Settled. If full repayment has not been deposited, RESUME only restores the workflow. The Buyer cannot pay twice after repayment has entered escrow.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demonstration follows one receivable through the full workflow. We start with role approval, invoice registration and Buyer confirmation. Next, the Supplier requests financing and accepts a Funder's offer, after which funding releases the advance. We then show a dispute with supporting evidence, followed by full repayment into escrow. The Arbitrator selects RESUME to complete settlement. Finally, the audit view connects the final invoice states with the payment allocations and transaction receipts.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scenario connects invoice confirmation, funding, disputed repayment and audit in one DApp. In the example, the Supplier receives 0.036 test ETH before Buyer repayment, equal to 72 percent of the invoice value. Repayment follows the locked allocation, while events and receipts show how the funds move. These are the liquidity and accounting results of this financial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this calculation, we assume 30 days remaining at funding and a platform fee of one percent of the principal. With a principal of 0.04 test ETH and an annual rate of six percent, interest is approximately 0.00019726. The fee is 0.0004. Interest is locked at funding using the remaining term, rounded up to whole days, and is not recalculated at repayment. The Funder receives principal plus interest, approximately 0.040197. The Supplier's final payment is approximately 0.013403. Final settlement distributes 0.054 test ETH: the Buyer's 0.05 payment plus the retained 0.004. Adding the Supplier's earlier receipt of 0.036 gives total payouts of 0.09, exactly equal to the principal plus Buyer repayment. Gas is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for listening. We would be happy to take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0e6aa7de3734d3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cdb20429d424b3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86cdc609f064b7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40869385d044d4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4d270733942421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72fd14f39ac4f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4253D8-C72B-47A7-9792-AB1E416F45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6EAF551-8726-4D04-B744-F818ADEF3B3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10A6636-1BB4-4623-A498-F84DA88D854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89621C-F136-4336-B28D-EE092ACA00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1A12479-5CF9-41BB-AF19-A0D4F8FCA2C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F12C340-ADA3-4294-A3EE-0C6EABC3F0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DEEB4D6-B2A7-4C74-9EEE-09DF417BA0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EDFD83E-00EF-4F4F-9A08-6E255231AE2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5605244-6B0B-48AD-AA7C-9B67799E1B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F5D040C-BBDB-4BCF-A162-913E7BE6DB8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254036693942f3" /><Relationship Type="http://schemas.openxmlformats.org/officeDocument/2006/relationships/slideLayout" Target="/ppt/slideLayouts/slideLayout1.xml" Id="R0400aa4b157f4cbf" /><Relationship Type="http://schemas.openxmlformats.org/officeDocument/2006/relationships/slideLayout" Target="/ppt/slideLayouts/slideLayout2.xml" Id="R7c9862ed67df4473" /><Relationship Type="http://schemas.openxmlformats.org/officeDocument/2006/relationships/slideLayout" Target="/ppt/slideLayouts/slideLayout3.xml" Id="Rfde7d64109a94852" /><Relationship Type="http://schemas.openxmlformats.org/officeDocument/2006/relationships/slideLayout" Target="/ppt/slideLayouts/slideLayout4.xml" Id="R0ae0a724b0954007" /><Relationship Type="http://schemas.openxmlformats.org/officeDocument/2006/relationships/slideLayout" Target="/ppt/slideLayouts/slideLayout5.xml" Id="R3c3507d5aa1546cc" /><Relationship Type="http://schemas.openxmlformats.org/officeDocument/2006/relationships/slideLayout" Target="/ppt/slideLayouts/slideLayout6.xml" Id="R8cee3fe0cab241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00aa4b157f4cbf"/>
    <p:sldLayoutId xmlns:r="http://schemas.openxmlformats.org/officeDocument/2006/relationships" id="2147483650" r:id="R7c9862ed67df4473"/>
    <p:sldLayoutId xmlns:r="http://schemas.openxmlformats.org/officeDocument/2006/relationships" id="2147483651" r:id="Rfde7d64109a94852"/>
    <p:sldLayoutId xmlns:r="http://schemas.openxmlformats.org/officeDocument/2006/relationships" id="2147483652" r:id="R0ae0a724b0954007"/>
    <p:sldLayoutId xmlns:r="http://schemas.openxmlformats.org/officeDocument/2006/relationships" id="2147483653" r:id="R3c3507d5aa1546cc"/>
    <p:sldLayoutId xmlns:r="http://schemas.openxmlformats.org/officeDocument/2006/relationships" id="2147483654" r:id="R8cee3fe0cab241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c04fe903341472c" /><Relationship Type="http://schemas.openxmlformats.org/officeDocument/2006/relationships/image" Target="/ppt/media/image.jpeg" Id="Rf65b175daaed43c3" /><Relationship Type="http://schemas.openxmlformats.org/officeDocument/2006/relationships/notesSlide" Target="/ppt/notesSlides/notesSlide1.xml" Id="Ra0025206232946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0ed890b787047c0" /><Relationship Type="http://schemas.openxmlformats.org/officeDocument/2006/relationships/notesSlide" Target="/ppt/notesSlides/notesSlide2.xml" Id="R9007662016ef41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fcaff65d97b4b86" /><Relationship Type="http://schemas.openxmlformats.org/officeDocument/2006/relationships/notesSlide" Target="/ppt/notesSlides/notesSlide3.xml" Id="Rf9795c3765804f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ca954b7484e464c" /><Relationship Type="http://schemas.openxmlformats.org/officeDocument/2006/relationships/chart" Target="/ppt/slides/charts/chart1.xml" Id="R42a522f80e724dfb" /><Relationship Type="http://schemas.openxmlformats.org/officeDocument/2006/relationships/notesSlide" Target="/ppt/notesSlides/notesSlide4.xml" Id="R486e3f4d5cf3474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24a6ae3c3874347" /><Relationship Type="http://schemas.openxmlformats.org/officeDocument/2006/relationships/notesSlide" Target="/ppt/notesSlides/notesSlide5.xml" Id="Re3b46d5216bf44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466ac1363624356" /><Relationship Type="http://schemas.openxmlformats.org/officeDocument/2006/relationships/notesSlide" Target="/ppt/notesSlides/notesSlide6.xml" Id="R4c2d20c383f946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84e04e0e1704e5a" /><Relationship Type="http://schemas.openxmlformats.org/officeDocument/2006/relationships/notesSlide" Target="/ppt/notesSlides/notesSlide7.xml" Id="Rc3c5d817968647c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01fe27e2d454b83" /><Relationship Type="http://schemas.openxmlformats.org/officeDocument/2006/relationships/notesSlide" Target="/ppt/notesSlides/notesSlide8.xml" Id="R46d1b97ee76743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a5298e60e2741f6" /><Relationship Type="http://schemas.openxmlformats.org/officeDocument/2006/relationships/notesSlide" Target="/ppt/notesSlides/notesSlide9.xml" Id="R94e6dafd571b4be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365c79ea4054030" /><Relationship Type="http://schemas.openxmlformats.org/officeDocument/2006/relationships/notesSlide" Target="/ppt/notesSlides/notesSlide10.xml" Id="R514a3791d3aa4a5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Funding amounts</c:v>
          </c:tx>
          <c:spPr>
            <a:solidFill xmlns:a="http://schemas.openxmlformats.org/drawingml/2006/main">
              <a:srgbClr val="286D96"/>
            </a:solidFill>
          </c:spPr>
          <c:dPt>
            <c:idx val="0"/>
            <c:invertIfNegative val="0"/>
            <c:spPr>
              <a:solidFill xmlns:a="http://schemas.openxmlformats.org/drawingml/2006/main">
                <a:srgbClr val="CFDCE7"/>
              </a:solidFill>
            </c:spPr>
          </c:dPt>
          <c:dPt>
            <c:idx val="1"/>
            <c:invertIfNegative val="0"/>
            <c:spPr>
              <a:solidFill xmlns:a="http://schemas.openxmlformats.org/drawingml/2006/main">
                <a:srgbClr val="286D96"/>
              </a:solidFill>
            </c:spPr>
          </c:dPt>
          <c:dPt>
            <c:idx val="2"/>
            <c:invertIfNegative val="0"/>
            <c:spPr>
              <a:solidFill xmlns:a="http://schemas.openxmlformats.org/drawingml/2006/main">
                <a:srgbClr val="B88746"/>
              </a:solidFill>
            </c:spPr>
          </c:dPt>
          <c:cat>
            <c:strRef>
              <c:f>'Chart Data'!$A$2:$A$4</c:f>
              <c:strCache>
                <c:ptCount val="3"/>
                <c:pt idx="0">
                  <c:v>Invoice
value</c:v>
                </c:pt>
                <c:pt idx="1">
                  <c:v>Funder
principal</c:v>
                </c:pt>
                <c:pt idx="2">
                  <c:v>Supplier
upfront</c:v>
                </c:pt>
              </c:strCache>
            </c:strRef>
          </c:cat>
          <c:val>
            <c:numRef>
              <c:f>'Chart Data'!$B$2:$B$4</c:f>
              <c:numCache>
                <c:formatCode>General</c:formatCode>
                <c:ptCount val="3"/>
                <c:pt idx="0">
                  <c:v>0.05</c:v>
                </c:pt>
                <c:pt idx="1">
                  <c:v>0.04</c:v>
                </c:pt>
                <c:pt idx="2">
                  <c:v>0.036</c:v>
                </c:pt>
              </c:numCache>
            </c:numRef>
          </c:val>
        </c:ser>
        <c:dLbls>
          <c:numFmt formatCode="0.000&quot; ETH&quot;" sourceLinked="0"/>
          <c:txPr>
            <a:bodyPr xmlns:a="http://schemas.openxmlformats.org/drawingml/2006/main" anchorCtr="1"/>
            <a:lstStyle xmlns:a="http://schemas.openxmlformats.org/drawingml/2006/main"/>
            <a:p xmlns:a="http://schemas.openxmlformats.org/drawingml/2006/main">
              <a:pPr>
                <a:defRPr sz="2100" b="1">
                  <a:solidFill>
                    <a:srgbClr val="132D46"/>
                  </a:solidFill>
                  <a:latin typeface="Nimbus Sans"/>
                  <a:ea typeface="Nimbus Sans"/>
                  <a:cs typeface="Nimbus Sans"/>
                </a:defRPr>
              </a:pPr>
            </a:p>
          </c:txPr>
          <c:dLblPos val="outEnd"/>
          <c:showLegendKey val="0"/>
          <c:showVal val="1"/>
          <c:showCatName val="0"/>
          <c:showSerName val="0"/>
          <c:showPercent val="0"/>
          <c:showBubbleSize val="0"/>
          <c:showLeaderLines val="0"/>
        </c:dLbls>
        <c:gapWidth val="1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DC"/>
            </a:solidFill>
          </a:ln>
        </c:spPr>
        <c:txPr>
          <a:bodyPr xmlns:a="http://schemas.openxmlformats.org/drawingml/2006/main" anchorCtr="1"/>
          <a:lstStyle xmlns:a="http://schemas.openxmlformats.org/drawingml/2006/main"/>
          <a:p xmlns:a="http://schemas.openxmlformats.org/drawingml/2006/main">
            <a:pPr>
              <a:defRPr sz="1875">
                <a:solidFill>
                  <a:srgbClr val="132D46"/>
                </a:solidFill>
                <a:latin typeface="Nimbus Sans"/>
                <a:ea typeface="Nimbus Sans"/>
                <a:cs typeface="Nimbus Sans"/>
              </a:defRPr>
            </a:pPr>
          </a:p>
        </c:txPr>
        <c:crossAx val="48672768"/>
      </c:catAx>
      <c:valAx>
        <c:axId val="48672768"/>
        <c:scaling>
          <c:orientation val="minMax"/>
          <c:max val="0.06"/>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imbus Sans"/>
                <a:ea typeface="Nimbus Sans"/>
                <a:cs typeface="Nimbus Sans"/>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footer-rule-1">
            <a:extLst xmlns:a="http://schemas.openxmlformats.org/drawingml/2006/main">
              <a:ext uri="{FF2B5EF4-FFF2-40B4-BE49-F238E27FC236}">
                <a16:creationId xmlns:a16="http://schemas.microsoft.com/office/drawing/2014/main" id="{5B055085-6573-47CB-9AEB-EB0D723784DA}"/>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7620">
            <a:solidFill>
              <a:srgbClr val="CBD5DC"/>
            </a:solidFill>
            <a:prstDash val="solid"/>
          </a:ln>
        </p:spPr>
      </p:sp>
      <p:sp>
        <p:nvSpPr>
          <p:cNvPr id="2" name="brand-1">
            <a:extLst xmlns:a="http://schemas.openxmlformats.org/drawingml/2006/main">
              <a:ext uri="{FF2B5EF4-FFF2-40B4-BE49-F238E27FC236}">
                <a16:creationId xmlns:a16="http://schemas.microsoft.com/office/drawing/2014/main" id="{18574AAA-7E75-4E1C-83D9-918BC511E37F}"/>
              </a:ext>
            </a:extLst>
          </p:cNvPr>
          <p:cNvSpPr>
            <a:spLocks xmlns:a="http://schemas.openxmlformats.org/drawingml/2006/main" noGrp="1"/>
          </p:cNvSpPr>
          <p:nvPr/>
        </p:nvSpPr>
        <p:spPr>
          <a:xfrm xmlns:a="http://schemas.openxmlformats.org/drawingml/2006/main">
            <a:off x="609600" y="6591300"/>
            <a:ext cx="5810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67784"/>
                </a:solidFill>
                <a:latin typeface="Nimbus Sans"/>
                <a:ea typeface="Nimbus Sans"/>
                <a:cs typeface="Nimbus Sans"/>
              </a:defRPr>
            </a:defPPr>
          </a:lstStyle>
          <a:p xmlns:a="http://schemas.openxmlformats.org/drawingml/2006/main">
            <a:pPr algn="l">
              <a:buNone/>
              <a:defRPr sz="1125" b="0">
                <a:solidFill>
                  <a:srgbClr val="667784"/>
                </a:solidFill>
                <a:latin typeface="Nimbus Sans"/>
                <a:ea typeface="Nimbus Sans"/>
                <a:cs typeface="Nimbus Sans"/>
              </a:defRPr>
            </a:pPr>
            <a:r>
              <a:rPr sz="1125" b="0">
                <a:solidFill>
                  <a:srgbClr val="667784"/>
                </a:solidFill>
                <a:latin typeface="Nimbus Sans"/>
                <a:ea typeface="Nimbus Sans"/>
                <a:cs typeface="Nimbus Sans"/>
              </a:rPr>
              <a:t>SME Flow</a:t>
            </a:r>
          </a:p>
        </p:txBody>
      </p:sp>
      <p:sp>
        <p:nvSpPr>
          <p:cNvPr id="3" name="folio-1">
            <a:extLst xmlns:a="http://schemas.openxmlformats.org/drawingml/2006/main">
              <a:ext uri="{FF2B5EF4-FFF2-40B4-BE49-F238E27FC236}">
                <a16:creationId xmlns:a16="http://schemas.microsoft.com/office/drawing/2014/main" id="{DA112E87-4801-435B-A365-4496598A2CB4}"/>
              </a:ext>
            </a:extLst>
          </p:cNvPr>
          <p:cNvSpPr>
            <a:spLocks xmlns:a="http://schemas.openxmlformats.org/drawingml/2006/main" noGrp="1"/>
          </p:cNvSpPr>
          <p:nvPr/>
        </p:nvSpPr>
        <p:spPr>
          <a:xfrm xmlns:a="http://schemas.openxmlformats.org/drawingml/2006/main">
            <a:off x="11163300" y="659130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67784"/>
                </a:solidFill>
                <a:latin typeface="Nimbus Sans"/>
                <a:ea typeface="Nimbus Sans"/>
                <a:cs typeface="Nimbus Sans"/>
              </a:defRPr>
            </a:defPPr>
          </a:lstStyle>
          <a:p xmlns:a="http://schemas.openxmlformats.org/drawingml/2006/main">
            <a:pPr algn="r">
              <a:buNone/>
              <a:defRPr sz="1125" b="0">
                <a:solidFill>
                  <a:srgbClr val="667784"/>
                </a:solidFill>
                <a:latin typeface="Nimbus Sans"/>
                <a:ea typeface="Nimbus Sans"/>
                <a:cs typeface="Nimbus Sans"/>
              </a:defRPr>
            </a:pPr>
            <a:r>
              <a:rPr sz="1125" b="0">
                <a:solidFill>
                  <a:srgbClr val="667784"/>
                </a:solidFill>
                <a:latin typeface="Nimbus Sans"/>
                <a:ea typeface="Nimbus Sans"/>
                <a:cs typeface="Nimbus Sans"/>
              </a:rPr>
              <a:t>01</a:t>
            </a:r>
          </a:p>
        </p:txBody>
      </p:sp>
      <p:sp>
        <p:nvSpPr>
          <p:cNvPr id="4" name="course">
            <a:extLst xmlns:a="http://schemas.openxmlformats.org/drawingml/2006/main">
              <a:ext uri="{FF2B5EF4-FFF2-40B4-BE49-F238E27FC236}">
                <a16:creationId xmlns:a16="http://schemas.microsoft.com/office/drawing/2014/main" id="{9F4DDF0F-17DB-4FA6-9413-77C5D32925A1}"/>
              </a:ext>
            </a:extLst>
          </p:cNvPr>
          <p:cNvSpPr>
            <a:spLocks xmlns:a="http://schemas.openxmlformats.org/drawingml/2006/main" noGrp="1"/>
          </p:cNvSpPr>
          <p:nvPr/>
        </p:nvSpPr>
        <p:spPr>
          <a:xfrm xmlns:a="http://schemas.openxmlformats.org/drawingml/2006/main">
            <a:off x="609600" y="609600"/>
            <a:ext cx="6057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286D96"/>
                </a:solidFill>
                <a:latin typeface="Nimbus Sans"/>
                <a:ea typeface="Nimbus Sans"/>
                <a:cs typeface="Nimbus Sans"/>
              </a:defRPr>
            </a:defPPr>
          </a:lstStyle>
          <a:p xmlns:a="http://schemas.openxmlformats.org/drawingml/2006/main">
            <a:pPr algn="l">
              <a:buNone/>
              <a:defRPr sz="1500" b="1">
                <a:solidFill>
                  <a:srgbClr val="286D96"/>
                </a:solidFill>
                <a:latin typeface="Nimbus Sans"/>
                <a:ea typeface="Nimbus Sans"/>
                <a:cs typeface="Nimbus Sans"/>
              </a:defRPr>
            </a:pPr>
            <a:r>
              <a:rPr sz="1500" b="1">
                <a:solidFill>
                  <a:srgbClr val="286D96"/>
                </a:solidFill>
                <a:latin typeface="Nimbus Sans"/>
                <a:ea typeface="Nimbus Sans"/>
                <a:cs typeface="Nimbus Sans"/>
              </a:rPr>
              <a:t>SC6113 GROUP PROJECT</a:t>
            </a:r>
          </a:p>
        </p:txBody>
      </p:sp>
      <p:sp>
        <p:nvSpPr>
          <p:cNvPr id="5" name="product-name">
            <a:extLst xmlns:a="http://schemas.openxmlformats.org/drawingml/2006/main">
              <a:ext uri="{FF2B5EF4-FFF2-40B4-BE49-F238E27FC236}">
                <a16:creationId xmlns:a16="http://schemas.microsoft.com/office/drawing/2014/main" id="{9BA97805-EB4A-4169-B739-E75BF3EF1653}"/>
              </a:ext>
            </a:extLst>
          </p:cNvPr>
          <p:cNvSpPr>
            <a:spLocks xmlns:a="http://schemas.openxmlformats.org/drawingml/2006/main" noGrp="1"/>
          </p:cNvSpPr>
          <p:nvPr/>
        </p:nvSpPr>
        <p:spPr>
          <a:xfrm xmlns:a="http://schemas.openxmlformats.org/drawingml/2006/main">
            <a:off x="571500" y="1352550"/>
            <a:ext cx="61912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900" b="1">
                <a:solidFill>
                  <a:srgbClr val="132D46"/>
                </a:solidFill>
                <a:latin typeface="Nimbus Sans"/>
                <a:ea typeface="Nimbus Sans"/>
                <a:cs typeface="Nimbus Sans"/>
              </a:defRPr>
            </a:defPPr>
          </a:lstStyle>
          <a:p xmlns:a="http://schemas.openxmlformats.org/drawingml/2006/main">
            <a:pPr algn="l">
              <a:buNone/>
              <a:defRPr sz="6900" b="1">
                <a:solidFill>
                  <a:srgbClr val="132D46"/>
                </a:solidFill>
                <a:latin typeface="Nimbus Sans"/>
                <a:ea typeface="Nimbus Sans"/>
                <a:cs typeface="Nimbus Sans"/>
              </a:defRPr>
            </a:pPr>
            <a:r>
              <a:rPr sz="6900" b="1">
                <a:solidFill>
                  <a:srgbClr val="132D46"/>
                </a:solidFill>
                <a:latin typeface="Nimbus Sans"/>
                <a:ea typeface="Nimbus Sans"/>
                <a:cs typeface="Nimbus Sans"/>
              </a:rPr>
              <a:t>SME Flow</a:t>
            </a:r>
          </a:p>
        </p:txBody>
      </p:sp>
      <p:sp>
        <p:nvSpPr>
          <p:cNvPr id="6" name="product-description">
            <a:extLst xmlns:a="http://schemas.openxmlformats.org/drawingml/2006/main">
              <a:ext uri="{FF2B5EF4-FFF2-40B4-BE49-F238E27FC236}">
                <a16:creationId xmlns:a16="http://schemas.microsoft.com/office/drawing/2014/main" id="{4DE174EA-1EE8-41AD-8DCC-7ED182C93CA2}"/>
              </a:ext>
            </a:extLst>
          </p:cNvPr>
          <p:cNvSpPr>
            <a:spLocks xmlns:a="http://schemas.openxmlformats.org/drawingml/2006/main" noGrp="1"/>
          </p:cNvSpPr>
          <p:nvPr/>
        </p:nvSpPr>
        <p:spPr>
          <a:xfrm xmlns:a="http://schemas.openxmlformats.org/drawingml/2006/main">
            <a:off x="609600" y="2571750"/>
            <a:ext cx="60579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32D46"/>
                </a:solidFill>
                <a:latin typeface="Nimbus Sans"/>
                <a:ea typeface="Nimbus Sans"/>
                <a:cs typeface="Nimbus Sans"/>
              </a:defRPr>
            </a:defPPr>
          </a:lstStyle>
          <a:p xmlns:a="http://schemas.openxmlformats.org/drawingml/2006/main">
            <a:pPr algn="l">
              <a:buNone/>
              <a:defRPr sz="2400" b="0">
                <a:solidFill>
                  <a:srgbClr val="132D46"/>
                </a:solidFill>
                <a:latin typeface="Nimbus Sans"/>
                <a:ea typeface="Nimbus Sans"/>
                <a:cs typeface="Nimbus Sans"/>
              </a:defRPr>
            </a:pPr>
            <a:r>
              <a:rPr sz="2400" b="0">
                <a:solidFill>
                  <a:srgbClr val="132D46"/>
                </a:solidFill>
                <a:latin typeface="Nimbus Sans"/>
                <a:ea typeface="Nimbus Sans"/>
                <a:cs typeface="Nimbus Sans"/>
              </a:rPr>
              <a:t>Buyer-confirmed</a:t>
            </a:r>
          </a:p>
          <a:p xmlns:a="http://schemas.openxmlformats.org/drawingml/2006/main">
            <a:pPr algn="l">
              <a:buNone/>
              <a:defRPr sz="2400" b="0">
                <a:solidFill>
                  <a:srgbClr val="132D46"/>
                </a:solidFill>
                <a:latin typeface="Nimbus Sans"/>
                <a:ea typeface="Nimbus Sans"/>
                <a:cs typeface="Nimbus Sans"/>
              </a:defRPr>
            </a:pPr>
            <a:r>
              <a:rPr sz="2400" b="0">
                <a:solidFill>
                  <a:srgbClr val="132D46"/>
                </a:solidFill>
                <a:latin typeface="Nimbus Sans"/>
                <a:ea typeface="Nimbus Sans"/>
                <a:cs typeface="Nimbus Sans"/>
              </a:rPr>
              <a:t>receivables financing</a:t>
            </a:r>
          </a:p>
        </p:txBody>
      </p:sp>
      <p:sp>
        <p:nvSpPr>
          <p:cNvPr id="8" name="scope">
            <a:extLst xmlns:a="http://schemas.openxmlformats.org/drawingml/2006/main">
              <a:ext uri="{FF2B5EF4-FFF2-40B4-BE49-F238E27FC236}">
                <a16:creationId xmlns:a16="http://schemas.microsoft.com/office/drawing/2014/main" id="{303227EC-3723-4CAA-8F3D-0782FF7151B4}"/>
              </a:ext>
            </a:extLst>
          </p:cNvPr>
          <p:cNvSpPr>
            <a:spLocks xmlns:a="http://schemas.openxmlformats.org/drawingml/2006/main" noGrp="1"/>
          </p:cNvSpPr>
          <p:nvPr/>
        </p:nvSpPr>
        <p:spPr>
          <a:xfrm xmlns:a="http://schemas.openxmlformats.org/drawingml/2006/main">
            <a:off x="609600" y="61817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67784"/>
                </a:solidFill>
                <a:latin typeface="Nimbus Sans"/>
                <a:ea typeface="Nimbus Sans"/>
                <a:cs typeface="Nimbus Sans"/>
              </a:defRPr>
            </a:defPPr>
          </a:lstStyle>
          <a:p xmlns:a="http://schemas.openxmlformats.org/drawingml/2006/main">
            <a:pPr algn="l">
              <a:buNone/>
              <a:defRPr sz="1575" b="0">
                <a:solidFill>
                  <a:srgbClr val="667784"/>
                </a:solidFill>
                <a:latin typeface="Nimbus Sans"/>
                <a:ea typeface="Nimbus Sans"/>
                <a:cs typeface="Nimbus Sans"/>
              </a:defRPr>
            </a:pPr>
            <a:r>
              <a:rPr sz="1575" b="0">
                <a:solidFill>
                  <a:srgbClr val="667784"/>
                </a:solidFill>
                <a:latin typeface="Nimbus Sans"/>
                <a:ea typeface="Nimbus Sans"/>
                <a:cs typeface="Nimbus Sans"/>
              </a:rPr>
              <a:t>Ethereum Sepolia testnet prototype</a:t>
            </a:r>
          </a:p>
        </p:txBody>
      </p:sp>
      <p:pic>
        <p:nvPicPr>
          <p:cNvPr id="10" name="">
            <a:extLst xmlns:a="http://schemas.openxmlformats.org/drawingml/2006/main">
              <a:ext uri="{FF2B5EF4-FFF2-40B4-BE49-F238E27FC236}">
                <a16:creationId xmlns:a16="http://schemas.microsoft.com/office/drawing/2014/main" id="{E46119FA-26FC-4024-B348-E87992025F2E}"/>
              </a:ext>
            </a:extLst>
          </p:cNvPr>
          <p:cNvPicPr>
            <a:picLocks xmlns:a="http://schemas.openxmlformats.org/drawingml/2006/main" noChangeAspect="1"/>
          </p:cNvPicPr>
          <p:nvPr/>
        </p:nvPicPr>
        <p:blipFill>
          <a:blip xmlns:r="http://schemas.openxmlformats.org/officeDocument/2006/relationships" xmlns:a="http://schemas.openxmlformats.org/drawingml/2006/main" r:embed="Rf65b175daaed43c3"/>
          <a:srcRect xmlns:a="http://schemas.openxmlformats.org/drawingml/2006/main" l="12500" t="0" r="40373" b="0"/>
          <a:stretch xmlns:a="http://schemas.openxmlformats.org/drawingml/2006/main"/>
        </p:blipFill>
        <p:spPr>
          <a:xfrm xmlns:a="http://schemas.openxmlformats.org/drawingml/2006/main">
            <a:off x="7315200" y="609600"/>
            <a:ext cx="4267200" cy="5334000"/>
          </a:xfrm>
          <a:prstGeom xmlns:a="http://schemas.openxmlformats.org/drawingml/2006/main" prst="rect">
            <a:avLst/>
          </a:prstGeom>
        </p:spPr>
      </p:pic>
      <p:sp>
        <p:nvSpPr>
          <p:cNvPr id="11" name="group-members-label">
            <a:extLst xmlns:a="http://schemas.openxmlformats.org/drawingml/2006/main">
              <a:ext uri="{FF2B5EF4-FFF2-40B4-BE49-F238E27FC236}">
                <a16:creationId xmlns:a16="http://schemas.microsoft.com/office/drawing/2014/main" id="{0FF72019-F952-41CE-A2E8-FB6DB27A3F51}"/>
              </a:ext>
            </a:extLst>
          </p:cNvPr>
          <p:cNvSpPr>
            <a:spLocks xmlns:a="http://schemas.openxmlformats.org/drawingml/2006/main" noGrp="1"/>
          </p:cNvSpPr>
          <p:nvPr/>
        </p:nvSpPr>
        <p:spPr>
          <a:xfrm xmlns:a="http://schemas.openxmlformats.org/drawingml/2006/main">
            <a:off x="609600" y="3924300"/>
            <a:ext cx="6057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86D96"/>
                </a:solidFill>
                <a:latin typeface="Nimbus Sans"/>
                <a:ea typeface="Nimbus Sans"/>
                <a:cs typeface="Nimbus Sans"/>
              </a:defRPr>
            </a:defPPr>
          </a:lstStyle>
          <a:p xmlns:a="http://schemas.openxmlformats.org/drawingml/2006/main">
            <a:pPr algn="l">
              <a:buNone/>
              <a:defRPr sz="1650" b="1">
                <a:solidFill>
                  <a:srgbClr val="286D96"/>
                </a:solidFill>
                <a:latin typeface="Nimbus Sans"/>
                <a:ea typeface="Nimbus Sans"/>
                <a:cs typeface="Nimbus Sans"/>
              </a:defRPr>
            </a:pPr>
            <a:r>
              <a:rPr sz="1650" b="1">
                <a:solidFill>
                  <a:srgbClr val="286D96"/>
                </a:solidFill>
                <a:latin typeface="Nimbus Sans"/>
                <a:ea typeface="Nimbus Sans"/>
                <a:cs typeface="Nimbus Sans"/>
              </a:rPr>
              <a:t>Group members</a:t>
            </a:r>
          </a:p>
        </p:txBody>
      </p:sp>
      <p:sp>
        <p:nvSpPr>
          <p:cNvPr id="12" name="group-members-editable-area">
            <a:extLst xmlns:a="http://schemas.openxmlformats.org/drawingml/2006/main">
              <a:ext uri="{FF2B5EF4-FFF2-40B4-BE49-F238E27FC236}">
                <a16:creationId xmlns:a16="http://schemas.microsoft.com/office/drawing/2014/main" id="{1645E413-60A2-49F0-B578-539C4D61FA03}"/>
              </a:ext>
            </a:extLst>
          </p:cNvPr>
          <p:cNvSpPr>
            <a:spLocks xmlns:a="http://schemas.openxmlformats.org/drawingml/2006/main" noGrp="1"/>
          </p:cNvSpPr>
          <p:nvPr/>
        </p:nvSpPr>
        <p:spPr>
          <a:xfrm xmlns:a="http://schemas.openxmlformats.org/drawingml/2006/main">
            <a:off x="609600" y="4371975"/>
            <a:ext cx="60579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32D46"/>
                </a:solidFill>
                <a:latin typeface="Nimbus Sans"/>
                <a:ea typeface="Nimbus Sans"/>
                <a:cs typeface="Nimbus Sans"/>
              </a:defRPr>
            </a:defPPr>
          </a:lstStyle>
          <a:p xmlns:a="http://schemas.openxmlformats.org/drawingml/2006/main">
            <a:pPr algn="l">
              <a:buNone/>
              <a:defRPr sz="1650" b="0">
                <a:solidFill>
                  <a:srgbClr val="132D46"/>
                </a:solidFill>
                <a:latin typeface="Nimbus Sans"/>
                <a:ea typeface="Nimbus Sans"/>
                <a:cs typeface="Nimbus Sans"/>
              </a:defRPr>
            </a:pPr>
            <a:r>
              <a:rPr sz="1650" b="0">
                <a:solidFill>
                  <a:srgbClr val="132D46"/>
                </a:solidFill>
                <a:latin typeface="Nimbus Sans"/>
                <a:ea typeface="Nimbus Sans"/>
                <a:cs typeface="Nimbus Sans"/>
              </a:rPr>
              <a:t> </a:t>
            </a:r>
          </a:p>
        </p:txBody>
      </p:sp>
      <p:sp>
        <p:nvSpPr>
          <p:cNvPr id="13" name="group-members-writing-guide">
            <a:extLst xmlns:a="http://schemas.openxmlformats.org/drawingml/2006/main">
              <a:ext uri="{FF2B5EF4-FFF2-40B4-BE49-F238E27FC236}">
                <a16:creationId xmlns:a16="http://schemas.microsoft.com/office/drawing/2014/main" id="{F3B8D186-BFAE-4326-A03C-C9B6D1AF8B2C}"/>
              </a:ext>
            </a:extLst>
          </p:cNvPr>
          <p:cNvSpPr>
            <a:spLocks xmlns:a="http://schemas.openxmlformats.org/drawingml/2006/main" noGrp="1"/>
          </p:cNvSpPr>
          <p:nvPr/>
        </p:nvSpPr>
        <p:spPr>
          <a:xfrm xmlns:a="http://schemas.openxmlformats.org/drawingml/2006/main">
            <a:off x="609600" y="5953125"/>
            <a:ext cx="6057900" cy="0"/>
          </a:xfrm>
          <a:prstGeom xmlns:a="http://schemas.openxmlformats.org/drawingml/2006/main" prst="line">
            <a:avLst/>
          </a:prstGeom>
          <a:noFill xmlns:a="http://schemas.openxmlformats.org/drawingml/2006/main"/>
          <a:ln xmlns:a="http://schemas.openxmlformats.org/drawingml/2006/main" w="7620">
            <a:solidFill>
              <a:srgbClr val="CBD5DC"/>
            </a:solidFill>
            <a:prstDash val="solid"/>
          </a:ln>
        </p:spPr>
      </p:sp>
    </p:spTree>
    <p:extLst>
      <p:ext uri="{BB962C8B-B14F-4D97-AF65-F5344CB8AC3E}">
        <p14:creationId xmlns:p14="http://schemas.microsoft.com/office/powerpoint/2010/main" val="171283789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itle-2">
            <a:extLst xmlns:a="http://schemas.openxmlformats.org/drawingml/2006/main">
              <a:ext uri="{FF2B5EF4-FFF2-40B4-BE49-F238E27FC236}">
                <a16:creationId xmlns:a16="http://schemas.microsoft.com/office/drawing/2014/main" id="{365071FD-722A-479B-9CBB-D7DC643427E5}"/>
              </a:ext>
            </a:extLst>
          </p:cNvPr>
          <p:cNvSpPr>
            <a:spLocks xmlns:a="http://schemas.openxmlformats.org/drawingml/2006/main" noGrp="1"/>
          </p:cNvSpPr>
          <p:nvPr/>
        </p:nvSpPr>
        <p:spPr>
          <a:xfrm xmlns:a="http://schemas.openxmlformats.org/drawingml/2006/main">
            <a:off x="609600" y="4667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32D46"/>
                </a:solidFill>
                <a:latin typeface="Nimbus Sans"/>
                <a:ea typeface="Nimbus Sans"/>
                <a:cs typeface="Nimbus Sans"/>
              </a:defRPr>
            </a:defPPr>
          </a:lstStyle>
          <a:p xmlns:a="http://schemas.openxmlformats.org/drawingml/2006/main">
            <a:pPr algn="l">
              <a:buNone/>
              <a:defRPr sz="3300" b="1">
                <a:solidFill>
                  <a:srgbClr val="132D46"/>
                </a:solidFill>
                <a:latin typeface="Nimbus Sans"/>
                <a:ea typeface="Nimbus Sans"/>
                <a:cs typeface="Nimbus Sans"/>
              </a:defRPr>
            </a:pPr>
            <a:r>
              <a:rPr sz="3300" b="1">
                <a:solidFill>
                  <a:srgbClr val="132D46"/>
                </a:solidFill>
                <a:latin typeface="Nimbus Sans"/>
                <a:ea typeface="Nimbus Sans"/>
                <a:cs typeface="Nimbus Sans"/>
              </a:rPr>
              <a:t>The working-capital gap</a:t>
            </a:r>
          </a:p>
        </p:txBody>
      </p:sp>
      <p:sp>
        <p:nvSpPr>
          <p:cNvPr id="2" name="footnote-2">
            <a:extLst xmlns:a="http://schemas.openxmlformats.org/drawingml/2006/main">
              <a:ext uri="{FF2B5EF4-FFF2-40B4-BE49-F238E27FC236}">
                <a16:creationId xmlns:a16="http://schemas.microsoft.com/office/drawing/2014/main" id="{B62A028C-4877-4774-9A28-D6F0BDFD8E93}"/>
              </a:ext>
            </a:extLst>
          </p:cNvPr>
          <p:cNvSpPr>
            <a:spLocks xmlns:a="http://schemas.openxmlformats.org/drawingml/2006/main" noGrp="1"/>
          </p:cNvSpPr>
          <p:nvPr/>
        </p:nvSpPr>
        <p:spPr>
          <a:xfrm xmlns:a="http://schemas.openxmlformats.org/drawingml/2006/main">
            <a:off x="609600" y="61722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67784"/>
                </a:solidFill>
                <a:latin typeface="Nimbus Sans"/>
                <a:ea typeface="Nimbus Sans"/>
                <a:cs typeface="Nimbus Sans"/>
              </a:defRPr>
            </a:defPPr>
          </a:lstStyle>
          <a:p xmlns:a="http://schemas.openxmlformats.org/drawingml/2006/main">
            <a:pPr algn="l">
              <a:buNone/>
              <a:defRPr sz="1350" b="0">
                <a:solidFill>
                  <a:srgbClr val="667784"/>
                </a:solidFill>
                <a:latin typeface="Nimbus Sans"/>
                <a:ea typeface="Nimbus Sans"/>
                <a:cs typeface="Nimbus Sans"/>
              </a:defRPr>
            </a:pPr>
            <a:r>
              <a:rPr sz="1350" b="0">
                <a:solidFill>
                  <a:srgbClr val="667784"/>
                </a:solidFill>
                <a:latin typeface="Nimbus Sans"/>
                <a:ea typeface="Nimbus Sans"/>
                <a:cs typeface="Nimbus Sans"/>
              </a:rPr>
              <a:t>ADB’s 2025 survey estimates a $2.5T global trade-finance gap, using 2023–2024 data.</a:t>
            </a:r>
          </a:p>
        </p:txBody>
      </p:sp>
      <p:sp>
        <p:nvSpPr>
          <p:cNvPr id="3" name="footer-rule-2">
            <a:extLst xmlns:a="http://schemas.openxmlformats.org/drawingml/2006/main">
              <a:ext uri="{FF2B5EF4-FFF2-40B4-BE49-F238E27FC236}">
                <a16:creationId xmlns:a16="http://schemas.microsoft.com/office/drawing/2014/main" id="{F1C1F202-F9E5-4703-B601-062F0DF4790E}"/>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7620">
            <a:solidFill>
              <a:srgbClr val="CBD5DC"/>
            </a:solidFill>
            <a:prstDash val="solid"/>
          </a:ln>
        </p:spPr>
      </p:sp>
      <p:sp>
        <p:nvSpPr>
          <p:cNvPr id="4" name="brand-2">
            <a:extLst xmlns:a="http://schemas.openxmlformats.org/drawingml/2006/main">
              <a:ext uri="{FF2B5EF4-FFF2-40B4-BE49-F238E27FC236}">
                <a16:creationId xmlns:a16="http://schemas.microsoft.com/office/drawing/2014/main" id="{682B2F96-295B-4FC2-AF7F-8F3064E6EA51}"/>
              </a:ext>
            </a:extLst>
          </p:cNvPr>
          <p:cNvSpPr>
            <a:spLocks xmlns:a="http://schemas.openxmlformats.org/drawingml/2006/main" noGrp="1"/>
          </p:cNvSpPr>
          <p:nvPr/>
        </p:nvSpPr>
        <p:spPr>
          <a:xfrm xmlns:a="http://schemas.openxmlformats.org/drawingml/2006/main">
            <a:off x="609600" y="6591300"/>
            <a:ext cx="5810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67784"/>
                </a:solidFill>
                <a:latin typeface="Nimbus Sans"/>
                <a:ea typeface="Nimbus Sans"/>
                <a:cs typeface="Nimbus Sans"/>
              </a:defRPr>
            </a:defPPr>
          </a:lstStyle>
          <a:p xmlns:a="http://schemas.openxmlformats.org/drawingml/2006/main">
            <a:pPr algn="l">
              <a:buNone/>
              <a:defRPr sz="1125" b="0">
                <a:solidFill>
                  <a:srgbClr val="667784"/>
                </a:solidFill>
                <a:latin typeface="Nimbus Sans"/>
                <a:ea typeface="Nimbus Sans"/>
                <a:cs typeface="Nimbus Sans"/>
              </a:defRPr>
            </a:pPr>
            <a:r>
              <a:rPr sz="1125" b="0">
                <a:solidFill>
                  <a:srgbClr val="667784"/>
                </a:solidFill>
                <a:latin typeface="Nimbus Sans"/>
                <a:ea typeface="Nimbus Sans"/>
                <a:cs typeface="Nimbus Sans"/>
              </a:rPr>
              <a:t>SME Flow</a:t>
            </a:r>
          </a:p>
        </p:txBody>
      </p:sp>
      <p:sp>
        <p:nvSpPr>
          <p:cNvPr id="5" name="folio-2">
            <a:extLst xmlns:a="http://schemas.openxmlformats.org/drawingml/2006/main">
              <a:ext uri="{FF2B5EF4-FFF2-40B4-BE49-F238E27FC236}">
                <a16:creationId xmlns:a16="http://schemas.microsoft.com/office/drawing/2014/main" id="{CA2FEA26-F86E-4D94-B44A-9FC1408C8A6F}"/>
              </a:ext>
            </a:extLst>
          </p:cNvPr>
          <p:cNvSpPr>
            <a:spLocks xmlns:a="http://schemas.openxmlformats.org/drawingml/2006/main" noGrp="1"/>
          </p:cNvSpPr>
          <p:nvPr/>
        </p:nvSpPr>
        <p:spPr>
          <a:xfrm xmlns:a="http://schemas.openxmlformats.org/drawingml/2006/main">
            <a:off x="11163300" y="659130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67784"/>
                </a:solidFill>
                <a:latin typeface="Nimbus Sans"/>
                <a:ea typeface="Nimbus Sans"/>
                <a:cs typeface="Nimbus Sans"/>
              </a:defRPr>
            </a:defPPr>
          </a:lstStyle>
          <a:p xmlns:a="http://schemas.openxmlformats.org/drawingml/2006/main">
            <a:pPr algn="r">
              <a:buNone/>
              <a:defRPr sz="1125" b="0">
                <a:solidFill>
                  <a:srgbClr val="667784"/>
                </a:solidFill>
                <a:latin typeface="Nimbus Sans"/>
                <a:ea typeface="Nimbus Sans"/>
                <a:cs typeface="Nimbus Sans"/>
              </a:defRPr>
            </a:pPr>
            <a:r>
              <a:rPr sz="1125" b="0">
                <a:solidFill>
                  <a:srgbClr val="667784"/>
                </a:solidFill>
                <a:latin typeface="Nimbus Sans"/>
                <a:ea typeface="Nimbus Sans"/>
                <a:cs typeface="Nimbus Sans"/>
              </a:rPr>
              <a:t>02</a:t>
            </a:r>
          </a:p>
        </p:txBody>
      </p:sp>
      <p:sp>
        <p:nvSpPr>
          <p:cNvPr id="22" name="business-situation">
            <a:extLst xmlns:a="http://schemas.openxmlformats.org/drawingml/2006/main">
              <a:ext uri="{FF2B5EF4-FFF2-40B4-BE49-F238E27FC236}">
                <a16:creationId xmlns:a16="http://schemas.microsoft.com/office/drawing/2014/main" id="{367341AC-13F7-4F4D-9A23-D1A595EB683F}"/>
              </a:ext>
            </a:extLst>
          </p:cNvPr>
          <p:cNvSpPr>
            <a:spLocks xmlns:a="http://schemas.openxmlformats.org/drawingml/2006/main" noGrp="1"/>
          </p:cNvSpPr>
          <p:nvPr/>
        </p:nvSpPr>
        <p:spPr>
          <a:xfrm xmlns:a="http://schemas.openxmlformats.org/drawingml/2006/main">
            <a:off x="609600" y="1771650"/>
            <a:ext cx="48577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32D46"/>
                </a:solidFill>
                <a:latin typeface="Nimbus Sans"/>
                <a:ea typeface="Nimbus Sans"/>
                <a:cs typeface="Nimbus Sans"/>
              </a:defRPr>
            </a:defPPr>
          </a:lstStyle>
          <a:p xmlns:a="http://schemas.openxmlformats.org/drawingml/2006/main">
            <a:pPr algn="l">
              <a:buNone/>
              <a:defRPr sz="4050" b="1">
                <a:solidFill>
                  <a:srgbClr val="132D46"/>
                </a:solidFill>
                <a:latin typeface="Nimbus Sans"/>
                <a:ea typeface="Nimbus Sans"/>
                <a:cs typeface="Nimbus Sans"/>
              </a:defRPr>
            </a:pPr>
            <a:r>
              <a:rPr sz="4050" b="1">
                <a:solidFill>
                  <a:srgbClr val="132D46"/>
                </a:solidFill>
                <a:latin typeface="Nimbus Sans"/>
                <a:ea typeface="Nimbus Sans"/>
                <a:cs typeface="Nimbus Sans"/>
              </a:rPr>
              <a:t>Delivered today.</a:t>
            </a:r>
          </a:p>
          <a:p xmlns:a="http://schemas.openxmlformats.org/drawingml/2006/main">
            <a:pPr algn="l">
              <a:buNone/>
              <a:defRPr sz="4050" b="1">
                <a:solidFill>
                  <a:srgbClr val="132D46"/>
                </a:solidFill>
                <a:latin typeface="Nimbus Sans"/>
                <a:ea typeface="Nimbus Sans"/>
                <a:cs typeface="Nimbus Sans"/>
              </a:defRPr>
            </a:pPr>
            <a:r>
              <a:rPr sz="4050" b="1">
                <a:solidFill>
                  <a:srgbClr val="132D46"/>
                </a:solidFill>
                <a:latin typeface="Nimbus Sans"/>
                <a:ea typeface="Nimbus Sans"/>
                <a:cs typeface="Nimbus Sans"/>
              </a:rPr>
              <a:t>Paid later.</a:t>
            </a:r>
          </a:p>
        </p:txBody>
      </p:sp>
      <p:sp>
        <p:nvSpPr>
          <p:cNvPr id="23" name="business-need">
            <a:extLst xmlns:a="http://schemas.openxmlformats.org/drawingml/2006/main">
              <a:ext uri="{FF2B5EF4-FFF2-40B4-BE49-F238E27FC236}">
                <a16:creationId xmlns:a16="http://schemas.microsoft.com/office/drawing/2014/main" id="{775AD120-0F6F-4CCB-8D88-25C428D767F7}"/>
              </a:ext>
            </a:extLst>
          </p:cNvPr>
          <p:cNvSpPr>
            <a:spLocks xmlns:a="http://schemas.openxmlformats.org/drawingml/2006/main" noGrp="1"/>
          </p:cNvSpPr>
          <p:nvPr/>
        </p:nvSpPr>
        <p:spPr>
          <a:xfrm xmlns:a="http://schemas.openxmlformats.org/drawingml/2006/main">
            <a:off x="609600" y="3495675"/>
            <a:ext cx="4953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14757"/>
                </a:solidFill>
                <a:latin typeface="Nimbus Sans"/>
                <a:ea typeface="Nimbus Sans"/>
                <a:cs typeface="Nimbus Sans"/>
              </a:defRPr>
            </a:defPPr>
          </a:lstStyle>
          <a:p xmlns:a="http://schemas.openxmlformats.org/drawingml/2006/main">
            <a:pPr algn="l">
              <a:buNone/>
              <a:defRPr sz="2175" b="0">
                <a:solidFill>
                  <a:srgbClr val="314757"/>
                </a:solidFill>
                <a:latin typeface="Nimbus Sans"/>
                <a:ea typeface="Nimbus Sans"/>
                <a:cs typeface="Nimbus Sans"/>
              </a:defRPr>
            </a:pPr>
            <a:r>
              <a:rPr sz="2175" b="0">
                <a:solidFill>
                  <a:srgbClr val="314757"/>
                </a:solidFill>
                <a:latin typeface="Nimbus Sans"/>
                <a:ea typeface="Nimbus Sans"/>
                <a:cs typeface="Nimbus Sans"/>
              </a:rPr>
              <a:t>Suppliers still need cash for wages,</a:t>
            </a:r>
          </a:p>
          <a:p xmlns:a="http://schemas.openxmlformats.org/drawingml/2006/main">
            <a:pPr algn="l">
              <a:buNone/>
              <a:defRPr sz="2175" b="0">
                <a:solidFill>
                  <a:srgbClr val="314757"/>
                </a:solidFill>
                <a:latin typeface="Nimbus Sans"/>
                <a:ea typeface="Nimbus Sans"/>
                <a:cs typeface="Nimbus Sans"/>
              </a:defRPr>
            </a:pPr>
            <a:r>
              <a:rPr sz="2175" b="0">
                <a:solidFill>
                  <a:srgbClr val="314757"/>
                </a:solidFill>
                <a:latin typeface="Nimbus Sans"/>
                <a:ea typeface="Nimbus Sans"/>
                <a:cs typeface="Nimbus Sans"/>
              </a:rPr>
              <a:t>materials and the next order.</a:t>
            </a:r>
          </a:p>
        </p:txBody>
      </p:sp>
      <p:sp>
        <p:nvSpPr>
          <p:cNvPr id="24" name="receivable-focus">
            <a:extLst xmlns:a="http://schemas.openxmlformats.org/drawingml/2006/main">
              <a:ext uri="{FF2B5EF4-FFF2-40B4-BE49-F238E27FC236}">
                <a16:creationId xmlns:a16="http://schemas.microsoft.com/office/drawing/2014/main" id="{564C5F1F-23B0-4A2B-80CF-DCEB5C8C6F21}"/>
              </a:ext>
            </a:extLst>
          </p:cNvPr>
          <p:cNvSpPr>
            <a:spLocks xmlns:a="http://schemas.openxmlformats.org/drawingml/2006/main" noGrp="1"/>
          </p:cNvSpPr>
          <p:nvPr/>
        </p:nvSpPr>
        <p:spPr>
          <a:xfrm xmlns:a="http://schemas.openxmlformats.org/drawingml/2006/main">
            <a:off x="609600" y="4819650"/>
            <a:ext cx="5048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86D96"/>
                </a:solidFill>
                <a:latin typeface="Nimbus Sans"/>
                <a:ea typeface="Nimbus Sans"/>
                <a:cs typeface="Nimbus Sans"/>
              </a:defRPr>
            </a:defPPr>
          </a:lstStyle>
          <a:p xmlns:a="http://schemas.openxmlformats.org/drawingml/2006/main">
            <a:pPr algn="l">
              <a:buNone/>
              <a:defRPr sz="2025" b="1">
                <a:solidFill>
                  <a:srgbClr val="286D96"/>
                </a:solidFill>
                <a:latin typeface="Nimbus Sans"/>
                <a:ea typeface="Nimbus Sans"/>
                <a:cs typeface="Nimbus Sans"/>
              </a:defRPr>
            </a:pPr>
            <a:r>
              <a:rPr sz="2025" b="1">
                <a:solidFill>
                  <a:srgbClr val="286D96"/>
                </a:solidFill>
                <a:latin typeface="Nimbus Sans"/>
                <a:ea typeface="Nimbus Sans"/>
                <a:cs typeface="Nimbus Sans"/>
              </a:rPr>
              <a:t>A buyer-confirmed invoice</a:t>
            </a:r>
          </a:p>
          <a:p xmlns:a="http://schemas.openxmlformats.org/drawingml/2006/main">
            <a:pPr algn="l">
              <a:buNone/>
              <a:defRPr sz="2025" b="1">
                <a:solidFill>
                  <a:srgbClr val="286D96"/>
                </a:solidFill>
                <a:latin typeface="Nimbus Sans"/>
                <a:ea typeface="Nimbus Sans"/>
                <a:cs typeface="Nimbus Sans"/>
              </a:defRPr>
            </a:pPr>
            <a:r>
              <a:rPr sz="2025" b="1">
                <a:solidFill>
                  <a:srgbClr val="286D96"/>
                </a:solidFill>
                <a:latin typeface="Nimbus Sans"/>
                <a:ea typeface="Nimbus Sans"/>
                <a:cs typeface="Nimbus Sans"/>
              </a:rPr>
              <a:t>supports the financing request.</a:t>
            </a:r>
          </a:p>
        </p:txBody>
      </p:sp>
      <p:sp>
        <p:nvSpPr>
          <p:cNvPr id="25" name="problem-ledger-divider">
            <a:extLst xmlns:a="http://schemas.openxmlformats.org/drawingml/2006/main">
              <a:ext uri="{FF2B5EF4-FFF2-40B4-BE49-F238E27FC236}">
                <a16:creationId xmlns:a16="http://schemas.microsoft.com/office/drawing/2014/main" id="{A3DD98FD-87CA-4829-9A49-32ACE9A74690}"/>
              </a:ext>
            </a:extLst>
          </p:cNvPr>
          <p:cNvSpPr>
            <a:spLocks xmlns:a="http://schemas.openxmlformats.org/drawingml/2006/main" noGrp="1"/>
          </p:cNvSpPr>
          <p:nvPr/>
        </p:nvSpPr>
        <p:spPr>
          <a:xfrm xmlns:a="http://schemas.openxmlformats.org/drawingml/2006/main">
            <a:off x="6105525" y="1724025"/>
            <a:ext cx="0" cy="4067175"/>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26" name="shared-rules-heading">
            <a:extLst xmlns:a="http://schemas.openxmlformats.org/drawingml/2006/main">
              <a:ext uri="{FF2B5EF4-FFF2-40B4-BE49-F238E27FC236}">
                <a16:creationId xmlns:a16="http://schemas.microsoft.com/office/drawing/2014/main" id="{9AE23D53-4CCB-4FD1-AE80-389DE024EA02}"/>
              </a:ext>
            </a:extLst>
          </p:cNvPr>
          <p:cNvSpPr>
            <a:spLocks xmlns:a="http://schemas.openxmlformats.org/drawingml/2006/main" noGrp="1"/>
          </p:cNvSpPr>
          <p:nvPr/>
        </p:nvSpPr>
        <p:spPr>
          <a:xfrm xmlns:a="http://schemas.openxmlformats.org/drawingml/2006/main">
            <a:off x="6696075" y="1809750"/>
            <a:ext cx="48387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32D46"/>
                </a:solidFill>
                <a:latin typeface="Nimbus Sans"/>
                <a:ea typeface="Nimbus Sans"/>
                <a:cs typeface="Nimbus Sans"/>
              </a:defRPr>
            </a:defPPr>
          </a:lstStyle>
          <a:p xmlns:a="http://schemas.openxmlformats.org/drawingml/2006/main">
            <a:pPr algn="l">
              <a:buNone/>
              <a:defRPr sz="2550" b="1">
                <a:solidFill>
                  <a:srgbClr val="132D46"/>
                </a:solidFill>
                <a:latin typeface="Nimbus Sans"/>
                <a:ea typeface="Nimbus Sans"/>
                <a:cs typeface="Nimbus Sans"/>
              </a:defRPr>
            </a:pPr>
            <a:r>
              <a:rPr sz="2550" b="1">
                <a:solidFill>
                  <a:srgbClr val="132D46"/>
                </a:solidFill>
                <a:latin typeface="Nimbus Sans"/>
                <a:ea typeface="Nimbus Sans"/>
                <a:cs typeface="Nimbus Sans"/>
              </a:rPr>
              <a:t>Shared contract rules</a:t>
            </a:r>
          </a:p>
        </p:txBody>
      </p:sp>
      <p:sp>
        <p:nvSpPr>
          <p:cNvPr id="27" name="authorization">
            <a:extLst xmlns:a="http://schemas.openxmlformats.org/drawingml/2006/main">
              <a:ext uri="{FF2B5EF4-FFF2-40B4-BE49-F238E27FC236}">
                <a16:creationId xmlns:a16="http://schemas.microsoft.com/office/drawing/2014/main" id="{CE957323-72A2-40A5-8B72-36F0ABB49ED1}"/>
              </a:ext>
            </a:extLst>
          </p:cNvPr>
          <p:cNvSpPr>
            <a:spLocks xmlns:a="http://schemas.openxmlformats.org/drawingml/2006/main" noGrp="1"/>
          </p:cNvSpPr>
          <p:nvPr/>
        </p:nvSpPr>
        <p:spPr>
          <a:xfrm xmlns:a="http://schemas.openxmlformats.org/drawingml/2006/main">
            <a:off x="6696075" y="2571750"/>
            <a:ext cx="48387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314757"/>
                </a:solidFill>
                <a:latin typeface="Nimbus Sans"/>
                <a:ea typeface="Nimbus Sans"/>
                <a:cs typeface="Nimbus Sans"/>
              </a:defRPr>
            </a:defPPr>
          </a:lstStyle>
          <a:p xmlns:a="http://schemas.openxmlformats.org/drawingml/2006/main">
            <a:pPr algn="l">
              <a:buNone/>
              <a:defRPr sz="2250" b="0">
                <a:solidFill>
                  <a:srgbClr val="314757"/>
                </a:solidFill>
                <a:latin typeface="Nimbus Sans"/>
                <a:ea typeface="Nimbus Sans"/>
                <a:cs typeface="Nimbus Sans"/>
              </a:defRPr>
            </a:pPr>
            <a:r>
              <a:rPr sz="2250" b="0">
                <a:solidFill>
                  <a:srgbClr val="314757"/>
                </a:solidFill>
                <a:latin typeface="Nimbus Sans"/>
                <a:ea typeface="Nimbus Sans"/>
                <a:cs typeface="Nimbus Sans"/>
              </a:rPr>
              <a:t>Each party authorizes</a:t>
            </a:r>
          </a:p>
          <a:p xmlns:a="http://schemas.openxmlformats.org/drawingml/2006/main">
            <a:pPr algn="l">
              <a:buNone/>
              <a:defRPr sz="2250" b="0">
                <a:solidFill>
                  <a:srgbClr val="314757"/>
                </a:solidFill>
                <a:latin typeface="Nimbus Sans"/>
                <a:ea typeface="Nimbus Sans"/>
                <a:cs typeface="Nimbus Sans"/>
              </a:defRPr>
            </a:pPr>
            <a:r>
              <a:rPr sz="2250" b="0">
                <a:solidFill>
                  <a:srgbClr val="314757"/>
                </a:solidFill>
                <a:latin typeface="Nimbus Sans"/>
                <a:ea typeface="Nimbus Sans"/>
                <a:cs typeface="Nimbus Sans"/>
              </a:rPr>
              <a:t>its own actions.</a:t>
            </a:r>
          </a:p>
        </p:txBody>
      </p:sp>
      <p:sp>
        <p:nvSpPr>
          <p:cNvPr id="28" name="common-record">
            <a:extLst xmlns:a="http://schemas.openxmlformats.org/drawingml/2006/main">
              <a:ext uri="{FF2B5EF4-FFF2-40B4-BE49-F238E27FC236}">
                <a16:creationId xmlns:a16="http://schemas.microsoft.com/office/drawing/2014/main" id="{1F022AAC-07F4-4FF3-BF21-4409213D92A2}"/>
              </a:ext>
            </a:extLst>
          </p:cNvPr>
          <p:cNvSpPr>
            <a:spLocks xmlns:a="http://schemas.openxmlformats.org/drawingml/2006/main" noGrp="1"/>
          </p:cNvSpPr>
          <p:nvPr/>
        </p:nvSpPr>
        <p:spPr>
          <a:xfrm xmlns:a="http://schemas.openxmlformats.org/drawingml/2006/main">
            <a:off x="6696075" y="3600450"/>
            <a:ext cx="48387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314757"/>
                </a:solidFill>
                <a:latin typeface="Nimbus Sans"/>
                <a:ea typeface="Nimbus Sans"/>
                <a:cs typeface="Nimbus Sans"/>
              </a:defRPr>
            </a:defPPr>
          </a:lstStyle>
          <a:p xmlns:a="http://schemas.openxmlformats.org/drawingml/2006/main">
            <a:pPr algn="l">
              <a:buNone/>
              <a:defRPr sz="2175" b="0">
                <a:solidFill>
                  <a:srgbClr val="314757"/>
                </a:solidFill>
                <a:latin typeface="Nimbus Sans"/>
                <a:ea typeface="Nimbus Sans"/>
                <a:cs typeface="Nimbus Sans"/>
              </a:defRPr>
            </a:pPr>
            <a:r>
              <a:rPr sz="2175" b="0">
                <a:solidFill>
                  <a:srgbClr val="314757"/>
                </a:solidFill>
                <a:latin typeface="Nimbus Sans"/>
                <a:ea typeface="Nimbus Sans"/>
                <a:cs typeface="Nimbus Sans"/>
              </a:rPr>
              <a:t>Invoice states and payments</a:t>
            </a:r>
          </a:p>
          <a:p xmlns:a="http://schemas.openxmlformats.org/drawingml/2006/main">
            <a:pPr algn="l">
              <a:buNone/>
              <a:defRPr sz="2175" b="0">
                <a:solidFill>
                  <a:srgbClr val="314757"/>
                </a:solidFill>
                <a:latin typeface="Nimbus Sans"/>
                <a:ea typeface="Nimbus Sans"/>
                <a:cs typeface="Nimbus Sans"/>
              </a:defRPr>
            </a:pPr>
            <a:r>
              <a:rPr sz="2175" b="0">
                <a:solidFill>
                  <a:srgbClr val="314757"/>
                </a:solidFill>
                <a:latin typeface="Nimbus Sans"/>
                <a:ea typeface="Nimbus Sans"/>
                <a:cs typeface="Nimbus Sans"/>
              </a:rPr>
              <a:t>can be checked against</a:t>
            </a:r>
          </a:p>
          <a:p xmlns:a="http://schemas.openxmlformats.org/drawingml/2006/main">
            <a:pPr algn="l">
              <a:buNone/>
              <a:defRPr sz="2175" b="0">
                <a:solidFill>
                  <a:srgbClr val="314757"/>
                </a:solidFill>
                <a:latin typeface="Nimbus Sans"/>
                <a:ea typeface="Nimbus Sans"/>
                <a:cs typeface="Nimbus Sans"/>
              </a:defRPr>
            </a:pPr>
            <a:r>
              <a:rPr sz="2175" b="0">
                <a:solidFill>
                  <a:srgbClr val="314757"/>
                </a:solidFill>
                <a:latin typeface="Nimbus Sans"/>
                <a:ea typeface="Nimbus Sans"/>
                <a:cs typeface="Nimbus Sans"/>
              </a:rPr>
              <a:t>the same contract record.</a:t>
            </a:r>
          </a:p>
        </p:txBody>
      </p:sp>
      <p:sp>
        <p:nvSpPr>
          <p:cNvPr id="29" name="trust-conditions">
            <a:extLst xmlns:a="http://schemas.openxmlformats.org/drawingml/2006/main">
              <a:ext uri="{FF2B5EF4-FFF2-40B4-BE49-F238E27FC236}">
                <a16:creationId xmlns:a16="http://schemas.microsoft.com/office/drawing/2014/main" id="{BFA24487-424E-4F01-B197-FB3016649D3F}"/>
              </a:ext>
            </a:extLst>
          </p:cNvPr>
          <p:cNvSpPr>
            <a:spLocks xmlns:a="http://schemas.openxmlformats.org/drawingml/2006/main" noGrp="1"/>
          </p:cNvSpPr>
          <p:nvPr/>
        </p:nvSpPr>
        <p:spPr>
          <a:xfrm xmlns:a="http://schemas.openxmlformats.org/drawingml/2006/main">
            <a:off x="6696075" y="5162550"/>
            <a:ext cx="4838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7784"/>
                </a:solidFill>
                <a:latin typeface="Nimbus Sans"/>
                <a:ea typeface="Nimbus Sans"/>
                <a:cs typeface="Nimbus Sans"/>
              </a:defRPr>
            </a:defPPr>
          </a:lstStyle>
          <a:p xmlns:a="http://schemas.openxmlformats.org/drawingml/2006/main">
            <a:pPr algn="l">
              <a:buNone/>
              <a:defRPr sz="1725" b="0">
                <a:solidFill>
                  <a:srgbClr val="667784"/>
                </a:solidFill>
                <a:latin typeface="Nimbus Sans"/>
                <a:ea typeface="Nimbus Sans"/>
                <a:cs typeface="Nimbus Sans"/>
              </a:defRPr>
            </a:pPr>
            <a:r>
              <a:rPr sz="1725" b="0">
                <a:solidFill>
                  <a:srgbClr val="667784"/>
                </a:solidFill>
                <a:latin typeface="Nimbus Sans"/>
                <a:ea typeface="Nimbus Sans"/>
                <a:cs typeface="Nimbus Sans"/>
              </a:rPr>
              <a:t>Role approval and Buyer confirmation</a:t>
            </a:r>
          </a:p>
          <a:p xmlns:a="http://schemas.openxmlformats.org/drawingml/2006/main">
            <a:pPr algn="l">
              <a:buNone/>
              <a:defRPr sz="1725" b="0">
                <a:solidFill>
                  <a:srgbClr val="667784"/>
                </a:solidFill>
                <a:latin typeface="Nimbus Sans"/>
                <a:ea typeface="Nimbus Sans"/>
                <a:cs typeface="Nimbus Sans"/>
              </a:defRPr>
            </a:pPr>
            <a:r>
              <a:rPr sz="1725" b="0">
                <a:solidFill>
                  <a:srgbClr val="667784"/>
                </a:solidFill>
                <a:latin typeface="Nimbus Sans"/>
                <a:ea typeface="Nimbus Sans"/>
                <a:cs typeface="Nimbus Sans"/>
              </a:rPr>
              <a:t>remain part of the workflow.</a:t>
            </a:r>
          </a:p>
        </p:txBody>
      </p:sp>
    </p:spTree>
    <p:extLst>
      <p:ext uri="{BB962C8B-B14F-4D97-AF65-F5344CB8AC3E}">
        <p14:creationId xmlns:p14="http://schemas.microsoft.com/office/powerpoint/2010/main" val="5684269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title-4">
            <a:extLst xmlns:a="http://schemas.openxmlformats.org/drawingml/2006/main">
              <a:ext uri="{FF2B5EF4-FFF2-40B4-BE49-F238E27FC236}">
                <a16:creationId xmlns:a16="http://schemas.microsoft.com/office/drawing/2014/main" id="{7DF3293C-0B37-49CF-88B1-2E36AE06EB2E}"/>
              </a:ext>
            </a:extLst>
          </p:cNvPr>
          <p:cNvSpPr>
            <a:spLocks xmlns:a="http://schemas.openxmlformats.org/drawingml/2006/main" noGrp="1"/>
          </p:cNvSpPr>
          <p:nvPr/>
        </p:nvSpPr>
        <p:spPr>
          <a:xfrm xmlns:a="http://schemas.openxmlformats.org/drawingml/2006/main">
            <a:off x="609600" y="4667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32D46"/>
                </a:solidFill>
                <a:latin typeface="Nimbus Sans"/>
                <a:ea typeface="Nimbus Sans"/>
                <a:cs typeface="Nimbus Sans"/>
              </a:defRPr>
            </a:defPPr>
          </a:lstStyle>
          <a:p xmlns:a="http://schemas.openxmlformats.org/drawingml/2006/main">
            <a:pPr algn="l">
              <a:buNone/>
              <a:defRPr sz="3300" b="1">
                <a:solidFill>
                  <a:srgbClr val="132D46"/>
                </a:solidFill>
                <a:latin typeface="Nimbus Sans"/>
                <a:ea typeface="Nimbus Sans"/>
                <a:cs typeface="Nimbus Sans"/>
              </a:defRPr>
            </a:pPr>
            <a:r>
              <a:rPr sz="3300" b="1">
                <a:solidFill>
                  <a:srgbClr val="132D46"/>
                </a:solidFill>
                <a:latin typeface="Nimbus Sans"/>
                <a:ea typeface="Nimbus Sans"/>
                <a:cs typeface="Nimbus Sans"/>
              </a:rPr>
              <a:t>Participants and financing flow</a:t>
            </a:r>
          </a:p>
        </p:txBody>
      </p:sp>
      <p:sp>
        <p:nvSpPr>
          <p:cNvPr id="2" name="footnote-4">
            <a:extLst xmlns:a="http://schemas.openxmlformats.org/drawingml/2006/main">
              <a:ext uri="{FF2B5EF4-FFF2-40B4-BE49-F238E27FC236}">
                <a16:creationId xmlns:a16="http://schemas.microsoft.com/office/drawing/2014/main" id="{35FF4609-6D03-4C10-ABD8-C03B84D7F4E9}"/>
              </a:ext>
            </a:extLst>
          </p:cNvPr>
          <p:cNvSpPr>
            <a:spLocks xmlns:a="http://schemas.openxmlformats.org/drawingml/2006/main" noGrp="1"/>
          </p:cNvSpPr>
          <p:nvPr/>
        </p:nvSpPr>
        <p:spPr>
          <a:xfrm xmlns:a="http://schemas.openxmlformats.org/drawingml/2006/main">
            <a:off x="609600" y="61722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67784"/>
                </a:solidFill>
                <a:latin typeface="Nimbus Sans"/>
                <a:ea typeface="Nimbus Sans"/>
                <a:cs typeface="Nimbus Sans"/>
              </a:defRPr>
            </a:defPPr>
          </a:lstStyle>
          <a:p xmlns:a="http://schemas.openxmlformats.org/drawingml/2006/main">
            <a:pPr algn="l">
              <a:buNone/>
              <a:defRPr sz="1350" b="0">
                <a:solidFill>
                  <a:srgbClr val="667784"/>
                </a:solidFill>
                <a:latin typeface="Nimbus Sans"/>
                <a:ea typeface="Nimbus Sans"/>
                <a:cs typeface="Nimbus Sans"/>
              </a:defRPr>
            </a:pPr>
            <a:r>
              <a:rPr sz="1350" b="0">
                <a:solidFill>
                  <a:srgbClr val="667784"/>
                </a:solidFill>
                <a:latin typeface="Nimbus Sans"/>
                <a:ea typeface="Nimbus Sans"/>
                <a:cs typeface="Nimbus Sans"/>
              </a:rPr>
              <a:t>An accepted quote does not transfer funds. The selected Funder must transfer the principal.</a:t>
            </a:r>
          </a:p>
        </p:txBody>
      </p:sp>
      <p:sp>
        <p:nvSpPr>
          <p:cNvPr id="3" name="footer-rule-4">
            <a:extLst xmlns:a="http://schemas.openxmlformats.org/drawingml/2006/main">
              <a:ext uri="{FF2B5EF4-FFF2-40B4-BE49-F238E27FC236}">
                <a16:creationId xmlns:a16="http://schemas.microsoft.com/office/drawing/2014/main" id="{E0A61560-BF79-4DD3-9E1F-4F099B5CF620}"/>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7620">
            <a:solidFill>
              <a:srgbClr val="CBD5DC"/>
            </a:solidFill>
            <a:prstDash val="solid"/>
          </a:ln>
        </p:spPr>
      </p:sp>
      <p:sp>
        <p:nvSpPr>
          <p:cNvPr id="4" name="brand-4">
            <a:extLst xmlns:a="http://schemas.openxmlformats.org/drawingml/2006/main">
              <a:ext uri="{FF2B5EF4-FFF2-40B4-BE49-F238E27FC236}">
                <a16:creationId xmlns:a16="http://schemas.microsoft.com/office/drawing/2014/main" id="{DD81D658-EF80-4541-9F6A-3A50387609B1}"/>
              </a:ext>
            </a:extLst>
          </p:cNvPr>
          <p:cNvSpPr>
            <a:spLocks xmlns:a="http://schemas.openxmlformats.org/drawingml/2006/main" noGrp="1"/>
          </p:cNvSpPr>
          <p:nvPr/>
        </p:nvSpPr>
        <p:spPr>
          <a:xfrm xmlns:a="http://schemas.openxmlformats.org/drawingml/2006/main">
            <a:off x="609600" y="6591300"/>
            <a:ext cx="5810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67784"/>
                </a:solidFill>
                <a:latin typeface="Nimbus Sans"/>
                <a:ea typeface="Nimbus Sans"/>
                <a:cs typeface="Nimbus Sans"/>
              </a:defRPr>
            </a:defPPr>
          </a:lstStyle>
          <a:p xmlns:a="http://schemas.openxmlformats.org/drawingml/2006/main">
            <a:pPr algn="l">
              <a:buNone/>
              <a:defRPr sz="1125" b="0">
                <a:solidFill>
                  <a:srgbClr val="667784"/>
                </a:solidFill>
                <a:latin typeface="Nimbus Sans"/>
                <a:ea typeface="Nimbus Sans"/>
                <a:cs typeface="Nimbus Sans"/>
              </a:defRPr>
            </a:pPr>
            <a:r>
              <a:rPr sz="1125" b="0">
                <a:solidFill>
                  <a:srgbClr val="667784"/>
                </a:solidFill>
                <a:latin typeface="Nimbus Sans"/>
                <a:ea typeface="Nimbus Sans"/>
                <a:cs typeface="Nimbus Sans"/>
              </a:rPr>
              <a:t>SME Flow</a:t>
            </a:r>
          </a:p>
        </p:txBody>
      </p:sp>
      <p:sp>
        <p:nvSpPr>
          <p:cNvPr id="5" name="folio-4">
            <a:extLst xmlns:a="http://schemas.openxmlformats.org/drawingml/2006/main">
              <a:ext uri="{FF2B5EF4-FFF2-40B4-BE49-F238E27FC236}">
                <a16:creationId xmlns:a16="http://schemas.microsoft.com/office/drawing/2014/main" id="{E0B4DE27-8493-4566-B3A9-0AF167C09E1E}"/>
              </a:ext>
            </a:extLst>
          </p:cNvPr>
          <p:cNvSpPr>
            <a:spLocks xmlns:a="http://schemas.openxmlformats.org/drawingml/2006/main" noGrp="1"/>
          </p:cNvSpPr>
          <p:nvPr/>
        </p:nvSpPr>
        <p:spPr>
          <a:xfrm xmlns:a="http://schemas.openxmlformats.org/drawingml/2006/main">
            <a:off x="11163300" y="659130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67784"/>
                </a:solidFill>
                <a:latin typeface="Nimbus Sans"/>
                <a:ea typeface="Nimbus Sans"/>
                <a:cs typeface="Nimbus Sans"/>
              </a:defRPr>
            </a:defPPr>
          </a:lstStyle>
          <a:p xmlns:a="http://schemas.openxmlformats.org/drawingml/2006/main">
            <a:pPr algn="r">
              <a:buNone/>
              <a:defRPr sz="1125" b="0">
                <a:solidFill>
                  <a:srgbClr val="667784"/>
                </a:solidFill>
                <a:latin typeface="Nimbus Sans"/>
                <a:ea typeface="Nimbus Sans"/>
                <a:cs typeface="Nimbus Sans"/>
              </a:defRPr>
            </a:pPr>
            <a:r>
              <a:rPr sz="1125" b="0">
                <a:solidFill>
                  <a:srgbClr val="667784"/>
                </a:solidFill>
                <a:latin typeface="Nimbus Sans"/>
                <a:ea typeface="Nimbus Sans"/>
                <a:cs typeface="Nimbus Sans"/>
              </a:rPr>
              <a:t>03</a:t>
            </a:r>
          </a:p>
        </p:txBody>
      </p:sp>
      <p:sp>
        <p:nvSpPr>
          <p:cNvPr id="31" name="commercial-role-0">
            <a:extLst xmlns:a="http://schemas.openxmlformats.org/drawingml/2006/main">
              <a:ext uri="{FF2B5EF4-FFF2-40B4-BE49-F238E27FC236}">
                <a16:creationId xmlns:a16="http://schemas.microsoft.com/office/drawing/2014/main" id="{B77FE00D-9292-4491-A883-80E16E4D8A5B}"/>
              </a:ext>
            </a:extLst>
          </p:cNvPr>
          <p:cNvSpPr>
            <a:spLocks xmlns:a="http://schemas.openxmlformats.org/drawingml/2006/main" noGrp="1"/>
          </p:cNvSpPr>
          <p:nvPr/>
        </p:nvSpPr>
        <p:spPr>
          <a:xfrm xmlns:a="http://schemas.openxmlformats.org/drawingml/2006/main">
            <a:off x="609600" y="1495425"/>
            <a:ext cx="3286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32D46"/>
                </a:solidFill>
                <a:latin typeface="Nimbus Sans"/>
                <a:ea typeface="Nimbus Sans"/>
                <a:cs typeface="Nimbus Sans"/>
              </a:defRPr>
            </a:defPPr>
          </a:lstStyle>
          <a:p xmlns:a="http://schemas.openxmlformats.org/drawingml/2006/main">
            <a:pPr algn="l">
              <a:buNone/>
              <a:defRPr sz="2475" b="1">
                <a:solidFill>
                  <a:srgbClr val="132D46"/>
                </a:solidFill>
                <a:latin typeface="Nimbus Sans"/>
                <a:ea typeface="Nimbus Sans"/>
                <a:cs typeface="Nimbus Sans"/>
              </a:defRPr>
            </a:pPr>
            <a:r>
              <a:rPr sz="2475" b="1">
                <a:solidFill>
                  <a:srgbClr val="132D46"/>
                </a:solidFill>
                <a:latin typeface="Nimbus Sans"/>
                <a:ea typeface="Nimbus Sans"/>
                <a:cs typeface="Nimbus Sans"/>
              </a:rPr>
              <a:t>Supplier</a:t>
            </a:r>
          </a:p>
        </p:txBody>
      </p:sp>
      <p:sp>
        <p:nvSpPr>
          <p:cNvPr id="32" name="commercial-duty-0">
            <a:extLst xmlns:a="http://schemas.openxmlformats.org/drawingml/2006/main">
              <a:ext uri="{FF2B5EF4-FFF2-40B4-BE49-F238E27FC236}">
                <a16:creationId xmlns:a16="http://schemas.microsoft.com/office/drawing/2014/main" id="{B5C96C56-8AFA-4061-B290-78ABB8F8CFA8}"/>
              </a:ext>
            </a:extLst>
          </p:cNvPr>
          <p:cNvSpPr>
            <a:spLocks xmlns:a="http://schemas.openxmlformats.org/drawingml/2006/main" noGrp="1"/>
          </p:cNvSpPr>
          <p:nvPr/>
        </p:nvSpPr>
        <p:spPr>
          <a:xfrm xmlns:a="http://schemas.openxmlformats.org/drawingml/2006/main">
            <a:off x="609600" y="2009775"/>
            <a:ext cx="3286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14757"/>
                </a:solidFill>
                <a:latin typeface="Nimbus Sans"/>
                <a:ea typeface="Nimbus Sans"/>
                <a:cs typeface="Nimbus Sans"/>
              </a:defRPr>
            </a:defPPr>
          </a:lstStyle>
          <a:p xmlns:a="http://schemas.openxmlformats.org/drawingml/2006/main">
            <a:pPr algn="l">
              <a:buNone/>
              <a:defRPr sz="1875" b="0">
                <a:solidFill>
                  <a:srgbClr val="314757"/>
                </a:solidFill>
                <a:latin typeface="Nimbus Sans"/>
                <a:ea typeface="Nimbus Sans"/>
                <a:cs typeface="Nimbus Sans"/>
              </a:defRPr>
            </a:pPr>
            <a:r>
              <a:rPr sz="1875" b="0">
                <a:solidFill>
                  <a:srgbClr val="314757"/>
                </a:solidFill>
                <a:latin typeface="Nimbus Sans"/>
                <a:ea typeface="Nimbus Sans"/>
                <a:cs typeface="Nimbus Sans"/>
              </a:rPr>
              <a:t>Registers the invoice</a:t>
            </a:r>
          </a:p>
          <a:p xmlns:a="http://schemas.openxmlformats.org/drawingml/2006/main">
            <a:pPr algn="l">
              <a:buNone/>
              <a:defRPr sz="1875" b="0">
                <a:solidFill>
                  <a:srgbClr val="314757"/>
                </a:solidFill>
                <a:latin typeface="Nimbus Sans"/>
                <a:ea typeface="Nimbus Sans"/>
                <a:cs typeface="Nimbus Sans"/>
              </a:defRPr>
            </a:pPr>
            <a:r>
              <a:rPr sz="1875" b="0">
                <a:solidFill>
                  <a:srgbClr val="314757"/>
                </a:solidFill>
                <a:latin typeface="Nimbus Sans"/>
                <a:ea typeface="Nimbus Sans"/>
                <a:cs typeface="Nimbus Sans"/>
              </a:rPr>
              <a:t>and chooses a quote</a:t>
            </a:r>
          </a:p>
        </p:txBody>
      </p:sp>
      <p:sp>
        <p:nvSpPr>
          <p:cNvPr id="33" name="commercial-role-1">
            <a:extLst xmlns:a="http://schemas.openxmlformats.org/drawingml/2006/main">
              <a:ext uri="{FF2B5EF4-FFF2-40B4-BE49-F238E27FC236}">
                <a16:creationId xmlns:a16="http://schemas.microsoft.com/office/drawing/2014/main" id="{9BF45D62-11F6-4FF8-9C4A-EBF1CABBB4AC}"/>
              </a:ext>
            </a:extLst>
          </p:cNvPr>
          <p:cNvSpPr>
            <a:spLocks xmlns:a="http://schemas.openxmlformats.org/drawingml/2006/main" noGrp="1"/>
          </p:cNvSpPr>
          <p:nvPr/>
        </p:nvSpPr>
        <p:spPr>
          <a:xfrm xmlns:a="http://schemas.openxmlformats.org/drawingml/2006/main">
            <a:off x="4267200" y="1495425"/>
            <a:ext cx="3286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32D46"/>
                </a:solidFill>
                <a:latin typeface="Nimbus Sans"/>
                <a:ea typeface="Nimbus Sans"/>
                <a:cs typeface="Nimbus Sans"/>
              </a:defRPr>
            </a:defPPr>
          </a:lstStyle>
          <a:p xmlns:a="http://schemas.openxmlformats.org/drawingml/2006/main">
            <a:pPr algn="l">
              <a:buNone/>
              <a:defRPr sz="2475" b="1">
                <a:solidFill>
                  <a:srgbClr val="132D46"/>
                </a:solidFill>
                <a:latin typeface="Nimbus Sans"/>
                <a:ea typeface="Nimbus Sans"/>
                <a:cs typeface="Nimbus Sans"/>
              </a:defRPr>
            </a:pPr>
            <a:r>
              <a:rPr sz="2475" b="1">
                <a:solidFill>
                  <a:srgbClr val="132D46"/>
                </a:solidFill>
                <a:latin typeface="Nimbus Sans"/>
                <a:ea typeface="Nimbus Sans"/>
                <a:cs typeface="Nimbus Sans"/>
              </a:rPr>
              <a:t>Buyer</a:t>
            </a:r>
          </a:p>
        </p:txBody>
      </p:sp>
      <p:sp>
        <p:nvSpPr>
          <p:cNvPr id="34" name="commercial-duty-1">
            <a:extLst xmlns:a="http://schemas.openxmlformats.org/drawingml/2006/main">
              <a:ext uri="{FF2B5EF4-FFF2-40B4-BE49-F238E27FC236}">
                <a16:creationId xmlns:a16="http://schemas.microsoft.com/office/drawing/2014/main" id="{718C1651-17E9-4547-A364-B7FE2027C734}"/>
              </a:ext>
            </a:extLst>
          </p:cNvPr>
          <p:cNvSpPr>
            <a:spLocks xmlns:a="http://schemas.openxmlformats.org/drawingml/2006/main" noGrp="1"/>
          </p:cNvSpPr>
          <p:nvPr/>
        </p:nvSpPr>
        <p:spPr>
          <a:xfrm xmlns:a="http://schemas.openxmlformats.org/drawingml/2006/main">
            <a:off x="4267200" y="2009775"/>
            <a:ext cx="3286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14757"/>
                </a:solidFill>
                <a:latin typeface="Nimbus Sans"/>
                <a:ea typeface="Nimbus Sans"/>
                <a:cs typeface="Nimbus Sans"/>
              </a:defRPr>
            </a:defPPr>
          </a:lstStyle>
          <a:p xmlns:a="http://schemas.openxmlformats.org/drawingml/2006/main">
            <a:pPr algn="l">
              <a:buNone/>
              <a:defRPr sz="1875" b="0">
                <a:solidFill>
                  <a:srgbClr val="314757"/>
                </a:solidFill>
                <a:latin typeface="Nimbus Sans"/>
                <a:ea typeface="Nimbus Sans"/>
                <a:cs typeface="Nimbus Sans"/>
              </a:defRPr>
            </a:pPr>
            <a:r>
              <a:rPr sz="1875" b="0">
                <a:solidFill>
                  <a:srgbClr val="314757"/>
                </a:solidFill>
                <a:latin typeface="Nimbus Sans"/>
                <a:ea typeface="Nimbus Sans"/>
                <a:cs typeface="Nimbus Sans"/>
              </a:rPr>
              <a:t>Confirms the invoice</a:t>
            </a:r>
          </a:p>
          <a:p xmlns:a="http://schemas.openxmlformats.org/drawingml/2006/main">
            <a:pPr algn="l">
              <a:buNone/>
              <a:defRPr sz="1875" b="0">
                <a:solidFill>
                  <a:srgbClr val="314757"/>
                </a:solidFill>
                <a:latin typeface="Nimbus Sans"/>
                <a:ea typeface="Nimbus Sans"/>
                <a:cs typeface="Nimbus Sans"/>
              </a:defRPr>
            </a:pPr>
            <a:r>
              <a:rPr sz="1875" b="0">
                <a:solidFill>
                  <a:srgbClr val="314757"/>
                </a:solidFill>
                <a:latin typeface="Nimbus Sans"/>
                <a:ea typeface="Nimbus Sans"/>
                <a:cs typeface="Nimbus Sans"/>
              </a:rPr>
              <a:t>and repays its face value</a:t>
            </a:r>
          </a:p>
        </p:txBody>
      </p:sp>
      <p:sp>
        <p:nvSpPr>
          <p:cNvPr id="35" name="commercial-role-2">
            <a:extLst xmlns:a="http://schemas.openxmlformats.org/drawingml/2006/main">
              <a:ext uri="{FF2B5EF4-FFF2-40B4-BE49-F238E27FC236}">
                <a16:creationId xmlns:a16="http://schemas.microsoft.com/office/drawing/2014/main" id="{9D36864E-D712-476A-9F0E-DEF101B49A5B}"/>
              </a:ext>
            </a:extLst>
          </p:cNvPr>
          <p:cNvSpPr>
            <a:spLocks xmlns:a="http://schemas.openxmlformats.org/drawingml/2006/main" noGrp="1"/>
          </p:cNvSpPr>
          <p:nvPr/>
        </p:nvSpPr>
        <p:spPr>
          <a:xfrm xmlns:a="http://schemas.openxmlformats.org/drawingml/2006/main">
            <a:off x="7924800" y="1495425"/>
            <a:ext cx="3286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32D46"/>
                </a:solidFill>
                <a:latin typeface="Nimbus Sans"/>
                <a:ea typeface="Nimbus Sans"/>
                <a:cs typeface="Nimbus Sans"/>
              </a:defRPr>
            </a:defPPr>
          </a:lstStyle>
          <a:p xmlns:a="http://schemas.openxmlformats.org/drawingml/2006/main">
            <a:pPr algn="l">
              <a:buNone/>
              <a:defRPr sz="2475" b="1">
                <a:solidFill>
                  <a:srgbClr val="132D46"/>
                </a:solidFill>
                <a:latin typeface="Nimbus Sans"/>
                <a:ea typeface="Nimbus Sans"/>
                <a:cs typeface="Nimbus Sans"/>
              </a:defRPr>
            </a:pPr>
            <a:r>
              <a:rPr sz="2475" b="1">
                <a:solidFill>
                  <a:srgbClr val="132D46"/>
                </a:solidFill>
                <a:latin typeface="Nimbus Sans"/>
                <a:ea typeface="Nimbus Sans"/>
                <a:cs typeface="Nimbus Sans"/>
              </a:rPr>
              <a:t>Funder</a:t>
            </a:r>
          </a:p>
        </p:txBody>
      </p:sp>
      <p:sp>
        <p:nvSpPr>
          <p:cNvPr id="36" name="commercial-duty-2">
            <a:extLst xmlns:a="http://schemas.openxmlformats.org/drawingml/2006/main">
              <a:ext uri="{FF2B5EF4-FFF2-40B4-BE49-F238E27FC236}">
                <a16:creationId xmlns:a16="http://schemas.microsoft.com/office/drawing/2014/main" id="{8B3299DA-BA47-4E53-AF85-D77AEBF246B8}"/>
              </a:ext>
            </a:extLst>
          </p:cNvPr>
          <p:cNvSpPr>
            <a:spLocks xmlns:a="http://schemas.openxmlformats.org/drawingml/2006/main" noGrp="1"/>
          </p:cNvSpPr>
          <p:nvPr/>
        </p:nvSpPr>
        <p:spPr>
          <a:xfrm xmlns:a="http://schemas.openxmlformats.org/drawingml/2006/main">
            <a:off x="7924800" y="2009775"/>
            <a:ext cx="3286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14757"/>
                </a:solidFill>
                <a:latin typeface="Nimbus Sans"/>
                <a:ea typeface="Nimbus Sans"/>
                <a:cs typeface="Nimbus Sans"/>
              </a:defRPr>
            </a:defPPr>
          </a:lstStyle>
          <a:p xmlns:a="http://schemas.openxmlformats.org/drawingml/2006/main">
            <a:pPr algn="l">
              <a:buNone/>
              <a:defRPr sz="1875" b="0">
                <a:solidFill>
                  <a:srgbClr val="314757"/>
                </a:solidFill>
                <a:latin typeface="Nimbus Sans"/>
                <a:ea typeface="Nimbus Sans"/>
                <a:cs typeface="Nimbus Sans"/>
              </a:defRPr>
            </a:pPr>
            <a:r>
              <a:rPr sz="1875" b="0">
                <a:solidFill>
                  <a:srgbClr val="314757"/>
                </a:solidFill>
                <a:latin typeface="Nimbus Sans"/>
                <a:ea typeface="Nimbus Sans"/>
                <a:cs typeface="Nimbus Sans"/>
              </a:rPr>
              <a:t>Quotes the rate</a:t>
            </a:r>
          </a:p>
          <a:p xmlns:a="http://schemas.openxmlformats.org/drawingml/2006/main">
            <a:pPr algn="l">
              <a:buNone/>
              <a:defRPr sz="1875" b="0">
                <a:solidFill>
                  <a:srgbClr val="314757"/>
                </a:solidFill>
                <a:latin typeface="Nimbus Sans"/>
                <a:ea typeface="Nimbus Sans"/>
                <a:cs typeface="Nimbus Sans"/>
              </a:defRPr>
            </a:pPr>
            <a:r>
              <a:rPr sz="1875" b="0">
                <a:solidFill>
                  <a:srgbClr val="314757"/>
                </a:solidFill>
                <a:latin typeface="Nimbus Sans"/>
                <a:ea typeface="Nimbus Sans"/>
                <a:cs typeface="Nimbus Sans"/>
              </a:rPr>
              <a:t>and provides the principal</a:t>
            </a:r>
          </a:p>
        </p:txBody>
      </p:sp>
      <p:sp>
        <p:nvSpPr>
          <p:cNvPr id="37" name="roles-flow-divider">
            <a:extLst xmlns:a="http://schemas.openxmlformats.org/drawingml/2006/main">
              <a:ext uri="{FF2B5EF4-FFF2-40B4-BE49-F238E27FC236}">
                <a16:creationId xmlns:a16="http://schemas.microsoft.com/office/drawing/2014/main" id="{25C6F892-9474-44C6-B320-04295C19A660}"/>
              </a:ext>
            </a:extLst>
          </p:cNvPr>
          <p:cNvSpPr>
            <a:spLocks xmlns:a="http://schemas.openxmlformats.org/drawingml/2006/main" noGrp="1"/>
          </p:cNvSpPr>
          <p:nvPr/>
        </p:nvSpPr>
        <p:spPr>
          <a:xfrm xmlns:a="http://schemas.openxmlformats.org/drawingml/2006/main">
            <a:off x="609600" y="2933700"/>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38" name="flow-number-0">
            <a:extLst xmlns:a="http://schemas.openxmlformats.org/drawingml/2006/main">
              <a:ext uri="{FF2B5EF4-FFF2-40B4-BE49-F238E27FC236}">
                <a16:creationId xmlns:a16="http://schemas.microsoft.com/office/drawing/2014/main" id="{79ADC1ED-7733-4DAD-BE49-BC75F9BB97A1}"/>
              </a:ext>
            </a:extLst>
          </p:cNvPr>
          <p:cNvSpPr>
            <a:spLocks xmlns:a="http://schemas.openxmlformats.org/drawingml/2006/main" noGrp="1"/>
          </p:cNvSpPr>
          <p:nvPr/>
        </p:nvSpPr>
        <p:spPr>
          <a:xfrm xmlns:a="http://schemas.openxmlformats.org/drawingml/2006/main">
            <a:off x="609600" y="3200400"/>
            <a:ext cx="2238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86D96"/>
                </a:solidFill>
                <a:latin typeface="Nimbus Sans"/>
                <a:ea typeface="Nimbus Sans"/>
                <a:cs typeface="Nimbus Sans"/>
              </a:defRPr>
            </a:defPPr>
          </a:lstStyle>
          <a:p xmlns:a="http://schemas.openxmlformats.org/drawingml/2006/main">
            <a:pPr algn="l">
              <a:buNone/>
              <a:defRPr sz="2250" b="1">
                <a:solidFill>
                  <a:srgbClr val="286D96"/>
                </a:solidFill>
                <a:latin typeface="Nimbus Sans"/>
                <a:ea typeface="Nimbus Sans"/>
                <a:cs typeface="Nimbus Sans"/>
              </a:defRPr>
            </a:pPr>
            <a:r>
              <a:rPr sz="2250" b="1">
                <a:solidFill>
                  <a:srgbClr val="286D96"/>
                </a:solidFill>
                <a:latin typeface="Nimbus Sans"/>
                <a:ea typeface="Nimbus Sans"/>
                <a:cs typeface="Nimbus Sans"/>
              </a:rPr>
              <a:t>01</a:t>
            </a:r>
          </a:p>
        </p:txBody>
      </p:sp>
      <p:sp>
        <p:nvSpPr>
          <p:cNvPr id="39" name="flow-title-0">
            <a:extLst xmlns:a="http://schemas.openxmlformats.org/drawingml/2006/main">
              <a:ext uri="{FF2B5EF4-FFF2-40B4-BE49-F238E27FC236}">
                <a16:creationId xmlns:a16="http://schemas.microsoft.com/office/drawing/2014/main" id="{9458FB86-106B-4A4C-BC24-423DF4E3FBF0}"/>
              </a:ext>
            </a:extLst>
          </p:cNvPr>
          <p:cNvSpPr>
            <a:spLocks xmlns:a="http://schemas.openxmlformats.org/drawingml/2006/main" noGrp="1"/>
          </p:cNvSpPr>
          <p:nvPr/>
        </p:nvSpPr>
        <p:spPr>
          <a:xfrm xmlns:a="http://schemas.openxmlformats.org/drawingml/2006/main">
            <a:off x="609600" y="3724275"/>
            <a:ext cx="25431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32D46"/>
                </a:solidFill>
                <a:latin typeface="Nimbus Sans"/>
                <a:ea typeface="Nimbus Sans"/>
                <a:cs typeface="Nimbus Sans"/>
              </a:defRPr>
            </a:defPPr>
          </a:lstStyle>
          <a:p xmlns:a="http://schemas.openxmlformats.org/drawingml/2006/main">
            <a:pPr algn="l">
              <a:buNone/>
              <a:defRPr sz="2025" b="1">
                <a:solidFill>
                  <a:srgbClr val="132D46"/>
                </a:solidFill>
                <a:latin typeface="Nimbus Sans"/>
                <a:ea typeface="Nimbus Sans"/>
                <a:cs typeface="Nimbus Sans"/>
              </a:defRPr>
            </a:pPr>
            <a:r>
              <a:rPr sz="2025" b="1">
                <a:solidFill>
                  <a:srgbClr val="132D46"/>
                </a:solidFill>
                <a:latin typeface="Nimbus Sans"/>
                <a:ea typeface="Nimbus Sans"/>
                <a:cs typeface="Nimbus Sans"/>
              </a:rPr>
              <a:t>Confirm invoice</a:t>
            </a:r>
          </a:p>
        </p:txBody>
      </p:sp>
      <p:sp>
        <p:nvSpPr>
          <p:cNvPr id="40" name="flow-actor-0">
            <a:extLst xmlns:a="http://schemas.openxmlformats.org/drawingml/2006/main">
              <a:ext uri="{FF2B5EF4-FFF2-40B4-BE49-F238E27FC236}">
                <a16:creationId xmlns:a16="http://schemas.microsoft.com/office/drawing/2014/main" id="{6691FF15-D1B3-4CAF-80FD-7A942AEFF4A1}"/>
              </a:ext>
            </a:extLst>
          </p:cNvPr>
          <p:cNvSpPr>
            <a:spLocks xmlns:a="http://schemas.openxmlformats.org/drawingml/2006/main" noGrp="1"/>
          </p:cNvSpPr>
          <p:nvPr/>
        </p:nvSpPr>
        <p:spPr>
          <a:xfrm xmlns:a="http://schemas.openxmlformats.org/drawingml/2006/main">
            <a:off x="609600" y="4343400"/>
            <a:ext cx="2543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14757"/>
                </a:solidFill>
                <a:latin typeface="Nimbus Sans"/>
                <a:ea typeface="Nimbus Sans"/>
                <a:cs typeface="Nimbus Sans"/>
              </a:defRPr>
            </a:defPPr>
          </a:lstStyle>
          <a:p xmlns:a="http://schemas.openxmlformats.org/drawingml/2006/main">
            <a:pPr algn="l">
              <a:buNone/>
              <a:defRPr sz="1725" b="0">
                <a:solidFill>
                  <a:srgbClr val="314757"/>
                </a:solidFill>
                <a:latin typeface="Nimbus Sans"/>
                <a:ea typeface="Nimbus Sans"/>
                <a:cs typeface="Nimbus Sans"/>
              </a:defRPr>
            </a:pPr>
            <a:r>
              <a:rPr sz="1725" b="0">
                <a:solidFill>
                  <a:srgbClr val="314757"/>
                </a:solidFill>
                <a:latin typeface="Nimbus Sans"/>
                <a:ea typeface="Nimbus Sans"/>
                <a:cs typeface="Nimbus Sans"/>
              </a:rPr>
              <a:t>Supplier and Buyer</a:t>
            </a:r>
          </a:p>
        </p:txBody>
      </p:sp>
      <p:sp>
        <p:nvSpPr>
          <p:cNvPr id="41" name="flow-state-0">
            <a:extLst xmlns:a="http://schemas.openxmlformats.org/drawingml/2006/main">
              <a:ext uri="{FF2B5EF4-FFF2-40B4-BE49-F238E27FC236}">
                <a16:creationId xmlns:a16="http://schemas.microsoft.com/office/drawing/2014/main" id="{2070068C-83C9-4088-A536-9DE9FB3F6572}"/>
              </a:ext>
            </a:extLst>
          </p:cNvPr>
          <p:cNvSpPr>
            <a:spLocks xmlns:a="http://schemas.openxmlformats.org/drawingml/2006/main" noGrp="1"/>
          </p:cNvSpPr>
          <p:nvPr/>
        </p:nvSpPr>
        <p:spPr>
          <a:xfrm xmlns:a="http://schemas.openxmlformats.org/drawingml/2006/main">
            <a:off x="609600" y="4762500"/>
            <a:ext cx="2543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6D96"/>
                </a:solidFill>
                <a:latin typeface="Nimbus Sans"/>
                <a:ea typeface="Nimbus Sans"/>
                <a:cs typeface="Nimbus Sans"/>
              </a:defRPr>
            </a:defPPr>
          </a:lstStyle>
          <a:p xmlns:a="http://schemas.openxmlformats.org/drawingml/2006/main">
            <a:pPr algn="l">
              <a:buNone/>
              <a:defRPr sz="1800" b="1">
                <a:solidFill>
                  <a:srgbClr val="286D96"/>
                </a:solidFill>
                <a:latin typeface="Nimbus Sans"/>
                <a:ea typeface="Nimbus Sans"/>
                <a:cs typeface="Nimbus Sans"/>
              </a:defRPr>
            </a:pPr>
            <a:r>
              <a:rPr sz="1800" b="1">
                <a:solidFill>
                  <a:srgbClr val="286D96"/>
                </a:solidFill>
                <a:latin typeface="Nimbus Sans"/>
                <a:ea typeface="Nimbus Sans"/>
                <a:cs typeface="Nimbus Sans"/>
              </a:rPr>
              <a:t>Confirmed</a:t>
            </a:r>
          </a:p>
        </p:txBody>
      </p:sp>
      <p:cxnSp>
        <p:nvCxnSpPr>
          <p:cNvPr id="42" name="flow-connector-0">
            <a:extLst xmlns:a="http://schemas.openxmlformats.org/drawingml/2006/main">
              <a:ext uri="{FF2B5EF4-FFF2-40B4-BE49-F238E27FC236}">
                <a16:creationId xmlns:a16="http://schemas.microsoft.com/office/drawing/2014/main" id="{1201604D-571C-456A-8C70-597796A4487D}"/>
              </a:ext>
            </a:extLst>
          </p:cNvPr>
          <p:cNvCxnSpPr/>
          <p:nvPr/>
        </p:nvCxnSpPr>
        <p:spPr>
          <a:xfrm xmlns:a="http://schemas.openxmlformats.org/drawingml/2006/main">
            <a:off x="1428750" y="3390900"/>
            <a:ext cx="1828800" cy="0"/>
          </a:xfrm>
          <a:prstGeom xmlns:a="http://schemas.openxmlformats.org/drawingml/2006/main" prst="straightConnector1">
            <a:avLst/>
          </a:prstGeom>
          <a:ln xmlns:a="http://schemas.openxmlformats.org/drawingml/2006/main" w="19050">
            <a:solidFill>
              <a:srgbClr val="CBD5DC"/>
            </a:solidFill>
            <a:prstDash val="solid"/>
            <a:tailEnd type="triangle" w="sm" len="sm"/>
          </a:ln>
        </p:spPr>
      </p:cxnSp>
      <p:sp>
        <p:nvSpPr>
          <p:cNvPr id="43" name="flow-number-1">
            <a:extLst xmlns:a="http://schemas.openxmlformats.org/drawingml/2006/main">
              <a:ext uri="{FF2B5EF4-FFF2-40B4-BE49-F238E27FC236}">
                <a16:creationId xmlns:a16="http://schemas.microsoft.com/office/drawing/2014/main" id="{39365340-C02D-46FD-9D35-7E4A2C99F82C}"/>
              </a:ext>
            </a:extLst>
          </p:cNvPr>
          <p:cNvSpPr>
            <a:spLocks xmlns:a="http://schemas.openxmlformats.org/drawingml/2006/main" noGrp="1"/>
          </p:cNvSpPr>
          <p:nvPr/>
        </p:nvSpPr>
        <p:spPr>
          <a:xfrm xmlns:a="http://schemas.openxmlformats.org/drawingml/2006/main">
            <a:off x="3448050" y="3200400"/>
            <a:ext cx="2238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86D96"/>
                </a:solidFill>
                <a:latin typeface="Nimbus Sans"/>
                <a:ea typeface="Nimbus Sans"/>
                <a:cs typeface="Nimbus Sans"/>
              </a:defRPr>
            </a:defPPr>
          </a:lstStyle>
          <a:p xmlns:a="http://schemas.openxmlformats.org/drawingml/2006/main">
            <a:pPr algn="l">
              <a:buNone/>
              <a:defRPr sz="2250" b="1">
                <a:solidFill>
                  <a:srgbClr val="286D96"/>
                </a:solidFill>
                <a:latin typeface="Nimbus Sans"/>
                <a:ea typeface="Nimbus Sans"/>
                <a:cs typeface="Nimbus Sans"/>
              </a:defRPr>
            </a:pPr>
            <a:r>
              <a:rPr sz="2250" b="1">
                <a:solidFill>
                  <a:srgbClr val="286D96"/>
                </a:solidFill>
                <a:latin typeface="Nimbus Sans"/>
                <a:ea typeface="Nimbus Sans"/>
                <a:cs typeface="Nimbus Sans"/>
              </a:rPr>
              <a:t>02</a:t>
            </a:r>
          </a:p>
        </p:txBody>
      </p:sp>
      <p:sp>
        <p:nvSpPr>
          <p:cNvPr id="44" name="flow-title-1">
            <a:extLst xmlns:a="http://schemas.openxmlformats.org/drawingml/2006/main">
              <a:ext uri="{FF2B5EF4-FFF2-40B4-BE49-F238E27FC236}">
                <a16:creationId xmlns:a16="http://schemas.microsoft.com/office/drawing/2014/main" id="{667CDFE5-DCD9-467C-81C1-D7F7C21F72D7}"/>
              </a:ext>
            </a:extLst>
          </p:cNvPr>
          <p:cNvSpPr>
            <a:spLocks xmlns:a="http://schemas.openxmlformats.org/drawingml/2006/main" noGrp="1"/>
          </p:cNvSpPr>
          <p:nvPr/>
        </p:nvSpPr>
        <p:spPr>
          <a:xfrm xmlns:a="http://schemas.openxmlformats.org/drawingml/2006/main">
            <a:off x="3448050" y="3724275"/>
            <a:ext cx="25431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32D46"/>
                </a:solidFill>
                <a:latin typeface="Nimbus Sans"/>
                <a:ea typeface="Nimbus Sans"/>
                <a:cs typeface="Nimbus Sans"/>
              </a:defRPr>
            </a:defPPr>
          </a:lstStyle>
          <a:p xmlns:a="http://schemas.openxmlformats.org/drawingml/2006/main">
            <a:pPr algn="l">
              <a:buNone/>
              <a:defRPr sz="2025" b="1">
                <a:solidFill>
                  <a:srgbClr val="132D46"/>
                </a:solidFill>
                <a:latin typeface="Nimbus Sans"/>
                <a:ea typeface="Nimbus Sans"/>
                <a:cs typeface="Nimbus Sans"/>
              </a:defRPr>
            </a:pPr>
            <a:r>
              <a:rPr sz="2025" b="1">
                <a:solidFill>
                  <a:srgbClr val="132D46"/>
                </a:solidFill>
                <a:latin typeface="Nimbus Sans"/>
                <a:ea typeface="Nimbus Sans"/>
                <a:cs typeface="Nimbus Sans"/>
              </a:rPr>
              <a:t>Select a quote</a:t>
            </a:r>
          </a:p>
        </p:txBody>
      </p:sp>
      <p:sp>
        <p:nvSpPr>
          <p:cNvPr id="45" name="flow-actor-1">
            <a:extLst xmlns:a="http://schemas.openxmlformats.org/drawingml/2006/main">
              <a:ext uri="{FF2B5EF4-FFF2-40B4-BE49-F238E27FC236}">
                <a16:creationId xmlns:a16="http://schemas.microsoft.com/office/drawing/2014/main" id="{BA08FC3F-EDAE-44AA-BFCD-FE63C1621BBE}"/>
              </a:ext>
            </a:extLst>
          </p:cNvPr>
          <p:cNvSpPr>
            <a:spLocks xmlns:a="http://schemas.openxmlformats.org/drawingml/2006/main" noGrp="1"/>
          </p:cNvSpPr>
          <p:nvPr/>
        </p:nvSpPr>
        <p:spPr>
          <a:xfrm xmlns:a="http://schemas.openxmlformats.org/drawingml/2006/main">
            <a:off x="3448050" y="4343400"/>
            <a:ext cx="2543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14757"/>
                </a:solidFill>
                <a:latin typeface="Nimbus Sans"/>
                <a:ea typeface="Nimbus Sans"/>
                <a:cs typeface="Nimbus Sans"/>
              </a:defRPr>
            </a:defPPr>
          </a:lstStyle>
          <a:p xmlns:a="http://schemas.openxmlformats.org/drawingml/2006/main">
            <a:pPr algn="l">
              <a:buNone/>
              <a:defRPr sz="1725" b="0">
                <a:solidFill>
                  <a:srgbClr val="314757"/>
                </a:solidFill>
                <a:latin typeface="Nimbus Sans"/>
                <a:ea typeface="Nimbus Sans"/>
                <a:cs typeface="Nimbus Sans"/>
              </a:defRPr>
            </a:pPr>
            <a:r>
              <a:rPr sz="1725" b="0">
                <a:solidFill>
                  <a:srgbClr val="314757"/>
                </a:solidFill>
                <a:latin typeface="Nimbus Sans"/>
                <a:ea typeface="Nimbus Sans"/>
                <a:cs typeface="Nimbus Sans"/>
              </a:rPr>
              <a:t>Supplier and Funders</a:t>
            </a:r>
          </a:p>
        </p:txBody>
      </p:sp>
      <p:sp>
        <p:nvSpPr>
          <p:cNvPr id="46" name="flow-state-1">
            <a:extLst xmlns:a="http://schemas.openxmlformats.org/drawingml/2006/main">
              <a:ext uri="{FF2B5EF4-FFF2-40B4-BE49-F238E27FC236}">
                <a16:creationId xmlns:a16="http://schemas.microsoft.com/office/drawing/2014/main" id="{5ACE6C2D-0261-4C2D-8D84-A3CD0ACCC45A}"/>
              </a:ext>
            </a:extLst>
          </p:cNvPr>
          <p:cNvSpPr>
            <a:spLocks xmlns:a="http://schemas.openxmlformats.org/drawingml/2006/main" noGrp="1"/>
          </p:cNvSpPr>
          <p:nvPr/>
        </p:nvSpPr>
        <p:spPr>
          <a:xfrm xmlns:a="http://schemas.openxmlformats.org/drawingml/2006/main">
            <a:off x="3448050" y="4762500"/>
            <a:ext cx="2543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6D96"/>
                </a:solidFill>
                <a:latin typeface="Nimbus Sans"/>
                <a:ea typeface="Nimbus Sans"/>
                <a:cs typeface="Nimbus Sans"/>
              </a:defRPr>
            </a:defPPr>
          </a:lstStyle>
          <a:p xmlns:a="http://schemas.openxmlformats.org/drawingml/2006/main">
            <a:pPr algn="l">
              <a:buNone/>
              <a:defRPr sz="1800" b="1">
                <a:solidFill>
                  <a:srgbClr val="286D96"/>
                </a:solidFill>
                <a:latin typeface="Nimbus Sans"/>
                <a:ea typeface="Nimbus Sans"/>
                <a:cs typeface="Nimbus Sans"/>
              </a:defRPr>
            </a:pPr>
            <a:r>
              <a:rPr sz="1800" b="1">
                <a:solidFill>
                  <a:srgbClr val="286D96"/>
                </a:solidFill>
                <a:latin typeface="Nimbus Sans"/>
                <a:ea typeface="Nimbus Sans"/>
                <a:cs typeface="Nimbus Sans"/>
              </a:rPr>
              <a:t>Offer accepted</a:t>
            </a:r>
          </a:p>
        </p:txBody>
      </p:sp>
      <p:cxnSp>
        <p:nvCxnSpPr>
          <p:cNvPr id="47" name="flow-connector-1">
            <a:extLst xmlns:a="http://schemas.openxmlformats.org/drawingml/2006/main">
              <a:ext uri="{FF2B5EF4-FFF2-40B4-BE49-F238E27FC236}">
                <a16:creationId xmlns:a16="http://schemas.microsoft.com/office/drawing/2014/main" id="{AA400EE9-032B-4B1F-AF3C-1FD899460B96}"/>
              </a:ext>
            </a:extLst>
          </p:cNvPr>
          <p:cNvCxnSpPr/>
          <p:nvPr/>
        </p:nvCxnSpPr>
        <p:spPr>
          <a:xfrm xmlns:a="http://schemas.openxmlformats.org/drawingml/2006/main">
            <a:off x="4267200" y="3390900"/>
            <a:ext cx="1828800" cy="0"/>
          </a:xfrm>
          <a:prstGeom xmlns:a="http://schemas.openxmlformats.org/drawingml/2006/main" prst="straightConnector1">
            <a:avLst/>
          </a:prstGeom>
          <a:ln xmlns:a="http://schemas.openxmlformats.org/drawingml/2006/main" w="19050">
            <a:solidFill>
              <a:srgbClr val="CBD5DC"/>
            </a:solidFill>
            <a:prstDash val="solid"/>
            <a:tailEnd type="triangle" w="sm" len="sm"/>
          </a:ln>
        </p:spPr>
      </p:cxnSp>
      <p:sp>
        <p:nvSpPr>
          <p:cNvPr id="48" name="flow-number-2">
            <a:extLst xmlns:a="http://schemas.openxmlformats.org/drawingml/2006/main">
              <a:ext uri="{FF2B5EF4-FFF2-40B4-BE49-F238E27FC236}">
                <a16:creationId xmlns:a16="http://schemas.microsoft.com/office/drawing/2014/main" id="{349556F5-0234-4C48-B68C-C276232AF077}"/>
              </a:ext>
            </a:extLst>
          </p:cNvPr>
          <p:cNvSpPr>
            <a:spLocks xmlns:a="http://schemas.openxmlformats.org/drawingml/2006/main" noGrp="1"/>
          </p:cNvSpPr>
          <p:nvPr/>
        </p:nvSpPr>
        <p:spPr>
          <a:xfrm xmlns:a="http://schemas.openxmlformats.org/drawingml/2006/main">
            <a:off x="6286500" y="3200400"/>
            <a:ext cx="2238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86D96"/>
                </a:solidFill>
                <a:latin typeface="Nimbus Sans"/>
                <a:ea typeface="Nimbus Sans"/>
                <a:cs typeface="Nimbus Sans"/>
              </a:defRPr>
            </a:defPPr>
          </a:lstStyle>
          <a:p xmlns:a="http://schemas.openxmlformats.org/drawingml/2006/main">
            <a:pPr algn="l">
              <a:buNone/>
              <a:defRPr sz="2250" b="1">
                <a:solidFill>
                  <a:srgbClr val="286D96"/>
                </a:solidFill>
                <a:latin typeface="Nimbus Sans"/>
                <a:ea typeface="Nimbus Sans"/>
                <a:cs typeface="Nimbus Sans"/>
              </a:defRPr>
            </a:pPr>
            <a:r>
              <a:rPr sz="2250" b="1">
                <a:solidFill>
                  <a:srgbClr val="286D96"/>
                </a:solidFill>
                <a:latin typeface="Nimbus Sans"/>
                <a:ea typeface="Nimbus Sans"/>
                <a:cs typeface="Nimbus Sans"/>
              </a:rPr>
              <a:t>03</a:t>
            </a:r>
          </a:p>
        </p:txBody>
      </p:sp>
      <p:sp>
        <p:nvSpPr>
          <p:cNvPr id="49" name="flow-title-2">
            <a:extLst xmlns:a="http://schemas.openxmlformats.org/drawingml/2006/main">
              <a:ext uri="{FF2B5EF4-FFF2-40B4-BE49-F238E27FC236}">
                <a16:creationId xmlns:a16="http://schemas.microsoft.com/office/drawing/2014/main" id="{8F256BCE-D027-4F1A-9908-F1171BA8B4A5}"/>
              </a:ext>
            </a:extLst>
          </p:cNvPr>
          <p:cNvSpPr>
            <a:spLocks xmlns:a="http://schemas.openxmlformats.org/drawingml/2006/main" noGrp="1"/>
          </p:cNvSpPr>
          <p:nvPr/>
        </p:nvSpPr>
        <p:spPr>
          <a:xfrm xmlns:a="http://schemas.openxmlformats.org/drawingml/2006/main">
            <a:off x="6286500" y="3724275"/>
            <a:ext cx="25431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32D46"/>
                </a:solidFill>
                <a:latin typeface="Nimbus Sans"/>
                <a:ea typeface="Nimbus Sans"/>
                <a:cs typeface="Nimbus Sans"/>
              </a:defRPr>
            </a:defPPr>
          </a:lstStyle>
          <a:p xmlns:a="http://schemas.openxmlformats.org/drawingml/2006/main">
            <a:pPr algn="l">
              <a:buNone/>
              <a:defRPr sz="2025" b="1">
                <a:solidFill>
                  <a:srgbClr val="132D46"/>
                </a:solidFill>
                <a:latin typeface="Nimbus Sans"/>
                <a:ea typeface="Nimbus Sans"/>
                <a:cs typeface="Nimbus Sans"/>
              </a:defRPr>
            </a:pPr>
            <a:r>
              <a:rPr sz="2025" b="1">
                <a:solidFill>
                  <a:srgbClr val="132D46"/>
                </a:solidFill>
                <a:latin typeface="Nimbus Sans"/>
                <a:ea typeface="Nimbus Sans"/>
                <a:cs typeface="Nimbus Sans"/>
              </a:rPr>
              <a:t>Fund principal</a:t>
            </a:r>
          </a:p>
        </p:txBody>
      </p:sp>
      <p:sp>
        <p:nvSpPr>
          <p:cNvPr id="50" name="flow-actor-2">
            <a:extLst xmlns:a="http://schemas.openxmlformats.org/drawingml/2006/main">
              <a:ext uri="{FF2B5EF4-FFF2-40B4-BE49-F238E27FC236}">
                <a16:creationId xmlns:a16="http://schemas.microsoft.com/office/drawing/2014/main" id="{6EA82A28-E07D-4132-BCD7-8A7A5B5A928B}"/>
              </a:ext>
            </a:extLst>
          </p:cNvPr>
          <p:cNvSpPr>
            <a:spLocks xmlns:a="http://schemas.openxmlformats.org/drawingml/2006/main" noGrp="1"/>
          </p:cNvSpPr>
          <p:nvPr/>
        </p:nvSpPr>
        <p:spPr>
          <a:xfrm xmlns:a="http://schemas.openxmlformats.org/drawingml/2006/main">
            <a:off x="6286500" y="4343400"/>
            <a:ext cx="2543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14757"/>
                </a:solidFill>
                <a:latin typeface="Nimbus Sans"/>
                <a:ea typeface="Nimbus Sans"/>
                <a:cs typeface="Nimbus Sans"/>
              </a:defRPr>
            </a:defPPr>
          </a:lstStyle>
          <a:p xmlns:a="http://schemas.openxmlformats.org/drawingml/2006/main">
            <a:pPr algn="l">
              <a:buNone/>
              <a:defRPr sz="1725" b="0">
                <a:solidFill>
                  <a:srgbClr val="314757"/>
                </a:solidFill>
                <a:latin typeface="Nimbus Sans"/>
                <a:ea typeface="Nimbus Sans"/>
                <a:cs typeface="Nimbus Sans"/>
              </a:defRPr>
            </a:pPr>
            <a:r>
              <a:rPr sz="1725" b="0">
                <a:solidFill>
                  <a:srgbClr val="314757"/>
                </a:solidFill>
                <a:latin typeface="Nimbus Sans"/>
                <a:ea typeface="Nimbus Sans"/>
                <a:cs typeface="Nimbus Sans"/>
              </a:rPr>
              <a:t>Selected Funder</a:t>
            </a:r>
          </a:p>
        </p:txBody>
      </p:sp>
      <p:sp>
        <p:nvSpPr>
          <p:cNvPr id="51" name="flow-state-2">
            <a:extLst xmlns:a="http://schemas.openxmlformats.org/drawingml/2006/main">
              <a:ext uri="{FF2B5EF4-FFF2-40B4-BE49-F238E27FC236}">
                <a16:creationId xmlns:a16="http://schemas.microsoft.com/office/drawing/2014/main" id="{F436F2EF-CC0F-481C-8DAC-DD06FF85EED7}"/>
              </a:ext>
            </a:extLst>
          </p:cNvPr>
          <p:cNvSpPr>
            <a:spLocks xmlns:a="http://schemas.openxmlformats.org/drawingml/2006/main" noGrp="1"/>
          </p:cNvSpPr>
          <p:nvPr/>
        </p:nvSpPr>
        <p:spPr>
          <a:xfrm xmlns:a="http://schemas.openxmlformats.org/drawingml/2006/main">
            <a:off x="6286500" y="4762500"/>
            <a:ext cx="2543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6D96"/>
                </a:solidFill>
                <a:latin typeface="Nimbus Sans"/>
                <a:ea typeface="Nimbus Sans"/>
                <a:cs typeface="Nimbus Sans"/>
              </a:defRPr>
            </a:defPPr>
          </a:lstStyle>
          <a:p xmlns:a="http://schemas.openxmlformats.org/drawingml/2006/main">
            <a:pPr algn="l">
              <a:buNone/>
              <a:defRPr sz="1800" b="1">
                <a:solidFill>
                  <a:srgbClr val="286D96"/>
                </a:solidFill>
                <a:latin typeface="Nimbus Sans"/>
                <a:ea typeface="Nimbus Sans"/>
                <a:cs typeface="Nimbus Sans"/>
              </a:defRPr>
            </a:pPr>
            <a:r>
              <a:rPr sz="1800" b="1">
                <a:solidFill>
                  <a:srgbClr val="286D96"/>
                </a:solidFill>
                <a:latin typeface="Nimbus Sans"/>
                <a:ea typeface="Nimbus Sans"/>
                <a:cs typeface="Nimbus Sans"/>
              </a:rPr>
              <a:t>Funded</a:t>
            </a:r>
          </a:p>
        </p:txBody>
      </p:sp>
      <p:cxnSp>
        <p:nvCxnSpPr>
          <p:cNvPr id="52" name="flow-connector-2">
            <a:extLst xmlns:a="http://schemas.openxmlformats.org/drawingml/2006/main">
              <a:ext uri="{FF2B5EF4-FFF2-40B4-BE49-F238E27FC236}">
                <a16:creationId xmlns:a16="http://schemas.microsoft.com/office/drawing/2014/main" id="{055C1146-2300-4D8C-A009-9C83A3697AC2}"/>
              </a:ext>
            </a:extLst>
          </p:cNvPr>
          <p:cNvCxnSpPr/>
          <p:nvPr/>
        </p:nvCxnSpPr>
        <p:spPr>
          <a:xfrm xmlns:a="http://schemas.openxmlformats.org/drawingml/2006/main">
            <a:off x="7105650" y="3390900"/>
            <a:ext cx="1828800" cy="0"/>
          </a:xfrm>
          <a:prstGeom xmlns:a="http://schemas.openxmlformats.org/drawingml/2006/main" prst="straightConnector1">
            <a:avLst/>
          </a:prstGeom>
          <a:ln xmlns:a="http://schemas.openxmlformats.org/drawingml/2006/main" w="19050">
            <a:solidFill>
              <a:srgbClr val="CBD5DC"/>
            </a:solidFill>
            <a:prstDash val="solid"/>
            <a:tailEnd type="triangle" w="sm" len="sm"/>
          </a:ln>
        </p:spPr>
      </p:cxnSp>
      <p:sp>
        <p:nvSpPr>
          <p:cNvPr id="53" name="flow-number-3">
            <a:extLst xmlns:a="http://schemas.openxmlformats.org/drawingml/2006/main">
              <a:ext uri="{FF2B5EF4-FFF2-40B4-BE49-F238E27FC236}">
                <a16:creationId xmlns:a16="http://schemas.microsoft.com/office/drawing/2014/main" id="{85DBB5DD-E919-40A6-8DE8-A3EBDE33D762}"/>
              </a:ext>
            </a:extLst>
          </p:cNvPr>
          <p:cNvSpPr>
            <a:spLocks xmlns:a="http://schemas.openxmlformats.org/drawingml/2006/main" noGrp="1"/>
          </p:cNvSpPr>
          <p:nvPr/>
        </p:nvSpPr>
        <p:spPr>
          <a:xfrm xmlns:a="http://schemas.openxmlformats.org/drawingml/2006/main">
            <a:off x="9124950" y="3200400"/>
            <a:ext cx="2238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86D96"/>
                </a:solidFill>
                <a:latin typeface="Nimbus Sans"/>
                <a:ea typeface="Nimbus Sans"/>
                <a:cs typeface="Nimbus Sans"/>
              </a:defRPr>
            </a:defPPr>
          </a:lstStyle>
          <a:p xmlns:a="http://schemas.openxmlformats.org/drawingml/2006/main">
            <a:pPr algn="l">
              <a:buNone/>
              <a:defRPr sz="2250" b="1">
                <a:solidFill>
                  <a:srgbClr val="286D96"/>
                </a:solidFill>
                <a:latin typeface="Nimbus Sans"/>
                <a:ea typeface="Nimbus Sans"/>
                <a:cs typeface="Nimbus Sans"/>
              </a:defRPr>
            </a:pPr>
            <a:r>
              <a:rPr sz="2250" b="1">
                <a:solidFill>
                  <a:srgbClr val="286D96"/>
                </a:solidFill>
                <a:latin typeface="Nimbus Sans"/>
                <a:ea typeface="Nimbus Sans"/>
                <a:cs typeface="Nimbus Sans"/>
              </a:rPr>
              <a:t>04</a:t>
            </a:r>
          </a:p>
        </p:txBody>
      </p:sp>
      <p:sp>
        <p:nvSpPr>
          <p:cNvPr id="54" name="flow-title-3">
            <a:extLst xmlns:a="http://schemas.openxmlformats.org/drawingml/2006/main">
              <a:ext uri="{FF2B5EF4-FFF2-40B4-BE49-F238E27FC236}">
                <a16:creationId xmlns:a16="http://schemas.microsoft.com/office/drawing/2014/main" id="{C49BC1BA-332E-47DD-A941-1E044D34B6CD}"/>
              </a:ext>
            </a:extLst>
          </p:cNvPr>
          <p:cNvSpPr>
            <a:spLocks xmlns:a="http://schemas.openxmlformats.org/drawingml/2006/main" noGrp="1"/>
          </p:cNvSpPr>
          <p:nvPr/>
        </p:nvSpPr>
        <p:spPr>
          <a:xfrm xmlns:a="http://schemas.openxmlformats.org/drawingml/2006/main">
            <a:off x="9124950" y="3724275"/>
            <a:ext cx="25431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32D46"/>
                </a:solidFill>
                <a:latin typeface="Nimbus Sans"/>
                <a:ea typeface="Nimbus Sans"/>
                <a:cs typeface="Nimbus Sans"/>
              </a:defRPr>
            </a:defPPr>
          </a:lstStyle>
          <a:p xmlns:a="http://schemas.openxmlformats.org/drawingml/2006/main">
            <a:pPr algn="l">
              <a:buNone/>
              <a:defRPr sz="2025" b="1">
                <a:solidFill>
                  <a:srgbClr val="132D46"/>
                </a:solidFill>
                <a:latin typeface="Nimbus Sans"/>
                <a:ea typeface="Nimbus Sans"/>
                <a:cs typeface="Nimbus Sans"/>
              </a:defRPr>
            </a:pPr>
            <a:r>
              <a:rPr sz="2025" b="1">
                <a:solidFill>
                  <a:srgbClr val="132D46"/>
                </a:solidFill>
                <a:latin typeface="Nimbus Sans"/>
                <a:ea typeface="Nimbus Sans"/>
                <a:cs typeface="Nimbus Sans"/>
              </a:rPr>
              <a:t>Repay and settle</a:t>
            </a:r>
          </a:p>
        </p:txBody>
      </p:sp>
      <p:sp>
        <p:nvSpPr>
          <p:cNvPr id="55" name="flow-actor-3">
            <a:extLst xmlns:a="http://schemas.openxmlformats.org/drawingml/2006/main">
              <a:ext uri="{FF2B5EF4-FFF2-40B4-BE49-F238E27FC236}">
                <a16:creationId xmlns:a16="http://schemas.microsoft.com/office/drawing/2014/main" id="{4E56F080-2573-448F-ACD7-5BA7C229DDCD}"/>
              </a:ext>
            </a:extLst>
          </p:cNvPr>
          <p:cNvSpPr>
            <a:spLocks xmlns:a="http://schemas.openxmlformats.org/drawingml/2006/main" noGrp="1"/>
          </p:cNvSpPr>
          <p:nvPr/>
        </p:nvSpPr>
        <p:spPr>
          <a:xfrm xmlns:a="http://schemas.openxmlformats.org/drawingml/2006/main">
            <a:off x="9124950" y="4343400"/>
            <a:ext cx="2543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14757"/>
                </a:solidFill>
                <a:latin typeface="Nimbus Sans"/>
                <a:ea typeface="Nimbus Sans"/>
                <a:cs typeface="Nimbus Sans"/>
              </a:defRPr>
            </a:defPPr>
          </a:lstStyle>
          <a:p xmlns:a="http://schemas.openxmlformats.org/drawingml/2006/main">
            <a:pPr algn="l">
              <a:buNone/>
              <a:defRPr sz="1725" b="0">
                <a:solidFill>
                  <a:srgbClr val="314757"/>
                </a:solidFill>
                <a:latin typeface="Nimbus Sans"/>
                <a:ea typeface="Nimbus Sans"/>
                <a:cs typeface="Nimbus Sans"/>
              </a:defRPr>
            </a:pPr>
            <a:r>
              <a:rPr sz="1725" b="0">
                <a:solidFill>
                  <a:srgbClr val="314757"/>
                </a:solidFill>
                <a:latin typeface="Nimbus Sans"/>
                <a:ea typeface="Nimbus Sans"/>
                <a:cs typeface="Nimbus Sans"/>
              </a:rPr>
              <a:t>Buyer and Pool</a:t>
            </a:r>
          </a:p>
        </p:txBody>
      </p:sp>
      <p:sp>
        <p:nvSpPr>
          <p:cNvPr id="56" name="flow-state-3">
            <a:extLst xmlns:a="http://schemas.openxmlformats.org/drawingml/2006/main">
              <a:ext uri="{FF2B5EF4-FFF2-40B4-BE49-F238E27FC236}">
                <a16:creationId xmlns:a16="http://schemas.microsoft.com/office/drawing/2014/main" id="{9AC50E4C-E7B2-4C6F-8BBC-321C905437B7}"/>
              </a:ext>
            </a:extLst>
          </p:cNvPr>
          <p:cNvSpPr>
            <a:spLocks xmlns:a="http://schemas.openxmlformats.org/drawingml/2006/main" noGrp="1"/>
          </p:cNvSpPr>
          <p:nvPr/>
        </p:nvSpPr>
        <p:spPr>
          <a:xfrm xmlns:a="http://schemas.openxmlformats.org/drawingml/2006/main">
            <a:off x="9124950" y="4762500"/>
            <a:ext cx="2543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6D96"/>
                </a:solidFill>
                <a:latin typeface="Nimbus Sans"/>
                <a:ea typeface="Nimbus Sans"/>
                <a:cs typeface="Nimbus Sans"/>
              </a:defRPr>
            </a:defPPr>
          </a:lstStyle>
          <a:p xmlns:a="http://schemas.openxmlformats.org/drawingml/2006/main">
            <a:pPr algn="l">
              <a:buNone/>
              <a:defRPr sz="1800" b="1">
                <a:solidFill>
                  <a:srgbClr val="286D96"/>
                </a:solidFill>
                <a:latin typeface="Nimbus Sans"/>
                <a:ea typeface="Nimbus Sans"/>
                <a:cs typeface="Nimbus Sans"/>
              </a:defRPr>
            </a:pPr>
            <a:r>
              <a:rPr sz="1800" b="1">
                <a:solidFill>
                  <a:srgbClr val="286D96"/>
                </a:solidFill>
                <a:latin typeface="Nimbus Sans"/>
                <a:ea typeface="Nimbus Sans"/>
                <a:cs typeface="Nimbus Sans"/>
              </a:rPr>
              <a:t>Repaid / Settled</a:t>
            </a:r>
          </a:p>
        </p:txBody>
      </p:sp>
      <p:sp>
        <p:nvSpPr>
          <p:cNvPr id="57" name="governance-divider">
            <a:extLst xmlns:a="http://schemas.openxmlformats.org/drawingml/2006/main">
              <a:ext uri="{FF2B5EF4-FFF2-40B4-BE49-F238E27FC236}">
                <a16:creationId xmlns:a16="http://schemas.microsoft.com/office/drawing/2014/main" id="{AF55380A-174F-4DA1-9086-4BDED747EE41}"/>
              </a:ext>
            </a:extLst>
          </p:cNvPr>
          <p:cNvSpPr>
            <a:spLocks xmlns:a="http://schemas.openxmlformats.org/drawingml/2006/main" noGrp="1"/>
          </p:cNvSpPr>
          <p:nvPr/>
        </p:nvSpPr>
        <p:spPr>
          <a:xfrm xmlns:a="http://schemas.openxmlformats.org/drawingml/2006/main">
            <a:off x="609600" y="5248275"/>
            <a:ext cx="1097280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58" name="governance-name-0">
            <a:extLst xmlns:a="http://schemas.openxmlformats.org/drawingml/2006/main">
              <a:ext uri="{FF2B5EF4-FFF2-40B4-BE49-F238E27FC236}">
                <a16:creationId xmlns:a16="http://schemas.microsoft.com/office/drawing/2014/main" id="{1DB9F60B-3C53-4379-920E-92A8FD34DFDE}"/>
              </a:ext>
            </a:extLst>
          </p:cNvPr>
          <p:cNvSpPr>
            <a:spLocks xmlns:a="http://schemas.openxmlformats.org/drawingml/2006/main" noGrp="1"/>
          </p:cNvSpPr>
          <p:nvPr/>
        </p:nvSpPr>
        <p:spPr>
          <a:xfrm xmlns:a="http://schemas.openxmlformats.org/drawingml/2006/main">
            <a:off x="609600" y="544830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32D46"/>
                </a:solidFill>
                <a:latin typeface="Nimbus Sans"/>
                <a:ea typeface="Nimbus Sans"/>
                <a:cs typeface="Nimbus Sans"/>
              </a:defRPr>
            </a:defPPr>
          </a:lstStyle>
          <a:p xmlns:a="http://schemas.openxmlformats.org/drawingml/2006/main">
            <a:pPr algn="l">
              <a:buNone/>
              <a:defRPr sz="1875" b="1">
                <a:solidFill>
                  <a:srgbClr val="132D46"/>
                </a:solidFill>
                <a:latin typeface="Nimbus Sans"/>
                <a:ea typeface="Nimbus Sans"/>
                <a:cs typeface="Nimbus Sans"/>
              </a:defRPr>
            </a:pPr>
            <a:r>
              <a:rPr sz="1875" b="1">
                <a:solidFill>
                  <a:srgbClr val="132D46"/>
                </a:solidFill>
                <a:latin typeface="Nimbus Sans"/>
                <a:ea typeface="Nimbus Sans"/>
                <a:cs typeface="Nimbus Sans"/>
              </a:rPr>
              <a:t>Admin</a:t>
            </a:r>
          </a:p>
        </p:txBody>
      </p:sp>
      <p:sp>
        <p:nvSpPr>
          <p:cNvPr id="59" name="governance-duty-0">
            <a:extLst xmlns:a="http://schemas.openxmlformats.org/drawingml/2006/main">
              <a:ext uri="{FF2B5EF4-FFF2-40B4-BE49-F238E27FC236}">
                <a16:creationId xmlns:a16="http://schemas.microsoft.com/office/drawing/2014/main" id="{3CECFFB1-1E5D-4828-B5BD-B57660E311C0}"/>
              </a:ext>
            </a:extLst>
          </p:cNvPr>
          <p:cNvSpPr>
            <a:spLocks xmlns:a="http://schemas.openxmlformats.org/drawingml/2006/main" noGrp="1"/>
          </p:cNvSpPr>
          <p:nvPr/>
        </p:nvSpPr>
        <p:spPr>
          <a:xfrm xmlns:a="http://schemas.openxmlformats.org/drawingml/2006/main">
            <a:off x="609600" y="5791200"/>
            <a:ext cx="328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7784"/>
                </a:solidFill>
                <a:latin typeface="Nimbus Sans"/>
                <a:ea typeface="Nimbus Sans"/>
                <a:cs typeface="Nimbus Sans"/>
              </a:defRPr>
            </a:defPPr>
          </a:lstStyle>
          <a:p xmlns:a="http://schemas.openxmlformats.org/drawingml/2006/main">
            <a:pPr algn="l">
              <a:buNone/>
              <a:defRPr sz="1725" b="0">
                <a:solidFill>
                  <a:srgbClr val="667784"/>
                </a:solidFill>
                <a:latin typeface="Nimbus Sans"/>
                <a:ea typeface="Nimbus Sans"/>
                <a:cs typeface="Nimbus Sans"/>
              </a:defRPr>
            </a:pPr>
            <a:r>
              <a:rPr sz="1725" b="0">
                <a:solidFill>
                  <a:srgbClr val="667784"/>
                </a:solidFill>
                <a:latin typeface="Nimbus Sans"/>
                <a:ea typeface="Nimbus Sans"/>
                <a:cs typeface="Nimbus Sans"/>
              </a:rPr>
              <a:t>Approves roles</a:t>
            </a:r>
          </a:p>
        </p:txBody>
      </p:sp>
      <p:sp>
        <p:nvSpPr>
          <p:cNvPr id="60" name="governance-name-1">
            <a:extLst xmlns:a="http://schemas.openxmlformats.org/drawingml/2006/main">
              <a:ext uri="{FF2B5EF4-FFF2-40B4-BE49-F238E27FC236}">
                <a16:creationId xmlns:a16="http://schemas.microsoft.com/office/drawing/2014/main" id="{17164633-671C-489E-A911-EED52988EFDE}"/>
              </a:ext>
            </a:extLst>
          </p:cNvPr>
          <p:cNvSpPr>
            <a:spLocks xmlns:a="http://schemas.openxmlformats.org/drawingml/2006/main" noGrp="1"/>
          </p:cNvSpPr>
          <p:nvPr/>
        </p:nvSpPr>
        <p:spPr>
          <a:xfrm xmlns:a="http://schemas.openxmlformats.org/drawingml/2006/main">
            <a:off x="4267200" y="544830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32D46"/>
                </a:solidFill>
                <a:latin typeface="Nimbus Sans"/>
                <a:ea typeface="Nimbus Sans"/>
                <a:cs typeface="Nimbus Sans"/>
              </a:defRPr>
            </a:defPPr>
          </a:lstStyle>
          <a:p xmlns:a="http://schemas.openxmlformats.org/drawingml/2006/main">
            <a:pPr algn="l">
              <a:buNone/>
              <a:defRPr sz="1875" b="1">
                <a:solidFill>
                  <a:srgbClr val="132D46"/>
                </a:solidFill>
                <a:latin typeface="Nimbus Sans"/>
                <a:ea typeface="Nimbus Sans"/>
                <a:cs typeface="Nimbus Sans"/>
              </a:defRPr>
            </a:pPr>
            <a:r>
              <a:rPr sz="1875" b="1">
                <a:solidFill>
                  <a:srgbClr val="132D46"/>
                </a:solidFill>
                <a:latin typeface="Nimbus Sans"/>
                <a:ea typeface="Nimbus Sans"/>
                <a:cs typeface="Nimbus Sans"/>
              </a:rPr>
              <a:t>Arbitrator</a:t>
            </a:r>
          </a:p>
        </p:txBody>
      </p:sp>
      <p:sp>
        <p:nvSpPr>
          <p:cNvPr id="61" name="governance-duty-1">
            <a:extLst xmlns:a="http://schemas.openxmlformats.org/drawingml/2006/main">
              <a:ext uri="{FF2B5EF4-FFF2-40B4-BE49-F238E27FC236}">
                <a16:creationId xmlns:a16="http://schemas.microsoft.com/office/drawing/2014/main" id="{37AAC6BC-CDF0-40E2-A2DF-00A315B264A2}"/>
              </a:ext>
            </a:extLst>
          </p:cNvPr>
          <p:cNvSpPr>
            <a:spLocks xmlns:a="http://schemas.openxmlformats.org/drawingml/2006/main" noGrp="1"/>
          </p:cNvSpPr>
          <p:nvPr/>
        </p:nvSpPr>
        <p:spPr>
          <a:xfrm xmlns:a="http://schemas.openxmlformats.org/drawingml/2006/main">
            <a:off x="4267200" y="5791200"/>
            <a:ext cx="328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7784"/>
                </a:solidFill>
                <a:latin typeface="Nimbus Sans"/>
                <a:ea typeface="Nimbus Sans"/>
                <a:cs typeface="Nimbus Sans"/>
              </a:defRPr>
            </a:defPPr>
          </a:lstStyle>
          <a:p xmlns:a="http://schemas.openxmlformats.org/drawingml/2006/main">
            <a:pPr algn="l">
              <a:buNone/>
              <a:defRPr sz="1725" b="0">
                <a:solidFill>
                  <a:srgbClr val="667784"/>
                </a:solidFill>
                <a:latin typeface="Nimbus Sans"/>
                <a:ea typeface="Nimbus Sans"/>
                <a:cs typeface="Nimbus Sans"/>
              </a:defRPr>
            </a:pPr>
            <a:r>
              <a:rPr sz="1725" b="0">
                <a:solidFill>
                  <a:srgbClr val="667784"/>
                </a:solidFill>
                <a:latin typeface="Nimbus Sans"/>
                <a:ea typeface="Nimbus Sans"/>
                <a:cs typeface="Nimbus Sans"/>
              </a:rPr>
              <a:t>Resolves disputes</a:t>
            </a:r>
          </a:p>
        </p:txBody>
      </p:sp>
      <p:sp>
        <p:nvSpPr>
          <p:cNvPr id="62" name="governance-name-2">
            <a:extLst xmlns:a="http://schemas.openxmlformats.org/drawingml/2006/main">
              <a:ext uri="{FF2B5EF4-FFF2-40B4-BE49-F238E27FC236}">
                <a16:creationId xmlns:a16="http://schemas.microsoft.com/office/drawing/2014/main" id="{5789315E-9555-4705-9D3F-954EF4BEC556}"/>
              </a:ext>
            </a:extLst>
          </p:cNvPr>
          <p:cNvSpPr>
            <a:spLocks xmlns:a="http://schemas.openxmlformats.org/drawingml/2006/main" noGrp="1"/>
          </p:cNvSpPr>
          <p:nvPr/>
        </p:nvSpPr>
        <p:spPr>
          <a:xfrm xmlns:a="http://schemas.openxmlformats.org/drawingml/2006/main">
            <a:off x="7924800" y="5448300"/>
            <a:ext cx="328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32D46"/>
                </a:solidFill>
                <a:latin typeface="Nimbus Sans"/>
                <a:ea typeface="Nimbus Sans"/>
                <a:cs typeface="Nimbus Sans"/>
              </a:defRPr>
            </a:defPPr>
          </a:lstStyle>
          <a:p xmlns:a="http://schemas.openxmlformats.org/drawingml/2006/main">
            <a:pPr algn="l">
              <a:buNone/>
              <a:defRPr sz="1875" b="1">
                <a:solidFill>
                  <a:srgbClr val="132D46"/>
                </a:solidFill>
                <a:latin typeface="Nimbus Sans"/>
                <a:ea typeface="Nimbus Sans"/>
                <a:cs typeface="Nimbus Sans"/>
              </a:defRPr>
            </a:pPr>
            <a:r>
              <a:rPr sz="1875" b="1">
                <a:solidFill>
                  <a:srgbClr val="132D46"/>
                </a:solidFill>
                <a:latin typeface="Nimbus Sans"/>
                <a:ea typeface="Nimbus Sans"/>
                <a:cs typeface="Nimbus Sans"/>
              </a:rPr>
              <a:t>Auditor</a:t>
            </a:r>
          </a:p>
        </p:txBody>
      </p:sp>
      <p:sp>
        <p:nvSpPr>
          <p:cNvPr id="63" name="governance-duty-2">
            <a:extLst xmlns:a="http://schemas.openxmlformats.org/drawingml/2006/main">
              <a:ext uri="{FF2B5EF4-FFF2-40B4-BE49-F238E27FC236}">
                <a16:creationId xmlns:a16="http://schemas.microsoft.com/office/drawing/2014/main" id="{72808F6F-3806-4175-A6B9-94FCDDD33D7A}"/>
              </a:ext>
            </a:extLst>
          </p:cNvPr>
          <p:cNvSpPr>
            <a:spLocks xmlns:a="http://schemas.openxmlformats.org/drawingml/2006/main" noGrp="1"/>
          </p:cNvSpPr>
          <p:nvPr/>
        </p:nvSpPr>
        <p:spPr>
          <a:xfrm xmlns:a="http://schemas.openxmlformats.org/drawingml/2006/main">
            <a:off x="7924800" y="5791200"/>
            <a:ext cx="328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7784"/>
                </a:solidFill>
                <a:latin typeface="Nimbus Sans"/>
                <a:ea typeface="Nimbus Sans"/>
                <a:cs typeface="Nimbus Sans"/>
              </a:defRPr>
            </a:defPPr>
          </a:lstStyle>
          <a:p xmlns:a="http://schemas.openxmlformats.org/drawingml/2006/main">
            <a:pPr algn="l">
              <a:buNone/>
              <a:defRPr sz="1725" b="0">
                <a:solidFill>
                  <a:srgbClr val="667784"/>
                </a:solidFill>
                <a:latin typeface="Nimbus Sans"/>
                <a:ea typeface="Nimbus Sans"/>
                <a:cs typeface="Nimbus Sans"/>
              </a:defRPr>
            </a:pPr>
            <a:r>
              <a:rPr sz="1725" b="0">
                <a:solidFill>
                  <a:srgbClr val="667784"/>
                </a:solidFill>
                <a:latin typeface="Nimbus Sans"/>
                <a:ea typeface="Nimbus Sans"/>
                <a:cs typeface="Nimbus Sans"/>
              </a:rPr>
              <a:t>Reviews records</a:t>
            </a:r>
          </a:p>
        </p:txBody>
      </p:sp>
    </p:spTree>
    <p:extLst>
      <p:ext uri="{BB962C8B-B14F-4D97-AF65-F5344CB8AC3E}">
        <p14:creationId xmlns:p14="http://schemas.microsoft.com/office/powerpoint/2010/main" val="61287236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5">
            <a:extLst xmlns:a="http://schemas.openxmlformats.org/drawingml/2006/main">
              <a:ext uri="{FF2B5EF4-FFF2-40B4-BE49-F238E27FC236}">
                <a16:creationId xmlns:a16="http://schemas.microsoft.com/office/drawing/2014/main" id="{E61E8E2F-43C6-4B92-B939-7677908CC242}"/>
              </a:ext>
            </a:extLst>
          </p:cNvPr>
          <p:cNvSpPr>
            <a:spLocks xmlns:a="http://schemas.openxmlformats.org/drawingml/2006/main" noGrp="1"/>
          </p:cNvSpPr>
          <p:nvPr/>
        </p:nvSpPr>
        <p:spPr>
          <a:xfrm xmlns:a="http://schemas.openxmlformats.org/drawingml/2006/main">
            <a:off x="609600" y="4667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32D46"/>
                </a:solidFill>
                <a:latin typeface="Nimbus Sans"/>
                <a:ea typeface="Nimbus Sans"/>
                <a:cs typeface="Nimbus Sans"/>
              </a:defRPr>
            </a:defPPr>
          </a:lstStyle>
          <a:p xmlns:a="http://schemas.openxmlformats.org/drawingml/2006/main">
            <a:pPr algn="l">
              <a:buNone/>
              <a:defRPr sz="3300" b="1">
                <a:solidFill>
                  <a:srgbClr val="132D46"/>
                </a:solidFill>
                <a:latin typeface="Nimbus Sans"/>
                <a:ea typeface="Nimbus Sans"/>
                <a:cs typeface="Nimbus Sans"/>
              </a:defRPr>
            </a:pPr>
            <a:r>
              <a:rPr sz="3300" b="1">
                <a:solidFill>
                  <a:srgbClr val="132D46"/>
                </a:solidFill>
                <a:latin typeface="Nimbus Sans"/>
                <a:ea typeface="Nimbus Sans"/>
                <a:cs typeface="Nimbus Sans"/>
              </a:rPr>
              <a:t>The demonstration amounts</a:t>
            </a:r>
          </a:p>
        </p:txBody>
      </p:sp>
      <p:sp>
        <p:nvSpPr>
          <p:cNvPr id="2" name="footnote-5">
            <a:extLst xmlns:a="http://schemas.openxmlformats.org/drawingml/2006/main">
              <a:ext uri="{FF2B5EF4-FFF2-40B4-BE49-F238E27FC236}">
                <a16:creationId xmlns:a16="http://schemas.microsoft.com/office/drawing/2014/main" id="{8EE34465-E17E-4575-8BC1-8A4D58539463}"/>
              </a:ext>
            </a:extLst>
          </p:cNvPr>
          <p:cNvSpPr>
            <a:spLocks xmlns:a="http://schemas.openxmlformats.org/drawingml/2006/main" noGrp="1"/>
          </p:cNvSpPr>
          <p:nvPr/>
        </p:nvSpPr>
        <p:spPr>
          <a:xfrm xmlns:a="http://schemas.openxmlformats.org/drawingml/2006/main">
            <a:off x="609600" y="61722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67784"/>
                </a:solidFill>
                <a:latin typeface="Nimbus Sans"/>
                <a:ea typeface="Nimbus Sans"/>
                <a:cs typeface="Nimbus Sans"/>
              </a:defRPr>
            </a:defPPr>
          </a:lstStyle>
          <a:p xmlns:a="http://schemas.openxmlformats.org/drawingml/2006/main">
            <a:pPr algn="l">
              <a:buNone/>
              <a:defRPr sz="1350" b="0">
                <a:solidFill>
                  <a:srgbClr val="667784"/>
                </a:solidFill>
                <a:latin typeface="Nimbus Sans"/>
                <a:ea typeface="Nimbus Sans"/>
                <a:cs typeface="Nimbus Sans"/>
              </a:defRPr>
            </a:pPr>
            <a:r>
              <a:rPr sz="1350" b="0">
                <a:solidFill>
                  <a:srgbClr val="667784"/>
                </a:solidFill>
                <a:latin typeface="Nimbus Sans"/>
                <a:ea typeface="Nimbus Sans"/>
                <a:cs typeface="Nimbus Sans"/>
              </a:rPr>
              <a:t>Illustrative inputs in Sepolia test ETH. Final settlement includes locked interest and a platform fee.</a:t>
            </a:r>
          </a:p>
        </p:txBody>
      </p:sp>
      <p:sp>
        <p:nvSpPr>
          <p:cNvPr id="3" name="footer-rule-5">
            <a:extLst xmlns:a="http://schemas.openxmlformats.org/drawingml/2006/main">
              <a:ext uri="{FF2B5EF4-FFF2-40B4-BE49-F238E27FC236}">
                <a16:creationId xmlns:a16="http://schemas.microsoft.com/office/drawing/2014/main" id="{20C8885A-3DFA-41A2-B4DE-6C9B9B6612D2}"/>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7620">
            <a:solidFill>
              <a:srgbClr val="CBD5DC"/>
            </a:solidFill>
            <a:prstDash val="solid"/>
          </a:ln>
        </p:spPr>
      </p:sp>
      <p:sp>
        <p:nvSpPr>
          <p:cNvPr id="4" name="brand-5">
            <a:extLst xmlns:a="http://schemas.openxmlformats.org/drawingml/2006/main">
              <a:ext uri="{FF2B5EF4-FFF2-40B4-BE49-F238E27FC236}">
                <a16:creationId xmlns:a16="http://schemas.microsoft.com/office/drawing/2014/main" id="{0A8F56FE-5783-4CA2-B475-C5163A3E4326}"/>
              </a:ext>
            </a:extLst>
          </p:cNvPr>
          <p:cNvSpPr>
            <a:spLocks xmlns:a="http://schemas.openxmlformats.org/drawingml/2006/main" noGrp="1"/>
          </p:cNvSpPr>
          <p:nvPr/>
        </p:nvSpPr>
        <p:spPr>
          <a:xfrm xmlns:a="http://schemas.openxmlformats.org/drawingml/2006/main">
            <a:off x="609600" y="6591300"/>
            <a:ext cx="5810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67784"/>
                </a:solidFill>
                <a:latin typeface="Nimbus Sans"/>
                <a:ea typeface="Nimbus Sans"/>
                <a:cs typeface="Nimbus Sans"/>
              </a:defRPr>
            </a:defPPr>
          </a:lstStyle>
          <a:p xmlns:a="http://schemas.openxmlformats.org/drawingml/2006/main">
            <a:pPr algn="l">
              <a:buNone/>
              <a:defRPr sz="1125" b="0">
                <a:solidFill>
                  <a:srgbClr val="667784"/>
                </a:solidFill>
                <a:latin typeface="Nimbus Sans"/>
                <a:ea typeface="Nimbus Sans"/>
                <a:cs typeface="Nimbus Sans"/>
              </a:defRPr>
            </a:pPr>
            <a:r>
              <a:rPr sz="1125" b="0">
                <a:solidFill>
                  <a:srgbClr val="667784"/>
                </a:solidFill>
                <a:latin typeface="Nimbus Sans"/>
                <a:ea typeface="Nimbus Sans"/>
                <a:cs typeface="Nimbus Sans"/>
              </a:rPr>
              <a:t>SME Flow</a:t>
            </a:r>
          </a:p>
        </p:txBody>
      </p:sp>
      <p:sp>
        <p:nvSpPr>
          <p:cNvPr id="5" name="folio-5">
            <a:extLst xmlns:a="http://schemas.openxmlformats.org/drawingml/2006/main">
              <a:ext uri="{FF2B5EF4-FFF2-40B4-BE49-F238E27FC236}">
                <a16:creationId xmlns:a16="http://schemas.microsoft.com/office/drawing/2014/main" id="{570B3B16-08AD-4D08-9DBD-C3B11DB29F1C}"/>
              </a:ext>
            </a:extLst>
          </p:cNvPr>
          <p:cNvSpPr>
            <a:spLocks xmlns:a="http://schemas.openxmlformats.org/drawingml/2006/main" noGrp="1"/>
          </p:cNvSpPr>
          <p:nvPr/>
        </p:nvSpPr>
        <p:spPr>
          <a:xfrm xmlns:a="http://schemas.openxmlformats.org/drawingml/2006/main">
            <a:off x="11163300" y="659130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67784"/>
                </a:solidFill>
                <a:latin typeface="Nimbus Sans"/>
                <a:ea typeface="Nimbus Sans"/>
                <a:cs typeface="Nimbus Sans"/>
              </a:defRPr>
            </a:defPPr>
          </a:lstStyle>
          <a:p xmlns:a="http://schemas.openxmlformats.org/drawingml/2006/main">
            <a:pPr algn="r">
              <a:buNone/>
              <a:defRPr sz="1125" b="0">
                <a:solidFill>
                  <a:srgbClr val="667784"/>
                </a:solidFill>
                <a:latin typeface="Nimbus Sans"/>
                <a:ea typeface="Nimbus Sans"/>
                <a:cs typeface="Nimbus Sans"/>
              </a:defRPr>
            </a:pPr>
            <a:r>
              <a:rPr sz="1125" b="0">
                <a:solidFill>
                  <a:srgbClr val="667784"/>
                </a:solidFill>
                <a:latin typeface="Nimbus Sans"/>
                <a:ea typeface="Nimbus Sans"/>
                <a:cs typeface="Nimbus Sans"/>
              </a:rPr>
              <a:t>04</a:t>
            </a:r>
          </a:p>
        </p:txBody>
      </p:sp>
      <p:sp>
        <p:nvSpPr>
          <p:cNvPr id="6" name="liquidity-share">
            <a:extLst xmlns:a="http://schemas.openxmlformats.org/drawingml/2006/main">
              <a:ext uri="{FF2B5EF4-FFF2-40B4-BE49-F238E27FC236}">
                <a16:creationId xmlns:a16="http://schemas.microsoft.com/office/drawing/2014/main" id="{97D22DB3-9C5F-4B35-AC49-750BC13DBEB4}"/>
              </a:ext>
            </a:extLst>
          </p:cNvPr>
          <p:cNvSpPr>
            <a:spLocks xmlns:a="http://schemas.openxmlformats.org/drawingml/2006/main" noGrp="1"/>
          </p:cNvSpPr>
          <p:nvPr/>
        </p:nvSpPr>
        <p:spPr>
          <a:xfrm xmlns:a="http://schemas.openxmlformats.org/drawingml/2006/main">
            <a:off x="533400" y="1990725"/>
            <a:ext cx="4000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200" b="1">
                <a:solidFill>
                  <a:srgbClr val="B88746"/>
                </a:solidFill>
                <a:latin typeface="Nimbus Sans"/>
                <a:ea typeface="Nimbus Sans"/>
                <a:cs typeface="Nimbus Sans"/>
              </a:defRPr>
            </a:defPPr>
          </a:lstStyle>
          <a:p xmlns:a="http://schemas.openxmlformats.org/drawingml/2006/main">
            <a:pPr algn="l">
              <a:buNone/>
              <a:defRPr sz="7200" b="1">
                <a:solidFill>
                  <a:srgbClr val="B88746"/>
                </a:solidFill>
                <a:latin typeface="Nimbus Sans"/>
                <a:ea typeface="Nimbus Sans"/>
                <a:cs typeface="Nimbus Sans"/>
              </a:defRPr>
            </a:pPr>
            <a:r>
              <a:rPr sz="7200" b="1">
                <a:solidFill>
                  <a:srgbClr val="B88746"/>
                </a:solidFill>
                <a:latin typeface="Nimbus Sans"/>
                <a:ea typeface="Nimbus Sans"/>
                <a:cs typeface="Nimbus Sans"/>
              </a:rPr>
              <a:t>0.036</a:t>
            </a:r>
          </a:p>
        </p:txBody>
      </p:sp>
      <p:sp>
        <p:nvSpPr>
          <p:cNvPr id="7" name="liquidity-definition">
            <a:extLst xmlns:a="http://schemas.openxmlformats.org/drawingml/2006/main">
              <a:ext uri="{FF2B5EF4-FFF2-40B4-BE49-F238E27FC236}">
                <a16:creationId xmlns:a16="http://schemas.microsoft.com/office/drawing/2014/main" id="{A4E79FEF-5591-4293-9C53-36CBBAC995CD}"/>
              </a:ext>
            </a:extLst>
          </p:cNvPr>
          <p:cNvSpPr>
            <a:spLocks xmlns:a="http://schemas.openxmlformats.org/drawingml/2006/main" noGrp="1"/>
          </p:cNvSpPr>
          <p:nvPr/>
        </p:nvSpPr>
        <p:spPr>
          <a:xfrm xmlns:a="http://schemas.openxmlformats.org/drawingml/2006/main">
            <a:off x="619125" y="3333750"/>
            <a:ext cx="34194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2D46"/>
                </a:solidFill>
                <a:latin typeface="Nimbus Sans"/>
                <a:ea typeface="Nimbus Sans"/>
                <a:cs typeface="Nimbus Sans"/>
              </a:defRPr>
            </a:defPPr>
          </a:lstStyle>
          <a:p xmlns:a="http://schemas.openxmlformats.org/drawingml/2006/main">
            <a:pPr algn="l">
              <a:buNone/>
              <a:defRPr sz="2400" b="1">
                <a:solidFill>
                  <a:srgbClr val="132D46"/>
                </a:solidFill>
                <a:latin typeface="Nimbus Sans"/>
                <a:ea typeface="Nimbus Sans"/>
                <a:cs typeface="Nimbus Sans"/>
              </a:defRPr>
            </a:pPr>
            <a:r>
              <a:rPr sz="2400" b="1">
                <a:solidFill>
                  <a:srgbClr val="132D46"/>
                </a:solidFill>
                <a:latin typeface="Nimbus Sans"/>
                <a:ea typeface="Nimbus Sans"/>
                <a:cs typeface="Nimbus Sans"/>
              </a:rPr>
              <a:t>ETH received</a:t>
            </a:r>
          </a:p>
          <a:p xmlns:a="http://schemas.openxmlformats.org/drawingml/2006/main">
            <a:pPr algn="l">
              <a:buNone/>
              <a:defRPr sz="2400" b="1">
                <a:solidFill>
                  <a:srgbClr val="132D46"/>
                </a:solidFill>
                <a:latin typeface="Nimbus Sans"/>
                <a:ea typeface="Nimbus Sans"/>
                <a:cs typeface="Nimbus Sans"/>
              </a:defRPr>
            </a:pPr>
            <a:r>
              <a:rPr sz="2400" b="1">
                <a:solidFill>
                  <a:srgbClr val="132D46"/>
                </a:solidFill>
                <a:latin typeface="Nimbus Sans"/>
                <a:ea typeface="Nimbus Sans"/>
                <a:cs typeface="Nimbus Sans"/>
              </a:rPr>
              <a:t>by the Supplier</a:t>
            </a:r>
          </a:p>
        </p:txBody>
      </p:sp>
      <p:sp>
        <p:nvSpPr>
          <p:cNvPr id="8" name="liquidity-equation">
            <a:extLst xmlns:a="http://schemas.openxmlformats.org/drawingml/2006/main">
              <a:ext uri="{FF2B5EF4-FFF2-40B4-BE49-F238E27FC236}">
                <a16:creationId xmlns:a16="http://schemas.microsoft.com/office/drawing/2014/main" id="{F0C41796-2DB3-414D-8BD6-AFAE90E92E32}"/>
              </a:ext>
            </a:extLst>
          </p:cNvPr>
          <p:cNvSpPr>
            <a:spLocks xmlns:a="http://schemas.openxmlformats.org/drawingml/2006/main" noGrp="1"/>
          </p:cNvSpPr>
          <p:nvPr/>
        </p:nvSpPr>
        <p:spPr>
          <a:xfrm xmlns:a="http://schemas.openxmlformats.org/drawingml/2006/main">
            <a:off x="619125" y="452437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86D96"/>
                </a:solidFill>
                <a:latin typeface="Nimbus Sans"/>
                <a:ea typeface="Nimbus Sans"/>
                <a:cs typeface="Nimbus Sans"/>
              </a:defRPr>
            </a:defPPr>
          </a:lstStyle>
          <a:p xmlns:a="http://schemas.openxmlformats.org/drawingml/2006/main">
            <a:pPr algn="l">
              <a:buNone/>
              <a:defRPr sz="2175" b="0">
                <a:solidFill>
                  <a:srgbClr val="286D96"/>
                </a:solidFill>
                <a:latin typeface="Nimbus Sans"/>
                <a:ea typeface="Nimbus Sans"/>
                <a:cs typeface="Nimbus Sans"/>
              </a:defRPr>
            </a:pPr>
            <a:r>
              <a:rPr sz="2175" b="0">
                <a:solidFill>
                  <a:srgbClr val="286D96"/>
                </a:solidFill>
                <a:latin typeface="Nimbus Sans"/>
                <a:ea typeface="Nimbus Sans"/>
                <a:cs typeface="Nimbus Sans"/>
              </a:rPr>
              <a:t>0.04 − 0.004</a:t>
            </a:r>
          </a:p>
        </p:txBody>
      </p:sp>
      <p:sp>
        <p:nvSpPr>
          <p:cNvPr id="9" name="liquidity-meaning">
            <a:extLst xmlns:a="http://schemas.openxmlformats.org/drawingml/2006/main">
              <a:ext uri="{FF2B5EF4-FFF2-40B4-BE49-F238E27FC236}">
                <a16:creationId xmlns:a16="http://schemas.microsoft.com/office/drawing/2014/main" id="{5B0D54FA-96D7-4ACC-A9C1-B7D68856C214}"/>
              </a:ext>
            </a:extLst>
          </p:cNvPr>
          <p:cNvSpPr>
            <a:spLocks xmlns:a="http://schemas.openxmlformats.org/drawingml/2006/main" noGrp="1"/>
          </p:cNvSpPr>
          <p:nvPr/>
        </p:nvSpPr>
        <p:spPr>
          <a:xfrm xmlns:a="http://schemas.openxmlformats.org/drawingml/2006/main">
            <a:off x="619125" y="5124450"/>
            <a:ext cx="35337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7784"/>
                </a:solidFill>
                <a:latin typeface="Nimbus Sans"/>
                <a:ea typeface="Nimbus Sans"/>
                <a:cs typeface="Nimbus Sans"/>
              </a:defRPr>
            </a:defPPr>
          </a:lstStyle>
          <a:p xmlns:a="http://schemas.openxmlformats.org/drawingml/2006/main">
            <a:pPr algn="l">
              <a:buNone/>
              <a:defRPr sz="1725" b="0">
                <a:solidFill>
                  <a:srgbClr val="667784"/>
                </a:solidFill>
                <a:latin typeface="Nimbus Sans"/>
                <a:ea typeface="Nimbus Sans"/>
                <a:cs typeface="Nimbus Sans"/>
              </a:defRPr>
            </a:pPr>
            <a:r>
              <a:rPr sz="1725" b="0">
                <a:solidFill>
                  <a:srgbClr val="667784"/>
                </a:solidFill>
                <a:latin typeface="Nimbus Sans"/>
                <a:ea typeface="Nimbus Sans"/>
                <a:cs typeface="Nimbus Sans"/>
              </a:rPr>
              <a:t>72% of this invoice’s value</a:t>
            </a:r>
          </a:p>
        </p:txBody>
      </p:sp>
      <p:graphicFrame>
        <p:nvGraphicFramePr>
          <p:cNvPr id="10" name="Chart">
            <a:extLst xmlns:a="http://schemas.openxmlformats.org/drawingml/2006/main">
              <a:ext uri="{FF2B5EF4-FFF2-40B4-BE49-F238E27FC236}">
                <a16:creationId xmlns:a16="http://schemas.microsoft.com/office/drawing/2014/main" id="{E0A67118-7C74-4A5A-8F85-238E359C7F23}"/>
              </a:ext>
            </a:extLst>
          </p:cNvPr>
          <p:cNvGraphicFramePr/>
          <p:nvPr/>
        </p:nvGraphicFramePr>
        <p:xfrm>
          <a:off xmlns:a="http://schemas.openxmlformats.org/drawingml/2006/main" x="4410075" y="1562100"/>
          <a:ext xmlns:a="http://schemas.openxmlformats.org/drawingml/2006/main" cx="7134225" cy="3552825"/>
        </p:xfrm>
        <a:graphic xmlns:a="http://schemas.openxmlformats.org/drawingml/2006/main">
          <a:graphicData uri="http://schemas.openxmlformats.org/drawingml/2006/chart">
            <c:chart xmlns:r="http://schemas.openxmlformats.org/officeDocument/2006/relationships" xmlns:c="http://schemas.openxmlformats.org/drawingml/2006/chart" r:id="R42a522f80e724dfb"/>
          </a:graphicData>
        </a:graphic>
      </p:graphicFrame>
      <p:sp>
        <p:nvSpPr>
          <p:cNvPr id="11" name="holdback-rule">
            <a:extLst xmlns:a="http://schemas.openxmlformats.org/drawingml/2006/main">
              <a:ext uri="{FF2B5EF4-FFF2-40B4-BE49-F238E27FC236}">
                <a16:creationId xmlns:a16="http://schemas.microsoft.com/office/drawing/2014/main" id="{079B96FD-752B-4545-AAF5-E3E036ACC4A0}"/>
              </a:ext>
            </a:extLst>
          </p:cNvPr>
          <p:cNvSpPr>
            <a:spLocks xmlns:a="http://schemas.openxmlformats.org/drawingml/2006/main" noGrp="1"/>
          </p:cNvSpPr>
          <p:nvPr/>
        </p:nvSpPr>
        <p:spPr>
          <a:xfrm xmlns:a="http://schemas.openxmlformats.org/drawingml/2006/main">
            <a:off x="4686300" y="5324475"/>
            <a:ext cx="6877050"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12" name="holdback-amount">
            <a:extLst xmlns:a="http://schemas.openxmlformats.org/drawingml/2006/main">
              <a:ext uri="{FF2B5EF4-FFF2-40B4-BE49-F238E27FC236}">
                <a16:creationId xmlns:a16="http://schemas.microsoft.com/office/drawing/2014/main" id="{BD296947-3F2A-4367-8CD6-926CD69EDB22}"/>
              </a:ext>
            </a:extLst>
          </p:cNvPr>
          <p:cNvSpPr>
            <a:spLocks xmlns:a="http://schemas.openxmlformats.org/drawingml/2006/main" noGrp="1"/>
          </p:cNvSpPr>
          <p:nvPr/>
        </p:nvSpPr>
        <p:spPr>
          <a:xfrm xmlns:a="http://schemas.openxmlformats.org/drawingml/2006/main">
            <a:off x="4686300" y="5495925"/>
            <a:ext cx="2143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86D96"/>
                </a:solidFill>
                <a:latin typeface="Nimbus Sans"/>
                <a:ea typeface="Nimbus Sans"/>
                <a:cs typeface="Nimbus Sans"/>
              </a:defRPr>
            </a:defPPr>
          </a:lstStyle>
          <a:p xmlns:a="http://schemas.openxmlformats.org/drawingml/2006/main">
            <a:pPr algn="l">
              <a:buNone/>
              <a:defRPr sz="2325" b="1">
                <a:solidFill>
                  <a:srgbClr val="286D96"/>
                </a:solidFill>
                <a:latin typeface="Nimbus Sans"/>
                <a:ea typeface="Nimbus Sans"/>
                <a:cs typeface="Nimbus Sans"/>
              </a:defRPr>
            </a:pPr>
            <a:r>
              <a:rPr sz="2325" b="1">
                <a:solidFill>
                  <a:srgbClr val="286D96"/>
                </a:solidFill>
                <a:latin typeface="Nimbus Sans"/>
                <a:ea typeface="Nimbus Sans"/>
                <a:cs typeface="Nimbus Sans"/>
              </a:rPr>
              <a:t>0.004 ETH</a:t>
            </a:r>
          </a:p>
        </p:txBody>
      </p:sp>
      <p:sp>
        <p:nvSpPr>
          <p:cNvPr id="13" name="holdback-description">
            <a:extLst xmlns:a="http://schemas.openxmlformats.org/drawingml/2006/main">
              <a:ext uri="{FF2B5EF4-FFF2-40B4-BE49-F238E27FC236}">
                <a16:creationId xmlns:a16="http://schemas.microsoft.com/office/drawing/2014/main" id="{06C63CA0-35C7-4561-A732-6B693C05BF94}"/>
              </a:ext>
            </a:extLst>
          </p:cNvPr>
          <p:cNvSpPr>
            <a:spLocks xmlns:a="http://schemas.openxmlformats.org/drawingml/2006/main" noGrp="1"/>
          </p:cNvSpPr>
          <p:nvPr/>
        </p:nvSpPr>
        <p:spPr>
          <a:xfrm xmlns:a="http://schemas.openxmlformats.org/drawingml/2006/main">
            <a:off x="6981825" y="5457825"/>
            <a:ext cx="4572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14757"/>
                </a:solidFill>
                <a:latin typeface="Nimbus Sans"/>
                <a:ea typeface="Nimbus Sans"/>
                <a:cs typeface="Nimbus Sans"/>
              </a:defRPr>
            </a:defPPr>
          </a:lstStyle>
          <a:p xmlns:a="http://schemas.openxmlformats.org/drawingml/2006/main">
            <a:pPr algn="l">
              <a:buNone/>
              <a:defRPr sz="1725" b="0">
                <a:solidFill>
                  <a:srgbClr val="314757"/>
                </a:solidFill>
                <a:latin typeface="Nimbus Sans"/>
                <a:ea typeface="Nimbus Sans"/>
                <a:cs typeface="Nimbus Sans"/>
              </a:defRPr>
            </a:pPr>
            <a:r>
              <a:rPr sz="1725" b="0">
                <a:solidFill>
                  <a:srgbClr val="314757"/>
                </a:solidFill>
                <a:latin typeface="Nimbus Sans"/>
                <a:ea typeface="Nimbus Sans"/>
                <a:cs typeface="Nimbus Sans"/>
              </a:rPr>
              <a:t>Holdback = 10% of principal</a:t>
            </a:r>
          </a:p>
          <a:p xmlns:a="http://schemas.openxmlformats.org/drawingml/2006/main">
            <a:pPr algn="l">
              <a:buNone/>
              <a:defRPr sz="1725" b="0">
                <a:solidFill>
                  <a:srgbClr val="314757"/>
                </a:solidFill>
                <a:latin typeface="Nimbus Sans"/>
                <a:ea typeface="Nimbus Sans"/>
                <a:cs typeface="Nimbus Sans"/>
              </a:defRPr>
            </a:pPr>
            <a:r>
              <a:rPr sz="1725" b="0">
                <a:solidFill>
                  <a:srgbClr val="314757"/>
                </a:solidFill>
                <a:latin typeface="Nimbus Sans"/>
                <a:ea typeface="Nimbus Sans"/>
                <a:cs typeface="Nimbus Sans"/>
              </a:rPr>
              <a:t>Retained from the Funder’s funds</a:t>
            </a:r>
          </a:p>
        </p:txBody>
      </p:sp>
      <p:sp>
        <p:nvSpPr>
          <p:cNvPr id="15" name="invoice-demo-id">
            <a:extLst xmlns:a="http://schemas.openxmlformats.org/drawingml/2006/main">
              <a:ext uri="{FF2B5EF4-FFF2-40B4-BE49-F238E27FC236}">
                <a16:creationId xmlns:a16="http://schemas.microsoft.com/office/drawing/2014/main" id="{2BC51F3F-E783-4428-8900-7620F2CA5C76}"/>
              </a:ext>
            </a:extLst>
          </p:cNvPr>
          <p:cNvSpPr>
            <a:spLocks xmlns:a="http://schemas.openxmlformats.org/drawingml/2006/main" noGrp="1"/>
          </p:cNvSpPr>
          <p:nvPr/>
        </p:nvSpPr>
        <p:spPr>
          <a:xfrm xmlns:a="http://schemas.openxmlformats.org/drawingml/2006/main">
            <a:off x="619125" y="1428750"/>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86D96"/>
                </a:solidFill>
                <a:latin typeface="Nimbus Sans"/>
                <a:ea typeface="Nimbus Sans"/>
                <a:cs typeface="Nimbus Sans"/>
              </a:defRPr>
            </a:defPPr>
          </a:lstStyle>
          <a:p xmlns:a="http://schemas.openxmlformats.org/drawingml/2006/main">
            <a:pPr algn="l">
              <a:buNone/>
              <a:defRPr sz="1725" b="1">
                <a:solidFill>
                  <a:srgbClr val="286D96"/>
                </a:solidFill>
                <a:latin typeface="Nimbus Sans"/>
                <a:ea typeface="Nimbus Sans"/>
                <a:cs typeface="Nimbus Sans"/>
              </a:defRPr>
            </a:pPr>
            <a:r>
              <a:rPr sz="1725" b="1">
                <a:solidFill>
                  <a:srgbClr val="286D96"/>
                </a:solidFill>
                <a:latin typeface="Nimbus Sans"/>
                <a:ea typeface="Nimbus Sans"/>
                <a:cs typeface="Nimbus Sans"/>
              </a:rPr>
              <a:t>INV-DEMO-001</a:t>
            </a:r>
          </a:p>
        </p:txBody>
      </p:sp>
    </p:spTree>
    <p:extLst>
      <p:ext uri="{BB962C8B-B14F-4D97-AF65-F5344CB8AC3E}">
        <p14:creationId xmlns:p14="http://schemas.microsoft.com/office/powerpoint/2010/main" val="257558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8" name="">
            <a:extLst xmlns:a="http://schemas.openxmlformats.org/drawingml/2006/main">
              <a:ext uri="{FF2B5EF4-FFF2-40B4-BE49-F238E27FC236}">
                <a16:creationId xmlns:a16="http://schemas.microsoft.com/office/drawing/2014/main" id="{A5724E7F-61F4-4B13-9A30-FB82005A9B6D}"/>
              </a:ext>
            </a:extLst>
          </p:cNvPr>
          <p:cNvCxnSpPr>
            <a:stCxn xmlns:a="http://schemas.openxmlformats.org/drawingml/2006/main" id="12" idx="2"/>
            <a:endCxn xmlns:a="http://schemas.openxmlformats.org/drawingml/2006/main" id="18" idx="0"/>
          </p:cNvCxnSpPr>
          <p:nvPr/>
        </p:nvCxnSpPr>
        <p:spPr>
          <a:xfrm xmlns:a="http://schemas.openxmlformats.org/drawingml/2006/main">
            <a:off x="6577013" y="3105150"/>
            <a:ext cx="0" cy="361950"/>
          </a:xfrm>
          <a:prstGeom xmlns:a="http://schemas.openxmlformats.org/drawingml/2006/main" prst="straightConnector1">
            <a:avLst/>
          </a:prstGeom>
          <a:ln xmlns:a="http://schemas.openxmlformats.org/drawingml/2006/main" w="19050">
            <a:solidFill>
              <a:srgbClr val="286D96"/>
            </a:solidFill>
            <a:prstDash val="solid"/>
            <a:tailEnd type="triangle" w="sm" len="sm"/>
          </a:ln>
        </p:spPr>
      </p:cxnSp>
      <p:cxnSp>
        <p:nvCxnSpPr>
          <p:cNvPr id="26" name="">
            <a:extLst xmlns:a="http://schemas.openxmlformats.org/drawingml/2006/main">
              <a:ext uri="{FF2B5EF4-FFF2-40B4-BE49-F238E27FC236}">
                <a16:creationId xmlns:a16="http://schemas.microsoft.com/office/drawing/2014/main" id="{704A8F0A-9DBD-41B8-897E-EBCD60AB760E}"/>
              </a:ext>
            </a:extLst>
          </p:cNvPr>
          <p:cNvCxnSpPr>
            <a:stCxn xmlns:a="http://schemas.openxmlformats.org/drawingml/2006/main" id="9" idx="2"/>
            <a:endCxn xmlns:a="http://schemas.openxmlformats.org/drawingml/2006/main" id="15" idx="0"/>
          </p:cNvCxnSpPr>
          <p:nvPr/>
        </p:nvCxnSpPr>
        <p:spPr>
          <a:xfrm xmlns:a="http://schemas.openxmlformats.org/drawingml/2006/main">
            <a:off x="2409825" y="3105150"/>
            <a:ext cx="0" cy="1257300"/>
          </a:xfrm>
          <a:prstGeom xmlns:a="http://schemas.openxmlformats.org/drawingml/2006/main" prst="straightConnector1">
            <a:avLst/>
          </a:prstGeom>
          <a:ln xmlns:a="http://schemas.openxmlformats.org/drawingml/2006/main" w="19050">
            <a:solidFill>
              <a:srgbClr val="286D96"/>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7C4DE97A-B768-457D-948B-6F6A87B95BD3}"/>
              </a:ext>
            </a:extLst>
          </p:cNvPr>
          <p:cNvCxnSpPr>
            <a:stCxn xmlns:a="http://schemas.openxmlformats.org/drawingml/2006/main" id="9" idx="3"/>
            <a:endCxn xmlns:a="http://schemas.openxmlformats.org/drawingml/2006/main" id="12" idx="1"/>
          </p:cNvCxnSpPr>
          <p:nvPr/>
        </p:nvCxnSpPr>
        <p:spPr>
          <a:xfrm xmlns:a="http://schemas.openxmlformats.org/drawingml/2006/main">
            <a:off x="4210050" y="2519363"/>
            <a:ext cx="933450" cy="0"/>
          </a:xfrm>
          <a:prstGeom xmlns:a="http://schemas.openxmlformats.org/drawingml/2006/main" prst="straightConnector1">
            <a:avLst/>
          </a:prstGeom>
          <a:ln xmlns:a="http://schemas.openxmlformats.org/drawingml/2006/main" w="19050">
            <a:solidFill>
              <a:srgbClr val="286D96"/>
            </a:solidFill>
            <a:prstDash val="solid"/>
            <a:tailEnd type="triangle" w="sm" len="sm"/>
          </a:ln>
        </p:spPr>
      </p:cxnSp>
      <p:sp>
        <p:nvSpPr>
          <p:cNvPr id="34" name="title-7">
            <a:extLst xmlns:a="http://schemas.openxmlformats.org/drawingml/2006/main">
              <a:ext uri="{FF2B5EF4-FFF2-40B4-BE49-F238E27FC236}">
                <a16:creationId xmlns:a16="http://schemas.microsoft.com/office/drawing/2014/main" id="{C2B311AD-03D4-4139-B654-0C3C93030A27}"/>
              </a:ext>
            </a:extLst>
          </p:cNvPr>
          <p:cNvSpPr>
            <a:spLocks xmlns:a="http://schemas.openxmlformats.org/drawingml/2006/main" noGrp="1"/>
          </p:cNvSpPr>
          <p:nvPr/>
        </p:nvSpPr>
        <p:spPr>
          <a:xfrm xmlns:a="http://schemas.openxmlformats.org/drawingml/2006/main">
            <a:off x="609600" y="4667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32D46"/>
                </a:solidFill>
                <a:latin typeface="Nimbus Sans"/>
                <a:ea typeface="Nimbus Sans"/>
                <a:cs typeface="Nimbus Sans"/>
              </a:defRPr>
            </a:defPPr>
          </a:lstStyle>
          <a:p xmlns:a="http://schemas.openxmlformats.org/drawingml/2006/main">
            <a:pPr algn="l">
              <a:buNone/>
              <a:defRPr sz="3300" b="1">
                <a:solidFill>
                  <a:srgbClr val="132D46"/>
                </a:solidFill>
                <a:latin typeface="Nimbus Sans"/>
                <a:ea typeface="Nimbus Sans"/>
                <a:cs typeface="Nimbus Sans"/>
              </a:defRPr>
            </a:pPr>
            <a:r>
              <a:rPr sz="3300" b="1">
                <a:solidFill>
                  <a:srgbClr val="132D46"/>
                </a:solidFill>
                <a:latin typeface="Nimbus Sans"/>
                <a:ea typeface="Nimbus Sans"/>
                <a:cs typeface="Nimbus Sans"/>
              </a:rPr>
              <a:t>System architecture</a:t>
            </a:r>
          </a:p>
        </p:txBody>
      </p:sp>
      <p:sp>
        <p:nvSpPr>
          <p:cNvPr id="2" name="footnote-7">
            <a:extLst xmlns:a="http://schemas.openxmlformats.org/drawingml/2006/main">
              <a:ext uri="{FF2B5EF4-FFF2-40B4-BE49-F238E27FC236}">
                <a16:creationId xmlns:a16="http://schemas.microsoft.com/office/drawing/2014/main" id="{C5A63017-1C7C-4046-B88D-A8054D93C936}"/>
              </a:ext>
            </a:extLst>
          </p:cNvPr>
          <p:cNvSpPr>
            <a:spLocks xmlns:a="http://schemas.openxmlformats.org/drawingml/2006/main" noGrp="1"/>
          </p:cNvSpPr>
          <p:nvPr/>
        </p:nvSpPr>
        <p:spPr>
          <a:xfrm xmlns:a="http://schemas.openxmlformats.org/drawingml/2006/main">
            <a:off x="609600" y="61722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67784"/>
                </a:solidFill>
                <a:latin typeface="Nimbus Sans"/>
                <a:ea typeface="Nimbus Sans"/>
                <a:cs typeface="Nimbus Sans"/>
              </a:defRPr>
            </a:defPPr>
          </a:lstStyle>
          <a:p xmlns:a="http://schemas.openxmlformats.org/drawingml/2006/main">
            <a:pPr algn="l">
              <a:buNone/>
              <a:defRPr sz="1350" b="0">
                <a:solidFill>
                  <a:srgbClr val="667784"/>
                </a:solidFill>
                <a:latin typeface="Nimbus Sans"/>
                <a:ea typeface="Nimbus Sans"/>
                <a:cs typeface="Nimbus Sans"/>
              </a:defRPr>
            </a:pPr>
            <a:r>
              <a:rPr sz="1350" b="0">
                <a:solidFill>
                  <a:srgbClr val="667784"/>
                </a:solidFill>
                <a:latin typeface="Nimbus Sans"/>
                <a:ea typeface="Nimbus Sans"/>
                <a:cs typeface="Nimbus Sans"/>
              </a:rPr>
              <a:t>Contracts hold the authoritative business state and funds. SQLite stores application records.</a:t>
            </a:r>
          </a:p>
        </p:txBody>
      </p:sp>
      <p:sp>
        <p:nvSpPr>
          <p:cNvPr id="3" name="footer-rule-7">
            <a:extLst xmlns:a="http://schemas.openxmlformats.org/drawingml/2006/main">
              <a:ext uri="{FF2B5EF4-FFF2-40B4-BE49-F238E27FC236}">
                <a16:creationId xmlns:a16="http://schemas.microsoft.com/office/drawing/2014/main" id="{975438CC-969D-452A-8D1D-5D486E964D8A}"/>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7620">
            <a:solidFill>
              <a:srgbClr val="CBD5DC"/>
            </a:solidFill>
            <a:prstDash val="solid"/>
          </a:ln>
        </p:spPr>
      </p:sp>
      <p:sp>
        <p:nvSpPr>
          <p:cNvPr id="4" name="brand-7">
            <a:extLst xmlns:a="http://schemas.openxmlformats.org/drawingml/2006/main">
              <a:ext uri="{FF2B5EF4-FFF2-40B4-BE49-F238E27FC236}">
                <a16:creationId xmlns:a16="http://schemas.microsoft.com/office/drawing/2014/main" id="{290EB115-01FE-4355-8AAB-0A3C3EBA3CF3}"/>
              </a:ext>
            </a:extLst>
          </p:cNvPr>
          <p:cNvSpPr>
            <a:spLocks xmlns:a="http://schemas.openxmlformats.org/drawingml/2006/main" noGrp="1"/>
          </p:cNvSpPr>
          <p:nvPr/>
        </p:nvSpPr>
        <p:spPr>
          <a:xfrm xmlns:a="http://schemas.openxmlformats.org/drawingml/2006/main">
            <a:off x="609600" y="6591300"/>
            <a:ext cx="5810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67784"/>
                </a:solidFill>
                <a:latin typeface="Nimbus Sans"/>
                <a:ea typeface="Nimbus Sans"/>
                <a:cs typeface="Nimbus Sans"/>
              </a:defRPr>
            </a:defPPr>
          </a:lstStyle>
          <a:p xmlns:a="http://schemas.openxmlformats.org/drawingml/2006/main">
            <a:pPr algn="l">
              <a:buNone/>
              <a:defRPr sz="1125" b="0">
                <a:solidFill>
                  <a:srgbClr val="667784"/>
                </a:solidFill>
                <a:latin typeface="Nimbus Sans"/>
                <a:ea typeface="Nimbus Sans"/>
                <a:cs typeface="Nimbus Sans"/>
              </a:defRPr>
            </a:pPr>
            <a:r>
              <a:rPr sz="1125" b="0">
                <a:solidFill>
                  <a:srgbClr val="667784"/>
                </a:solidFill>
                <a:latin typeface="Nimbus Sans"/>
                <a:ea typeface="Nimbus Sans"/>
                <a:cs typeface="Nimbus Sans"/>
              </a:rPr>
              <a:t>SME Flow</a:t>
            </a:r>
          </a:p>
        </p:txBody>
      </p:sp>
      <p:sp>
        <p:nvSpPr>
          <p:cNvPr id="5" name="folio-7">
            <a:extLst xmlns:a="http://schemas.openxmlformats.org/drawingml/2006/main">
              <a:ext uri="{FF2B5EF4-FFF2-40B4-BE49-F238E27FC236}">
                <a16:creationId xmlns:a16="http://schemas.microsoft.com/office/drawing/2014/main" id="{F7C4653C-F2B1-46C0-BCDF-7FF58268DD2E}"/>
              </a:ext>
            </a:extLst>
          </p:cNvPr>
          <p:cNvSpPr>
            <a:spLocks xmlns:a="http://schemas.openxmlformats.org/drawingml/2006/main" noGrp="1"/>
          </p:cNvSpPr>
          <p:nvPr/>
        </p:nvSpPr>
        <p:spPr>
          <a:xfrm xmlns:a="http://schemas.openxmlformats.org/drawingml/2006/main">
            <a:off x="11163300" y="659130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67784"/>
                </a:solidFill>
                <a:latin typeface="Nimbus Sans"/>
                <a:ea typeface="Nimbus Sans"/>
                <a:cs typeface="Nimbus Sans"/>
              </a:defRPr>
            </a:defPPr>
          </a:lstStyle>
          <a:p xmlns:a="http://schemas.openxmlformats.org/drawingml/2006/main">
            <a:pPr algn="r">
              <a:buNone/>
              <a:defRPr sz="1125" b="0">
                <a:solidFill>
                  <a:srgbClr val="667784"/>
                </a:solidFill>
                <a:latin typeface="Nimbus Sans"/>
                <a:ea typeface="Nimbus Sans"/>
                <a:cs typeface="Nimbus Sans"/>
              </a:defRPr>
            </a:pPr>
            <a:r>
              <a:rPr sz="1125" b="0">
                <a:solidFill>
                  <a:srgbClr val="667784"/>
                </a:solidFill>
                <a:latin typeface="Nimbus Sans"/>
                <a:ea typeface="Nimbus Sans"/>
                <a:cs typeface="Nimbus Sans"/>
              </a:rPr>
              <a:t>05</a:t>
            </a:r>
          </a:p>
        </p:txBody>
      </p:sp>
      <p:sp>
        <p:nvSpPr>
          <p:cNvPr id="6" name="client-zone">
            <a:extLst xmlns:a="http://schemas.openxmlformats.org/drawingml/2006/main">
              <a:ext uri="{FF2B5EF4-FFF2-40B4-BE49-F238E27FC236}">
                <a16:creationId xmlns:a16="http://schemas.microsoft.com/office/drawing/2014/main" id="{B4B86CB3-29E7-41A8-A72D-6D53A59F19B4}"/>
              </a:ext>
            </a:extLst>
          </p:cNvPr>
          <p:cNvSpPr>
            <a:spLocks xmlns:a="http://schemas.openxmlformats.org/drawingml/2006/main" noGrp="1"/>
          </p:cNvSpPr>
          <p:nvPr/>
        </p:nvSpPr>
        <p:spPr>
          <a:xfrm xmlns:a="http://schemas.openxmlformats.org/drawingml/2006/main">
            <a:off x="609600" y="1438275"/>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286D96"/>
                </a:solidFill>
                <a:latin typeface="Nimbus Sans"/>
                <a:ea typeface="Nimbus Sans"/>
                <a:cs typeface="Nimbus Sans"/>
              </a:defRPr>
            </a:defPPr>
          </a:lstStyle>
          <a:p xmlns:a="http://schemas.openxmlformats.org/drawingml/2006/main">
            <a:pPr algn="l">
              <a:buNone/>
              <a:defRPr sz="1350" b="1">
                <a:solidFill>
                  <a:srgbClr val="286D96"/>
                </a:solidFill>
                <a:latin typeface="Nimbus Sans"/>
                <a:ea typeface="Nimbus Sans"/>
                <a:cs typeface="Nimbus Sans"/>
              </a:defRPr>
            </a:pPr>
            <a:r>
              <a:rPr sz="1350" b="1">
                <a:solidFill>
                  <a:srgbClr val="286D96"/>
                </a:solidFill>
                <a:latin typeface="Nimbus Sans"/>
                <a:ea typeface="Nimbus Sans"/>
                <a:cs typeface="Nimbus Sans"/>
              </a:rPr>
              <a:t>APPLICATION AND WALLET</a:t>
            </a:r>
          </a:p>
        </p:txBody>
      </p:sp>
      <p:sp>
        <p:nvSpPr>
          <p:cNvPr id="7" name="offchain-zone">
            <a:extLst xmlns:a="http://schemas.openxmlformats.org/drawingml/2006/main">
              <a:ext uri="{FF2B5EF4-FFF2-40B4-BE49-F238E27FC236}">
                <a16:creationId xmlns:a16="http://schemas.microsoft.com/office/drawing/2014/main" id="{C9F5B0AA-B012-4B40-B801-04EFFCBCF83D}"/>
              </a:ext>
            </a:extLst>
          </p:cNvPr>
          <p:cNvSpPr>
            <a:spLocks xmlns:a="http://schemas.openxmlformats.org/drawingml/2006/main" noGrp="1"/>
          </p:cNvSpPr>
          <p:nvPr/>
        </p:nvSpPr>
        <p:spPr>
          <a:xfrm xmlns:a="http://schemas.openxmlformats.org/drawingml/2006/main">
            <a:off x="5143500" y="1438275"/>
            <a:ext cx="2714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286D96"/>
                </a:solidFill>
                <a:latin typeface="Nimbus Sans"/>
                <a:ea typeface="Nimbus Sans"/>
                <a:cs typeface="Nimbus Sans"/>
              </a:defRPr>
            </a:defPPr>
          </a:lstStyle>
          <a:p xmlns:a="http://schemas.openxmlformats.org/drawingml/2006/main">
            <a:pPr algn="l">
              <a:buNone/>
              <a:defRPr sz="1350" b="1">
                <a:solidFill>
                  <a:srgbClr val="286D96"/>
                </a:solidFill>
                <a:latin typeface="Nimbus Sans"/>
                <a:ea typeface="Nimbus Sans"/>
                <a:cs typeface="Nimbus Sans"/>
              </a:defRPr>
            </a:pPr>
            <a:r>
              <a:rPr sz="1350" b="1">
                <a:solidFill>
                  <a:srgbClr val="286D96"/>
                </a:solidFill>
                <a:latin typeface="Nimbus Sans"/>
                <a:ea typeface="Nimbus Sans"/>
                <a:cs typeface="Nimbus Sans"/>
              </a:rPr>
              <a:t>OFF CHAIN</a:t>
            </a:r>
          </a:p>
        </p:txBody>
      </p:sp>
      <p:sp>
        <p:nvSpPr>
          <p:cNvPr id="8" name="chain-zone">
            <a:extLst xmlns:a="http://schemas.openxmlformats.org/drawingml/2006/main">
              <a:ext uri="{FF2B5EF4-FFF2-40B4-BE49-F238E27FC236}">
                <a16:creationId xmlns:a16="http://schemas.microsoft.com/office/drawing/2014/main" id="{3C589A2E-F7E9-420D-BFDB-84D2DBA59ACE}"/>
              </a:ext>
            </a:extLst>
          </p:cNvPr>
          <p:cNvSpPr>
            <a:spLocks xmlns:a="http://schemas.openxmlformats.org/drawingml/2006/main" noGrp="1"/>
          </p:cNvSpPr>
          <p:nvPr/>
        </p:nvSpPr>
        <p:spPr>
          <a:xfrm xmlns:a="http://schemas.openxmlformats.org/drawingml/2006/main">
            <a:off x="8724900" y="143827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286D96"/>
                </a:solidFill>
                <a:latin typeface="Nimbus Sans"/>
                <a:ea typeface="Nimbus Sans"/>
                <a:cs typeface="Nimbus Sans"/>
              </a:defRPr>
            </a:defPPr>
          </a:lstStyle>
          <a:p xmlns:a="http://schemas.openxmlformats.org/drawingml/2006/main">
            <a:pPr algn="l">
              <a:buNone/>
              <a:defRPr sz="1350" b="1">
                <a:solidFill>
                  <a:srgbClr val="286D96"/>
                </a:solidFill>
                <a:latin typeface="Nimbus Sans"/>
                <a:ea typeface="Nimbus Sans"/>
                <a:cs typeface="Nimbus Sans"/>
              </a:defRPr>
            </a:pPr>
            <a:r>
              <a:rPr sz="1350" b="1">
                <a:solidFill>
                  <a:srgbClr val="286D96"/>
                </a:solidFill>
                <a:latin typeface="Nimbus Sans"/>
                <a:ea typeface="Nimbus Sans"/>
                <a:cs typeface="Nimbus Sans"/>
              </a:rPr>
              <a:t>ON CHAIN</a:t>
            </a:r>
          </a:p>
        </p:txBody>
      </p:sp>
      <p:sp>
        <p:nvSpPr>
          <p:cNvPr id="9" name="web">
            <a:extLst xmlns:a="http://schemas.openxmlformats.org/drawingml/2006/main">
              <a:ext uri="{FF2B5EF4-FFF2-40B4-BE49-F238E27FC236}">
                <a16:creationId xmlns:a16="http://schemas.microsoft.com/office/drawing/2014/main" id="{4AEC1513-CED8-401B-B0B8-B71E57D69E47}"/>
              </a:ext>
            </a:extLst>
          </p:cNvPr>
          <p:cNvSpPr>
            <a:spLocks xmlns:a="http://schemas.openxmlformats.org/drawingml/2006/main" noGrp="1"/>
          </p:cNvSpPr>
          <p:nvPr/>
        </p:nvSpPr>
        <p:spPr>
          <a:xfrm xmlns:a="http://schemas.openxmlformats.org/drawingml/2006/main">
            <a:off x="609600" y="1933575"/>
            <a:ext cx="3600450" cy="1171575"/>
          </a:xfrm>
          <a:prstGeom xmlns:a="http://schemas.openxmlformats.org/drawingml/2006/main" prst="rect">
            <a:avLst/>
          </a:prstGeom>
          <a:solidFill xmlns:a="http://schemas.openxmlformats.org/drawingml/2006/main">
            <a:srgbClr val="EDF2F6"/>
          </a:solidFill>
          <a:ln xmlns:a="http://schemas.openxmlformats.org/drawingml/2006/main" w="0">
            <a:noFill/>
          </a:ln>
        </p:spPr>
      </p:sp>
      <p:sp>
        <p:nvSpPr>
          <p:cNvPr id="10" name="web-title">
            <a:extLst xmlns:a="http://schemas.openxmlformats.org/drawingml/2006/main">
              <a:ext uri="{FF2B5EF4-FFF2-40B4-BE49-F238E27FC236}">
                <a16:creationId xmlns:a16="http://schemas.microsoft.com/office/drawing/2014/main" id="{01597F41-0260-4EC4-8EC6-C7E1D66632AB}"/>
              </a:ext>
            </a:extLst>
          </p:cNvPr>
          <p:cNvSpPr>
            <a:spLocks xmlns:a="http://schemas.openxmlformats.org/drawingml/2006/main" noGrp="1"/>
          </p:cNvSpPr>
          <p:nvPr/>
        </p:nvSpPr>
        <p:spPr>
          <a:xfrm xmlns:a="http://schemas.openxmlformats.org/drawingml/2006/main">
            <a:off x="781050" y="2076450"/>
            <a:ext cx="3257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2D46"/>
                </a:solidFill>
                <a:latin typeface="Nimbus Sans"/>
                <a:ea typeface="Nimbus Sans"/>
                <a:cs typeface="Nimbus Sans"/>
              </a:defRPr>
            </a:defPPr>
          </a:lstStyle>
          <a:p xmlns:a="http://schemas.openxmlformats.org/drawingml/2006/main">
            <a:pPr algn="l">
              <a:buNone/>
              <a:defRPr sz="2175" b="1">
                <a:solidFill>
                  <a:srgbClr val="132D46"/>
                </a:solidFill>
                <a:latin typeface="Nimbus Sans"/>
                <a:ea typeface="Nimbus Sans"/>
                <a:cs typeface="Nimbus Sans"/>
              </a:defRPr>
            </a:pPr>
            <a:r>
              <a:rPr sz="2175" b="1">
                <a:solidFill>
                  <a:srgbClr val="132D46"/>
                </a:solidFill>
                <a:latin typeface="Nimbus Sans"/>
                <a:ea typeface="Nimbus Sans"/>
                <a:cs typeface="Nimbus Sans"/>
              </a:rPr>
              <a:t>React interface</a:t>
            </a:r>
          </a:p>
        </p:txBody>
      </p:sp>
      <p:sp>
        <p:nvSpPr>
          <p:cNvPr id="11" name="web-body">
            <a:extLst xmlns:a="http://schemas.openxmlformats.org/drawingml/2006/main">
              <a:ext uri="{FF2B5EF4-FFF2-40B4-BE49-F238E27FC236}">
                <a16:creationId xmlns:a16="http://schemas.microsoft.com/office/drawing/2014/main" id="{E4327A9F-6395-4B78-9D62-6B1E7119D7C7}"/>
              </a:ext>
            </a:extLst>
          </p:cNvPr>
          <p:cNvSpPr>
            <a:spLocks xmlns:a="http://schemas.openxmlformats.org/drawingml/2006/main" noGrp="1"/>
          </p:cNvSpPr>
          <p:nvPr/>
        </p:nvSpPr>
        <p:spPr>
          <a:xfrm xmlns:a="http://schemas.openxmlformats.org/drawingml/2006/main">
            <a:off x="781050" y="2457450"/>
            <a:ext cx="3257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67784"/>
                </a:solidFill>
                <a:latin typeface="Nimbus Sans"/>
                <a:ea typeface="Nimbus Sans"/>
                <a:cs typeface="Nimbus Sans"/>
              </a:defRPr>
            </a:defPPr>
          </a:lstStyle>
          <a:p xmlns:a="http://schemas.openxmlformats.org/drawingml/2006/main">
            <a:pPr algn="l">
              <a:buNone/>
              <a:defRPr sz="1800" b="0">
                <a:solidFill>
                  <a:srgbClr val="667784"/>
                </a:solidFill>
                <a:latin typeface="Nimbus Sans"/>
                <a:ea typeface="Nimbus Sans"/>
                <a:cs typeface="Nimbus Sans"/>
              </a:defRPr>
            </a:pPr>
            <a:r>
              <a:rPr sz="1800" b="0">
                <a:solidFill>
                  <a:srgbClr val="667784"/>
                </a:solidFill>
                <a:latin typeface="Nimbus Sans"/>
                <a:ea typeface="Nimbus Sans"/>
                <a:cs typeface="Nimbus Sans"/>
              </a:rPr>
              <a:t>Transaction interface</a:t>
            </a:r>
          </a:p>
        </p:txBody>
      </p:sp>
      <p:sp>
        <p:nvSpPr>
          <p:cNvPr id="12" name="api">
            <a:extLst xmlns:a="http://schemas.openxmlformats.org/drawingml/2006/main">
              <a:ext uri="{FF2B5EF4-FFF2-40B4-BE49-F238E27FC236}">
                <a16:creationId xmlns:a16="http://schemas.microsoft.com/office/drawing/2014/main" id="{0638F2A5-4477-4CC0-B08F-DDC714D155E9}"/>
              </a:ext>
            </a:extLst>
          </p:cNvPr>
          <p:cNvSpPr>
            <a:spLocks xmlns:a="http://schemas.openxmlformats.org/drawingml/2006/main" noGrp="1"/>
          </p:cNvSpPr>
          <p:nvPr/>
        </p:nvSpPr>
        <p:spPr>
          <a:xfrm xmlns:a="http://schemas.openxmlformats.org/drawingml/2006/main">
            <a:off x="5143500" y="1933575"/>
            <a:ext cx="2867025" cy="1171575"/>
          </a:xfrm>
          <a:prstGeom xmlns:a="http://schemas.openxmlformats.org/drawingml/2006/main" prst="rect">
            <a:avLst/>
          </a:prstGeom>
          <a:solidFill xmlns:a="http://schemas.openxmlformats.org/drawingml/2006/main">
            <a:srgbClr val="EDF2F6"/>
          </a:solidFill>
          <a:ln xmlns:a="http://schemas.openxmlformats.org/drawingml/2006/main" w="0">
            <a:noFill/>
          </a:ln>
        </p:spPr>
      </p:sp>
      <p:sp>
        <p:nvSpPr>
          <p:cNvPr id="13" name="api-title">
            <a:extLst xmlns:a="http://schemas.openxmlformats.org/drawingml/2006/main">
              <a:ext uri="{FF2B5EF4-FFF2-40B4-BE49-F238E27FC236}">
                <a16:creationId xmlns:a16="http://schemas.microsoft.com/office/drawing/2014/main" id="{6BFB8CDC-7E25-451E-A43F-5435D52F3866}"/>
              </a:ext>
            </a:extLst>
          </p:cNvPr>
          <p:cNvSpPr>
            <a:spLocks xmlns:a="http://schemas.openxmlformats.org/drawingml/2006/main" noGrp="1"/>
          </p:cNvSpPr>
          <p:nvPr/>
        </p:nvSpPr>
        <p:spPr>
          <a:xfrm xmlns:a="http://schemas.openxmlformats.org/drawingml/2006/main">
            <a:off x="5314950" y="2076450"/>
            <a:ext cx="2524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32D46"/>
                </a:solidFill>
                <a:latin typeface="Nimbus Sans"/>
                <a:ea typeface="Nimbus Sans"/>
                <a:cs typeface="Nimbus Sans"/>
              </a:defRPr>
            </a:defPPr>
          </a:lstStyle>
          <a:p xmlns:a="http://schemas.openxmlformats.org/drawingml/2006/main">
            <a:pPr algn="l">
              <a:buNone/>
              <a:defRPr sz="2025" b="1">
                <a:solidFill>
                  <a:srgbClr val="132D46"/>
                </a:solidFill>
                <a:latin typeface="Nimbus Sans"/>
                <a:ea typeface="Nimbus Sans"/>
                <a:cs typeface="Nimbus Sans"/>
              </a:defRPr>
            </a:pPr>
            <a:r>
              <a:rPr sz="2025" b="1">
                <a:solidFill>
                  <a:srgbClr val="132D46"/>
                </a:solidFill>
                <a:latin typeface="Nimbus Sans"/>
                <a:ea typeface="Nimbus Sans"/>
                <a:cs typeface="Nimbus Sans"/>
              </a:rPr>
              <a:t>Flask REST API</a:t>
            </a:r>
          </a:p>
        </p:txBody>
      </p:sp>
      <p:sp>
        <p:nvSpPr>
          <p:cNvPr id="14" name="api-body">
            <a:extLst xmlns:a="http://schemas.openxmlformats.org/drawingml/2006/main">
              <a:ext uri="{FF2B5EF4-FFF2-40B4-BE49-F238E27FC236}">
                <a16:creationId xmlns:a16="http://schemas.microsoft.com/office/drawing/2014/main" id="{28C95106-C4B7-4912-80F7-816B1B488FDD}"/>
              </a:ext>
            </a:extLst>
          </p:cNvPr>
          <p:cNvSpPr>
            <a:spLocks xmlns:a="http://schemas.openxmlformats.org/drawingml/2006/main" noGrp="1"/>
          </p:cNvSpPr>
          <p:nvPr/>
        </p:nvSpPr>
        <p:spPr>
          <a:xfrm xmlns:a="http://schemas.openxmlformats.org/drawingml/2006/main">
            <a:off x="5314950" y="2457450"/>
            <a:ext cx="2524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7784"/>
                </a:solidFill>
                <a:latin typeface="Nimbus Sans"/>
                <a:ea typeface="Nimbus Sans"/>
                <a:cs typeface="Nimbus Sans"/>
              </a:defRPr>
            </a:defPPr>
          </a:lstStyle>
          <a:p xmlns:a="http://schemas.openxmlformats.org/drawingml/2006/main">
            <a:pPr algn="l">
              <a:buNone/>
              <a:defRPr sz="1725" b="0">
                <a:solidFill>
                  <a:srgbClr val="667784"/>
                </a:solidFill>
                <a:latin typeface="Nimbus Sans"/>
                <a:ea typeface="Nimbus Sans"/>
                <a:cs typeface="Nimbus Sans"/>
              </a:defRPr>
            </a:pPr>
            <a:r>
              <a:rPr sz="1725" b="0">
                <a:solidFill>
                  <a:srgbClr val="667784"/>
                </a:solidFill>
                <a:latin typeface="Nimbus Sans"/>
                <a:ea typeface="Nimbus Sans"/>
                <a:cs typeface="Nimbus Sans"/>
              </a:rPr>
              <a:t>Login and invoice metadata</a:t>
            </a:r>
          </a:p>
        </p:txBody>
      </p:sp>
      <p:sp>
        <p:nvSpPr>
          <p:cNvPr id="15" name="wallet">
            <a:extLst xmlns:a="http://schemas.openxmlformats.org/drawingml/2006/main">
              <a:ext uri="{FF2B5EF4-FFF2-40B4-BE49-F238E27FC236}">
                <a16:creationId xmlns:a16="http://schemas.microsoft.com/office/drawing/2014/main" id="{E43209AD-D685-44E8-B6EF-09C92BB3F96E}"/>
              </a:ext>
            </a:extLst>
          </p:cNvPr>
          <p:cNvSpPr>
            <a:spLocks xmlns:a="http://schemas.openxmlformats.org/drawingml/2006/main" noGrp="1"/>
          </p:cNvSpPr>
          <p:nvPr/>
        </p:nvSpPr>
        <p:spPr>
          <a:xfrm xmlns:a="http://schemas.openxmlformats.org/drawingml/2006/main">
            <a:off x="609600" y="4362450"/>
            <a:ext cx="3600450" cy="1143000"/>
          </a:xfrm>
          <a:prstGeom xmlns:a="http://schemas.openxmlformats.org/drawingml/2006/main" prst="rect">
            <a:avLst/>
          </a:prstGeom>
          <a:solidFill xmlns:a="http://schemas.openxmlformats.org/drawingml/2006/main">
            <a:srgbClr val="EDF2F6"/>
          </a:solidFill>
          <a:ln xmlns:a="http://schemas.openxmlformats.org/drawingml/2006/main" w="0">
            <a:noFill/>
          </a:ln>
        </p:spPr>
      </p:sp>
      <p:sp>
        <p:nvSpPr>
          <p:cNvPr id="16" name="wallet-title">
            <a:extLst xmlns:a="http://schemas.openxmlformats.org/drawingml/2006/main">
              <a:ext uri="{FF2B5EF4-FFF2-40B4-BE49-F238E27FC236}">
                <a16:creationId xmlns:a16="http://schemas.microsoft.com/office/drawing/2014/main" id="{385A44D3-D10D-4A19-8516-93FAF3F1D6BD}"/>
              </a:ext>
            </a:extLst>
          </p:cNvPr>
          <p:cNvSpPr>
            <a:spLocks xmlns:a="http://schemas.openxmlformats.org/drawingml/2006/main" noGrp="1"/>
          </p:cNvSpPr>
          <p:nvPr/>
        </p:nvSpPr>
        <p:spPr>
          <a:xfrm xmlns:a="http://schemas.openxmlformats.org/drawingml/2006/main">
            <a:off x="781050" y="4505325"/>
            <a:ext cx="3257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2D46"/>
                </a:solidFill>
                <a:latin typeface="Nimbus Sans"/>
                <a:ea typeface="Nimbus Sans"/>
                <a:cs typeface="Nimbus Sans"/>
              </a:defRPr>
            </a:defPPr>
          </a:lstStyle>
          <a:p xmlns:a="http://schemas.openxmlformats.org/drawingml/2006/main">
            <a:pPr algn="l">
              <a:buNone/>
              <a:defRPr sz="2175" b="1">
                <a:solidFill>
                  <a:srgbClr val="132D46"/>
                </a:solidFill>
                <a:latin typeface="Nimbus Sans"/>
                <a:ea typeface="Nimbus Sans"/>
                <a:cs typeface="Nimbus Sans"/>
              </a:defRPr>
            </a:pPr>
            <a:r>
              <a:rPr sz="2175" b="1">
                <a:solidFill>
                  <a:srgbClr val="132D46"/>
                </a:solidFill>
                <a:latin typeface="Nimbus Sans"/>
                <a:ea typeface="Nimbus Sans"/>
                <a:cs typeface="Nimbus Sans"/>
              </a:rPr>
              <a:t>MetaMask</a:t>
            </a:r>
          </a:p>
        </p:txBody>
      </p:sp>
      <p:sp>
        <p:nvSpPr>
          <p:cNvPr id="17" name="wallet-body">
            <a:extLst xmlns:a="http://schemas.openxmlformats.org/drawingml/2006/main">
              <a:ext uri="{FF2B5EF4-FFF2-40B4-BE49-F238E27FC236}">
                <a16:creationId xmlns:a16="http://schemas.microsoft.com/office/drawing/2014/main" id="{5775C9C4-B913-41C1-9020-F9159EE6C59A}"/>
              </a:ext>
            </a:extLst>
          </p:cNvPr>
          <p:cNvSpPr>
            <a:spLocks xmlns:a="http://schemas.openxmlformats.org/drawingml/2006/main" noGrp="1"/>
          </p:cNvSpPr>
          <p:nvPr/>
        </p:nvSpPr>
        <p:spPr>
          <a:xfrm xmlns:a="http://schemas.openxmlformats.org/drawingml/2006/main">
            <a:off x="781050" y="4886325"/>
            <a:ext cx="32575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67784"/>
                </a:solidFill>
                <a:latin typeface="Nimbus Sans"/>
                <a:ea typeface="Nimbus Sans"/>
                <a:cs typeface="Nimbus Sans"/>
              </a:defRPr>
            </a:defPPr>
          </a:lstStyle>
          <a:p xmlns:a="http://schemas.openxmlformats.org/drawingml/2006/main">
            <a:pPr algn="l">
              <a:buNone/>
              <a:defRPr sz="1650" b="0">
                <a:solidFill>
                  <a:srgbClr val="667784"/>
                </a:solidFill>
                <a:latin typeface="Nimbus Sans"/>
                <a:ea typeface="Nimbus Sans"/>
                <a:cs typeface="Nimbus Sans"/>
              </a:defRPr>
            </a:pPr>
            <a:r>
              <a:rPr sz="1650" b="0">
                <a:solidFill>
                  <a:srgbClr val="667784"/>
                </a:solidFill>
                <a:latin typeface="Nimbus Sans"/>
                <a:ea typeface="Nimbus Sans"/>
                <a:cs typeface="Nimbus Sans"/>
              </a:rPr>
              <a:t>Signatures and transactions</a:t>
            </a:r>
          </a:p>
        </p:txBody>
      </p:sp>
      <p:sp>
        <p:nvSpPr>
          <p:cNvPr id="18" name="database">
            <a:extLst xmlns:a="http://schemas.openxmlformats.org/drawingml/2006/main">
              <a:ext uri="{FF2B5EF4-FFF2-40B4-BE49-F238E27FC236}">
                <a16:creationId xmlns:a16="http://schemas.microsoft.com/office/drawing/2014/main" id="{D7C1BD3E-78B1-4F28-9B9C-64F85ECFCCC7}"/>
              </a:ext>
            </a:extLst>
          </p:cNvPr>
          <p:cNvSpPr>
            <a:spLocks xmlns:a="http://schemas.openxmlformats.org/drawingml/2006/main" noGrp="1"/>
          </p:cNvSpPr>
          <p:nvPr/>
        </p:nvSpPr>
        <p:spPr>
          <a:xfrm xmlns:a="http://schemas.openxmlformats.org/drawingml/2006/main">
            <a:off x="5143500" y="3467100"/>
            <a:ext cx="2867025" cy="1295400"/>
          </a:xfrm>
          <a:prstGeom xmlns:a="http://schemas.openxmlformats.org/drawingml/2006/main" prst="rect">
            <a:avLst/>
          </a:prstGeom>
          <a:solidFill xmlns:a="http://schemas.openxmlformats.org/drawingml/2006/main">
            <a:srgbClr val="EDF2F6"/>
          </a:solidFill>
          <a:ln xmlns:a="http://schemas.openxmlformats.org/drawingml/2006/main" w="0">
            <a:noFill/>
          </a:ln>
        </p:spPr>
      </p:sp>
      <p:sp>
        <p:nvSpPr>
          <p:cNvPr id="19" name="database-title">
            <a:extLst xmlns:a="http://schemas.openxmlformats.org/drawingml/2006/main">
              <a:ext uri="{FF2B5EF4-FFF2-40B4-BE49-F238E27FC236}">
                <a16:creationId xmlns:a16="http://schemas.microsoft.com/office/drawing/2014/main" id="{EE15937B-72F4-4B03-A7A7-2D9705D9501C}"/>
              </a:ext>
            </a:extLst>
          </p:cNvPr>
          <p:cNvSpPr>
            <a:spLocks xmlns:a="http://schemas.openxmlformats.org/drawingml/2006/main" noGrp="1"/>
          </p:cNvSpPr>
          <p:nvPr/>
        </p:nvSpPr>
        <p:spPr>
          <a:xfrm xmlns:a="http://schemas.openxmlformats.org/drawingml/2006/main">
            <a:off x="5314950" y="3609975"/>
            <a:ext cx="2524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32D46"/>
                </a:solidFill>
                <a:latin typeface="Nimbus Sans"/>
                <a:ea typeface="Nimbus Sans"/>
                <a:cs typeface="Nimbus Sans"/>
              </a:defRPr>
            </a:defPPr>
          </a:lstStyle>
          <a:p xmlns:a="http://schemas.openxmlformats.org/drawingml/2006/main">
            <a:pPr algn="l">
              <a:buNone/>
              <a:defRPr sz="2175" b="1">
                <a:solidFill>
                  <a:srgbClr val="132D46"/>
                </a:solidFill>
                <a:latin typeface="Nimbus Sans"/>
                <a:ea typeface="Nimbus Sans"/>
                <a:cs typeface="Nimbus Sans"/>
              </a:defRPr>
            </a:pPr>
            <a:r>
              <a:rPr sz="2175" b="1">
                <a:solidFill>
                  <a:srgbClr val="132D46"/>
                </a:solidFill>
                <a:latin typeface="Nimbus Sans"/>
                <a:ea typeface="Nimbus Sans"/>
                <a:cs typeface="Nimbus Sans"/>
              </a:rPr>
              <a:t>SQLite</a:t>
            </a:r>
          </a:p>
        </p:txBody>
      </p:sp>
      <p:sp>
        <p:nvSpPr>
          <p:cNvPr id="20" name="database-body">
            <a:extLst xmlns:a="http://schemas.openxmlformats.org/drawingml/2006/main">
              <a:ext uri="{FF2B5EF4-FFF2-40B4-BE49-F238E27FC236}">
                <a16:creationId xmlns:a16="http://schemas.microsoft.com/office/drawing/2014/main" id="{86570A45-D351-4C81-9D25-DFDDC524D794}"/>
              </a:ext>
            </a:extLst>
          </p:cNvPr>
          <p:cNvSpPr>
            <a:spLocks xmlns:a="http://schemas.openxmlformats.org/drawingml/2006/main" noGrp="1"/>
          </p:cNvSpPr>
          <p:nvPr/>
        </p:nvSpPr>
        <p:spPr>
          <a:xfrm xmlns:a="http://schemas.openxmlformats.org/drawingml/2006/main">
            <a:off x="5314950" y="3990975"/>
            <a:ext cx="2524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667784"/>
                </a:solidFill>
                <a:latin typeface="Nimbus Sans"/>
                <a:ea typeface="Nimbus Sans"/>
                <a:cs typeface="Nimbus Sans"/>
              </a:defRPr>
            </a:defPPr>
          </a:lstStyle>
          <a:p xmlns:a="http://schemas.openxmlformats.org/drawingml/2006/main">
            <a:pPr algn="l">
              <a:buNone/>
              <a:defRPr sz="1725" b="0">
                <a:solidFill>
                  <a:srgbClr val="667784"/>
                </a:solidFill>
                <a:latin typeface="Nimbus Sans"/>
                <a:ea typeface="Nimbus Sans"/>
                <a:cs typeface="Nimbus Sans"/>
              </a:defRPr>
            </a:pPr>
            <a:r>
              <a:rPr sz="1725" b="0">
                <a:solidFill>
                  <a:srgbClr val="667784"/>
                </a:solidFill>
                <a:latin typeface="Nimbus Sans"/>
                <a:ea typeface="Nimbus Sans"/>
                <a:cs typeface="Nimbus Sans"/>
              </a:rPr>
              <a:t>Sessions, metadata</a:t>
            </a:r>
          </a:p>
          <a:p xmlns:a="http://schemas.openxmlformats.org/drawingml/2006/main">
            <a:pPr algn="l">
              <a:buNone/>
              <a:defRPr sz="1725" b="0">
                <a:solidFill>
                  <a:srgbClr val="667784"/>
                </a:solidFill>
                <a:latin typeface="Nimbus Sans"/>
                <a:ea typeface="Nimbus Sans"/>
                <a:cs typeface="Nimbus Sans"/>
              </a:defRPr>
            </a:pPr>
            <a:r>
              <a:rPr sz="1725" b="0">
                <a:solidFill>
                  <a:srgbClr val="667784"/>
                </a:solidFill>
                <a:latin typeface="Nimbus Sans"/>
                <a:ea typeface="Nimbus Sans"/>
                <a:cs typeface="Nimbus Sans"/>
              </a:rPr>
              <a:t>and transaction records</a:t>
            </a:r>
          </a:p>
        </p:txBody>
      </p:sp>
      <p:sp>
        <p:nvSpPr>
          <p:cNvPr id="21" name="chain">
            <a:extLst xmlns:a="http://schemas.openxmlformats.org/drawingml/2006/main">
              <a:ext uri="{FF2B5EF4-FFF2-40B4-BE49-F238E27FC236}">
                <a16:creationId xmlns:a16="http://schemas.microsoft.com/office/drawing/2014/main" id="{038893F1-683B-4CAF-B891-1C8DC75CE86C}"/>
              </a:ext>
            </a:extLst>
          </p:cNvPr>
          <p:cNvSpPr>
            <a:spLocks xmlns:a="http://schemas.openxmlformats.org/drawingml/2006/main" noGrp="1"/>
          </p:cNvSpPr>
          <p:nvPr/>
        </p:nvSpPr>
        <p:spPr>
          <a:xfrm xmlns:a="http://schemas.openxmlformats.org/drawingml/2006/main">
            <a:off x="8724900" y="1933575"/>
            <a:ext cx="2857500" cy="3571875"/>
          </a:xfrm>
          <a:prstGeom xmlns:a="http://schemas.openxmlformats.org/drawingml/2006/main" prst="rect">
            <a:avLst/>
          </a:prstGeom>
          <a:solidFill xmlns:a="http://schemas.openxmlformats.org/drawingml/2006/main">
            <a:srgbClr val="132D46"/>
          </a:solidFill>
          <a:ln xmlns:a="http://schemas.openxmlformats.org/drawingml/2006/main" w="0">
            <a:noFill/>
          </a:ln>
        </p:spPr>
      </p:sp>
      <p:sp>
        <p:nvSpPr>
          <p:cNvPr id="22" name="chain-title">
            <a:extLst xmlns:a="http://schemas.openxmlformats.org/drawingml/2006/main">
              <a:ext uri="{FF2B5EF4-FFF2-40B4-BE49-F238E27FC236}">
                <a16:creationId xmlns:a16="http://schemas.microsoft.com/office/drawing/2014/main" id="{9C234959-9D39-4394-88B6-413BEE9EC4FB}"/>
              </a:ext>
            </a:extLst>
          </p:cNvPr>
          <p:cNvSpPr>
            <a:spLocks xmlns:a="http://schemas.openxmlformats.org/drawingml/2006/main" noGrp="1"/>
          </p:cNvSpPr>
          <p:nvPr/>
        </p:nvSpPr>
        <p:spPr>
          <a:xfrm xmlns:a="http://schemas.openxmlformats.org/drawingml/2006/main">
            <a:off x="8896350" y="2076450"/>
            <a:ext cx="2514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Nimbus Sans"/>
                <a:ea typeface="Nimbus Sans"/>
                <a:cs typeface="Nimbus Sans"/>
              </a:defRPr>
            </a:defPPr>
          </a:lstStyle>
          <a:p xmlns:a="http://schemas.openxmlformats.org/drawingml/2006/main">
            <a:pPr algn="l">
              <a:buNone/>
              <a:defRPr sz="2550" b="1">
                <a:solidFill>
                  <a:srgbClr val="FFFFFF"/>
                </a:solidFill>
                <a:latin typeface="Nimbus Sans"/>
                <a:ea typeface="Nimbus Sans"/>
                <a:cs typeface="Nimbus Sans"/>
              </a:defRPr>
            </a:pPr>
            <a:r>
              <a:rPr sz="2550" b="1">
                <a:solidFill>
                  <a:srgbClr val="FFFFFF"/>
                </a:solidFill>
                <a:latin typeface="Nimbus Sans"/>
                <a:ea typeface="Nimbus Sans"/>
                <a:cs typeface="Nimbus Sans"/>
              </a:rPr>
              <a:t>Sepolia</a:t>
            </a:r>
          </a:p>
        </p:txBody>
      </p:sp>
      <p:sp>
        <p:nvSpPr>
          <p:cNvPr id="23" name="chain-body">
            <a:extLst xmlns:a="http://schemas.openxmlformats.org/drawingml/2006/main">
              <a:ext uri="{FF2B5EF4-FFF2-40B4-BE49-F238E27FC236}">
                <a16:creationId xmlns:a16="http://schemas.microsoft.com/office/drawing/2014/main" id="{70EE7AA7-290D-4571-93C5-7D26D1274D2A}"/>
              </a:ext>
            </a:extLst>
          </p:cNvPr>
          <p:cNvSpPr>
            <a:spLocks xmlns:a="http://schemas.openxmlformats.org/drawingml/2006/main" noGrp="1"/>
          </p:cNvSpPr>
          <p:nvPr/>
        </p:nvSpPr>
        <p:spPr>
          <a:xfrm xmlns:a="http://schemas.openxmlformats.org/drawingml/2006/main">
            <a:off x="8896350" y="2457450"/>
            <a:ext cx="2514600" cy="2990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8E4ED"/>
                </a:solidFill>
                <a:latin typeface="Nimbus Sans"/>
                <a:ea typeface="Nimbus Sans"/>
                <a:cs typeface="Nimbus Sans"/>
              </a:defRPr>
            </a:defPPr>
          </a:lstStyle>
          <a:p xmlns:a="http://schemas.openxmlformats.org/drawingml/2006/main">
            <a:pPr algn="l">
              <a:buNone/>
              <a:defRPr sz="1800" b="0">
                <a:solidFill>
                  <a:srgbClr val="D8E4ED"/>
                </a:solidFill>
                <a:latin typeface="Nimbus Sans"/>
                <a:ea typeface="Nimbus Sans"/>
                <a:cs typeface="Nimbus Sans"/>
              </a:defRPr>
            </a:pPr>
            <a:r>
              <a:rPr sz="1800" b="0">
                <a:solidFill>
                  <a:srgbClr val="D8E4ED"/>
                </a:solidFill>
                <a:latin typeface="Nimbus Sans"/>
                <a:ea typeface="Nimbus Sans"/>
                <a:cs typeface="Nimbus Sans"/>
              </a:rPr>
              <a:t>5 Solidity contracts</a:t>
            </a:r>
          </a:p>
          <a:p xmlns:a="http://schemas.openxmlformats.org/drawingml/2006/main">
            <a:r>
              <a:t/>
            </a:r>
          </a:p>
          <a:p xmlns:a="http://schemas.openxmlformats.org/drawingml/2006/main">
            <a:pPr algn="l">
              <a:buNone/>
              <a:defRPr sz="1800" b="0">
                <a:solidFill>
                  <a:srgbClr val="D8E4ED"/>
                </a:solidFill>
                <a:latin typeface="Nimbus Sans"/>
                <a:ea typeface="Nimbus Sans"/>
                <a:cs typeface="Nimbus Sans"/>
              </a:defRPr>
            </a:pPr>
            <a:r>
              <a:rPr sz="1800" b="0">
                <a:solidFill>
                  <a:srgbClr val="D8E4ED"/>
                </a:solidFill>
                <a:latin typeface="Nimbus Sans"/>
                <a:ea typeface="Nimbus Sans"/>
                <a:cs typeface="Nimbus Sans"/>
              </a:rPr>
              <a:t>Roles and invoices</a:t>
            </a:r>
          </a:p>
          <a:p xmlns:a="http://schemas.openxmlformats.org/drawingml/2006/main">
            <a:pPr algn="l">
              <a:buNone/>
              <a:defRPr sz="1800" b="0">
                <a:solidFill>
                  <a:srgbClr val="D8E4ED"/>
                </a:solidFill>
                <a:latin typeface="Nimbus Sans"/>
                <a:ea typeface="Nimbus Sans"/>
                <a:cs typeface="Nimbus Sans"/>
              </a:defRPr>
            </a:pPr>
            <a:r>
              <a:rPr sz="1800" b="0">
                <a:solidFill>
                  <a:srgbClr val="D8E4ED"/>
                </a:solidFill>
                <a:latin typeface="Nimbus Sans"/>
                <a:ea typeface="Nimbus Sans"/>
                <a:cs typeface="Nimbus Sans"/>
              </a:rPr>
              <a:t>Financing and payments</a:t>
            </a:r>
          </a:p>
          <a:p xmlns:a="http://schemas.openxmlformats.org/drawingml/2006/main">
            <a:pPr algn="l">
              <a:buNone/>
              <a:defRPr sz="1800" b="0">
                <a:solidFill>
                  <a:srgbClr val="D8E4ED"/>
                </a:solidFill>
                <a:latin typeface="Nimbus Sans"/>
                <a:ea typeface="Nimbus Sans"/>
                <a:cs typeface="Nimbus Sans"/>
              </a:defRPr>
            </a:pPr>
            <a:r>
              <a:rPr sz="1800" b="0">
                <a:solidFill>
                  <a:srgbClr val="D8E4ED"/>
                </a:solidFill>
                <a:latin typeface="Nimbus Sans"/>
                <a:ea typeface="Nimbus Sans"/>
                <a:cs typeface="Nimbus Sans"/>
              </a:rPr>
              <a:t>Disputes and events</a:t>
            </a:r>
          </a:p>
        </p:txBody>
      </p:sp>
      <p:sp>
        <p:nvSpPr>
          <p:cNvPr id="25" name="rest-label">
            <a:extLst xmlns:a="http://schemas.openxmlformats.org/drawingml/2006/main">
              <a:ext uri="{FF2B5EF4-FFF2-40B4-BE49-F238E27FC236}">
                <a16:creationId xmlns:a16="http://schemas.microsoft.com/office/drawing/2014/main" id="{B6A70333-412D-435A-B338-0795AD18C026}"/>
              </a:ext>
            </a:extLst>
          </p:cNvPr>
          <p:cNvSpPr>
            <a:spLocks xmlns:a="http://schemas.openxmlformats.org/drawingml/2006/main" noGrp="1"/>
          </p:cNvSpPr>
          <p:nvPr/>
        </p:nvSpPr>
        <p:spPr>
          <a:xfrm xmlns:a="http://schemas.openxmlformats.org/drawingml/2006/main">
            <a:off x="4314825" y="2181225"/>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0">
                <a:solidFill>
                  <a:srgbClr val="667784"/>
                </a:solidFill>
                <a:latin typeface="Nimbus Sans"/>
                <a:ea typeface="Nimbus Sans"/>
                <a:cs typeface="Nimbus Sans"/>
              </a:defRPr>
            </a:defPPr>
          </a:lstStyle>
          <a:p xmlns:a="http://schemas.openxmlformats.org/drawingml/2006/main">
            <a:pPr algn="ctr">
              <a:buNone/>
              <a:defRPr sz="1425" b="0">
                <a:solidFill>
                  <a:srgbClr val="667784"/>
                </a:solidFill>
                <a:latin typeface="Nimbus Sans"/>
                <a:ea typeface="Nimbus Sans"/>
                <a:cs typeface="Nimbus Sans"/>
              </a:defRPr>
            </a:pPr>
            <a:r>
              <a:rPr sz="1425" b="0">
                <a:solidFill>
                  <a:srgbClr val="667784"/>
                </a:solidFill>
                <a:latin typeface="Nimbus Sans"/>
                <a:ea typeface="Nimbus Sans"/>
                <a:cs typeface="Nimbus Sans"/>
              </a:rPr>
              <a:t>REST</a:t>
            </a:r>
          </a:p>
        </p:txBody>
      </p:sp>
      <p:sp>
        <p:nvSpPr>
          <p:cNvPr id="27" name="wallet-label">
            <a:extLst xmlns:a="http://schemas.openxmlformats.org/drawingml/2006/main">
              <a:ext uri="{FF2B5EF4-FFF2-40B4-BE49-F238E27FC236}">
                <a16:creationId xmlns:a16="http://schemas.microsoft.com/office/drawing/2014/main" id="{8BDCA6D2-D86D-41D9-A56F-F62C85FABB15}"/>
              </a:ext>
            </a:extLst>
          </p:cNvPr>
          <p:cNvSpPr>
            <a:spLocks xmlns:a="http://schemas.openxmlformats.org/drawingml/2006/main" noGrp="1"/>
          </p:cNvSpPr>
          <p:nvPr/>
        </p:nvSpPr>
        <p:spPr>
          <a:xfrm xmlns:a="http://schemas.openxmlformats.org/drawingml/2006/main">
            <a:off x="819150" y="3590925"/>
            <a:ext cx="22193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67784"/>
                </a:solidFill>
                <a:latin typeface="Nimbus Sans"/>
                <a:ea typeface="Nimbus Sans"/>
                <a:cs typeface="Nimbus Sans"/>
              </a:defRPr>
            </a:defPPr>
          </a:lstStyle>
          <a:p xmlns:a="http://schemas.openxmlformats.org/drawingml/2006/main">
            <a:pPr algn="l">
              <a:buNone/>
              <a:defRPr sz="1575" b="0">
                <a:solidFill>
                  <a:srgbClr val="667784"/>
                </a:solidFill>
                <a:latin typeface="Nimbus Sans"/>
                <a:ea typeface="Nimbus Sans"/>
                <a:cs typeface="Nimbus Sans"/>
              </a:defRPr>
            </a:pPr>
            <a:r>
              <a:rPr sz="1575" b="0">
                <a:solidFill>
                  <a:srgbClr val="667784"/>
                </a:solidFill>
                <a:latin typeface="Nimbus Sans"/>
                <a:ea typeface="Nimbus Sans"/>
                <a:cs typeface="Nimbus Sans"/>
              </a:rPr>
              <a:t>Wallet requests</a:t>
            </a:r>
          </a:p>
        </p:txBody>
      </p:sp>
      <p:cxnSp>
        <p:nvCxnSpPr>
          <p:cNvPr id="31" name="signed-tx">
            <a:extLst xmlns:a="http://schemas.openxmlformats.org/drawingml/2006/main">
              <a:ext uri="{FF2B5EF4-FFF2-40B4-BE49-F238E27FC236}">
                <a16:creationId xmlns:a16="http://schemas.microsoft.com/office/drawing/2014/main" id="{55907D7D-67A3-401E-8D1F-DC27B8677EFF}"/>
              </a:ext>
            </a:extLst>
          </p:cNvPr>
          <p:cNvCxnSpPr/>
          <p:nvPr/>
        </p:nvCxnSpPr>
        <p:spPr>
          <a:xfrm xmlns:a="http://schemas.openxmlformats.org/drawingml/2006/main">
            <a:off x="4210050" y="5219700"/>
            <a:ext cx="4514850" cy="0"/>
          </a:xfrm>
          <a:prstGeom xmlns:a="http://schemas.openxmlformats.org/drawingml/2006/main" prst="straightConnector1">
            <a:avLst/>
          </a:prstGeom>
          <a:ln xmlns:a="http://schemas.openxmlformats.org/drawingml/2006/main" w="19050">
            <a:solidFill>
              <a:srgbClr val="286D96"/>
            </a:solidFill>
            <a:prstDash val="solid"/>
            <a:tailEnd type="triangle" w="sm" len="sm"/>
          </a:ln>
        </p:spPr>
      </p:cxnSp>
      <p:sp>
        <p:nvSpPr>
          <p:cNvPr id="32" name="signed-tx-label">
            <a:extLst xmlns:a="http://schemas.openxmlformats.org/drawingml/2006/main">
              <a:ext uri="{FF2B5EF4-FFF2-40B4-BE49-F238E27FC236}">
                <a16:creationId xmlns:a16="http://schemas.microsoft.com/office/drawing/2014/main" id="{1BAA3180-529C-4921-AF31-F78D67E6414D}"/>
              </a:ext>
            </a:extLst>
          </p:cNvPr>
          <p:cNvSpPr>
            <a:spLocks xmlns:a="http://schemas.openxmlformats.org/drawingml/2006/main" noGrp="1"/>
          </p:cNvSpPr>
          <p:nvPr/>
        </p:nvSpPr>
        <p:spPr>
          <a:xfrm xmlns:a="http://schemas.openxmlformats.org/drawingml/2006/main">
            <a:off x="4829175" y="4867275"/>
            <a:ext cx="38385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286D96"/>
                </a:solidFill>
                <a:latin typeface="Nimbus Sans"/>
                <a:ea typeface="Nimbus Sans"/>
                <a:cs typeface="Nimbus Sans"/>
              </a:defRPr>
            </a:defPPr>
          </a:lstStyle>
          <a:p xmlns:a="http://schemas.openxmlformats.org/drawingml/2006/main">
            <a:pPr algn="l">
              <a:buNone/>
              <a:defRPr sz="1725" b="1">
                <a:solidFill>
                  <a:srgbClr val="286D96"/>
                </a:solidFill>
                <a:latin typeface="Nimbus Sans"/>
                <a:ea typeface="Nimbus Sans"/>
                <a:cs typeface="Nimbus Sans"/>
              </a:defRPr>
            </a:pPr>
            <a:r>
              <a:rPr sz="1725" b="1">
                <a:solidFill>
                  <a:srgbClr val="286D96"/>
                </a:solidFill>
                <a:latin typeface="Nimbus Sans"/>
                <a:ea typeface="Nimbus Sans"/>
                <a:cs typeface="Nimbus Sans"/>
              </a:rPr>
              <a:t>Signed financial transaction</a:t>
            </a:r>
          </a:p>
        </p:txBody>
      </p:sp>
      <p:sp>
        <p:nvSpPr>
          <p:cNvPr id="33" name="direct-reads">
            <a:extLst xmlns:a="http://schemas.openxmlformats.org/drawingml/2006/main">
              <a:ext uri="{FF2B5EF4-FFF2-40B4-BE49-F238E27FC236}">
                <a16:creationId xmlns:a16="http://schemas.microsoft.com/office/drawing/2014/main" id="{292AB192-B030-4CF7-BC91-E897F7A50D1F}"/>
              </a:ext>
            </a:extLst>
          </p:cNvPr>
          <p:cNvSpPr>
            <a:spLocks xmlns:a="http://schemas.openxmlformats.org/drawingml/2006/main" noGrp="1"/>
          </p:cNvSpPr>
          <p:nvPr/>
        </p:nvSpPr>
        <p:spPr>
          <a:xfrm xmlns:a="http://schemas.openxmlformats.org/drawingml/2006/main">
            <a:off x="609600" y="5800725"/>
            <a:ext cx="74199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14757"/>
                </a:solidFill>
                <a:latin typeface="Nimbus Sans"/>
                <a:ea typeface="Nimbus Sans"/>
                <a:cs typeface="Nimbus Sans"/>
              </a:defRPr>
            </a:defPPr>
          </a:lstStyle>
          <a:p xmlns:a="http://schemas.openxmlformats.org/drawingml/2006/main">
            <a:pPr algn="l">
              <a:buNone/>
              <a:defRPr sz="1725" b="0">
                <a:solidFill>
                  <a:srgbClr val="314757"/>
                </a:solidFill>
                <a:latin typeface="Nimbus Sans"/>
                <a:ea typeface="Nimbus Sans"/>
                <a:cs typeface="Nimbus Sans"/>
              </a:defRPr>
            </a:pPr>
            <a:r>
              <a:rPr sz="1725" b="0">
                <a:solidFill>
                  <a:srgbClr val="314757"/>
                </a:solidFill>
                <a:latin typeface="Nimbus Sans"/>
                <a:ea typeface="Nimbus Sans"/>
                <a:cs typeface="Nimbus Sans"/>
              </a:rPr>
              <a:t>The interface also reads contract states and events directly.</a:t>
            </a:r>
          </a:p>
        </p:txBody>
      </p:sp>
    </p:spTree>
    <p:extLst>
      <p:ext uri="{BB962C8B-B14F-4D97-AF65-F5344CB8AC3E}">
        <p14:creationId xmlns:p14="http://schemas.microsoft.com/office/powerpoint/2010/main" val="11804505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itle-6">
            <a:extLst xmlns:a="http://schemas.openxmlformats.org/drawingml/2006/main">
              <a:ext uri="{FF2B5EF4-FFF2-40B4-BE49-F238E27FC236}">
                <a16:creationId xmlns:a16="http://schemas.microsoft.com/office/drawing/2014/main" id="{E6639C94-D854-4A48-A8C0-716BF8C2F35D}"/>
              </a:ext>
            </a:extLst>
          </p:cNvPr>
          <p:cNvSpPr>
            <a:spLocks xmlns:a="http://schemas.openxmlformats.org/drawingml/2006/main" noGrp="1"/>
          </p:cNvSpPr>
          <p:nvPr/>
        </p:nvSpPr>
        <p:spPr>
          <a:xfrm xmlns:a="http://schemas.openxmlformats.org/drawingml/2006/main">
            <a:off x="609600" y="4667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32D46"/>
                </a:solidFill>
                <a:latin typeface="Nimbus Sans"/>
                <a:ea typeface="Nimbus Sans"/>
                <a:cs typeface="Nimbus Sans"/>
              </a:defRPr>
            </a:defPPr>
          </a:lstStyle>
          <a:p xmlns:a="http://schemas.openxmlformats.org/drawingml/2006/main">
            <a:pPr algn="l">
              <a:buNone/>
              <a:defRPr sz="3300" b="1">
                <a:solidFill>
                  <a:srgbClr val="132D46"/>
                </a:solidFill>
                <a:latin typeface="Nimbus Sans"/>
                <a:ea typeface="Nimbus Sans"/>
                <a:cs typeface="Nimbus Sans"/>
              </a:defRPr>
            </a:pPr>
            <a:r>
              <a:rPr sz="3300" b="1">
                <a:solidFill>
                  <a:srgbClr val="132D46"/>
                </a:solidFill>
                <a:latin typeface="Nimbus Sans"/>
                <a:ea typeface="Nimbus Sans"/>
                <a:cs typeface="Nimbus Sans"/>
              </a:rPr>
              <a:t>Repayment during a dispute</a:t>
            </a:r>
          </a:p>
        </p:txBody>
      </p:sp>
      <p:sp>
        <p:nvSpPr>
          <p:cNvPr id="2" name="footnote-6">
            <a:extLst xmlns:a="http://schemas.openxmlformats.org/drawingml/2006/main">
              <a:ext uri="{FF2B5EF4-FFF2-40B4-BE49-F238E27FC236}">
                <a16:creationId xmlns:a16="http://schemas.microsoft.com/office/drawing/2014/main" id="{FA43C44A-ADC0-48C1-9F08-22F583EEE190}"/>
              </a:ext>
            </a:extLst>
          </p:cNvPr>
          <p:cNvSpPr>
            <a:spLocks xmlns:a="http://schemas.openxmlformats.org/drawingml/2006/main" noGrp="1"/>
          </p:cNvSpPr>
          <p:nvPr/>
        </p:nvSpPr>
        <p:spPr>
          <a:xfrm xmlns:a="http://schemas.openxmlformats.org/drawingml/2006/main">
            <a:off x="609600" y="61722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67784"/>
                </a:solidFill>
                <a:latin typeface="Nimbus Sans"/>
                <a:ea typeface="Nimbus Sans"/>
                <a:cs typeface="Nimbus Sans"/>
              </a:defRPr>
            </a:defPPr>
          </a:lstStyle>
          <a:p xmlns:a="http://schemas.openxmlformats.org/drawingml/2006/main">
            <a:pPr algn="l">
              <a:buNone/>
              <a:defRPr sz="1350" b="0">
                <a:solidFill>
                  <a:srgbClr val="667784"/>
                </a:solidFill>
                <a:latin typeface="Nimbus Sans"/>
                <a:ea typeface="Nimbus Sans"/>
                <a:cs typeface="Nimbus Sans"/>
              </a:defRPr>
            </a:pPr>
            <a:r>
              <a:rPr sz="1350" b="0">
                <a:solidFill>
                  <a:srgbClr val="667784"/>
                </a:solidFill>
                <a:latin typeface="Nimbus Sans"/>
                <a:ea typeface="Nimbus Sans"/>
                <a:cs typeface="Nimbus Sans"/>
              </a:rPr>
              <a:t>With full repayment in escrow, RESUME settles the locked allocation in one transaction.</a:t>
            </a:r>
          </a:p>
        </p:txBody>
      </p:sp>
      <p:sp>
        <p:nvSpPr>
          <p:cNvPr id="3" name="footer-rule-6">
            <a:extLst xmlns:a="http://schemas.openxmlformats.org/drawingml/2006/main">
              <a:ext uri="{FF2B5EF4-FFF2-40B4-BE49-F238E27FC236}">
                <a16:creationId xmlns:a16="http://schemas.microsoft.com/office/drawing/2014/main" id="{5E02C912-4F29-4478-9BD2-D3B3007FA158}"/>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7620">
            <a:solidFill>
              <a:srgbClr val="CBD5DC"/>
            </a:solidFill>
            <a:prstDash val="solid"/>
          </a:ln>
        </p:spPr>
      </p:sp>
      <p:sp>
        <p:nvSpPr>
          <p:cNvPr id="4" name="brand-6">
            <a:extLst xmlns:a="http://schemas.openxmlformats.org/drawingml/2006/main">
              <a:ext uri="{FF2B5EF4-FFF2-40B4-BE49-F238E27FC236}">
                <a16:creationId xmlns:a16="http://schemas.microsoft.com/office/drawing/2014/main" id="{D3932EC6-E693-4EB8-9254-976456341116}"/>
              </a:ext>
            </a:extLst>
          </p:cNvPr>
          <p:cNvSpPr>
            <a:spLocks xmlns:a="http://schemas.openxmlformats.org/drawingml/2006/main" noGrp="1"/>
          </p:cNvSpPr>
          <p:nvPr/>
        </p:nvSpPr>
        <p:spPr>
          <a:xfrm xmlns:a="http://schemas.openxmlformats.org/drawingml/2006/main">
            <a:off x="609600" y="6591300"/>
            <a:ext cx="5810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67784"/>
                </a:solidFill>
                <a:latin typeface="Nimbus Sans"/>
                <a:ea typeface="Nimbus Sans"/>
                <a:cs typeface="Nimbus Sans"/>
              </a:defRPr>
            </a:defPPr>
          </a:lstStyle>
          <a:p xmlns:a="http://schemas.openxmlformats.org/drawingml/2006/main">
            <a:pPr algn="l">
              <a:buNone/>
              <a:defRPr sz="1125" b="0">
                <a:solidFill>
                  <a:srgbClr val="667784"/>
                </a:solidFill>
                <a:latin typeface="Nimbus Sans"/>
                <a:ea typeface="Nimbus Sans"/>
                <a:cs typeface="Nimbus Sans"/>
              </a:defRPr>
            </a:pPr>
            <a:r>
              <a:rPr sz="1125" b="0">
                <a:solidFill>
                  <a:srgbClr val="667784"/>
                </a:solidFill>
                <a:latin typeface="Nimbus Sans"/>
                <a:ea typeface="Nimbus Sans"/>
                <a:cs typeface="Nimbus Sans"/>
              </a:rPr>
              <a:t>SME Flow</a:t>
            </a:r>
          </a:p>
        </p:txBody>
      </p:sp>
      <p:sp>
        <p:nvSpPr>
          <p:cNvPr id="5" name="folio-6">
            <a:extLst xmlns:a="http://schemas.openxmlformats.org/drawingml/2006/main">
              <a:ext uri="{FF2B5EF4-FFF2-40B4-BE49-F238E27FC236}">
                <a16:creationId xmlns:a16="http://schemas.microsoft.com/office/drawing/2014/main" id="{A073B5B7-A096-4734-A036-84CFEFBBA909}"/>
              </a:ext>
            </a:extLst>
          </p:cNvPr>
          <p:cNvSpPr>
            <a:spLocks xmlns:a="http://schemas.openxmlformats.org/drawingml/2006/main" noGrp="1"/>
          </p:cNvSpPr>
          <p:nvPr/>
        </p:nvSpPr>
        <p:spPr>
          <a:xfrm xmlns:a="http://schemas.openxmlformats.org/drawingml/2006/main">
            <a:off x="11163300" y="659130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67784"/>
                </a:solidFill>
                <a:latin typeface="Nimbus Sans"/>
                <a:ea typeface="Nimbus Sans"/>
                <a:cs typeface="Nimbus Sans"/>
              </a:defRPr>
            </a:defPPr>
          </a:lstStyle>
          <a:p xmlns:a="http://schemas.openxmlformats.org/drawingml/2006/main">
            <a:pPr algn="r">
              <a:buNone/>
              <a:defRPr sz="1125" b="0">
                <a:solidFill>
                  <a:srgbClr val="667784"/>
                </a:solidFill>
                <a:latin typeface="Nimbus Sans"/>
                <a:ea typeface="Nimbus Sans"/>
                <a:cs typeface="Nimbus Sans"/>
              </a:defRPr>
            </a:pPr>
            <a:r>
              <a:rPr sz="1125" b="0">
                <a:solidFill>
                  <a:srgbClr val="667784"/>
                </a:solidFill>
                <a:latin typeface="Nimbus Sans"/>
                <a:ea typeface="Nimbus Sans"/>
                <a:cs typeface="Nimbus Sans"/>
              </a:rPr>
              <a:t>06</a:t>
            </a:r>
          </a:p>
        </p:txBody>
      </p:sp>
      <p:sp>
        <p:nvSpPr>
          <p:cNvPr id="25" name="disputed-case-intro">
            <a:extLst xmlns:a="http://schemas.openxmlformats.org/drawingml/2006/main">
              <a:ext uri="{FF2B5EF4-FFF2-40B4-BE49-F238E27FC236}">
                <a16:creationId xmlns:a16="http://schemas.microsoft.com/office/drawing/2014/main" id="{E7730B9F-303D-4235-99B6-6DD56AD6E581}"/>
              </a:ext>
            </a:extLst>
          </p:cNvPr>
          <p:cNvSpPr>
            <a:spLocks xmlns:a="http://schemas.openxmlformats.org/drawingml/2006/main" noGrp="1"/>
          </p:cNvSpPr>
          <p:nvPr/>
        </p:nvSpPr>
        <p:spPr>
          <a:xfrm xmlns:a="http://schemas.openxmlformats.org/drawingml/2006/main">
            <a:off x="609600" y="15621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32D46"/>
                </a:solidFill>
                <a:latin typeface="Nimbus Sans"/>
                <a:ea typeface="Nimbus Sans"/>
                <a:cs typeface="Nimbus Sans"/>
              </a:defRPr>
            </a:defPPr>
          </a:lstStyle>
          <a:p xmlns:a="http://schemas.openxmlformats.org/drawingml/2006/main">
            <a:pPr algn="l">
              <a:buNone/>
              <a:defRPr sz="2400" b="0">
                <a:solidFill>
                  <a:srgbClr val="132D46"/>
                </a:solidFill>
                <a:latin typeface="Nimbus Sans"/>
                <a:ea typeface="Nimbus Sans"/>
                <a:cs typeface="Nimbus Sans"/>
              </a:defRPr>
            </a:pPr>
            <a:r>
              <a:rPr sz="2400" b="0">
                <a:solidFill>
                  <a:srgbClr val="132D46"/>
                </a:solidFill>
                <a:latin typeface="Nimbus Sans"/>
                <a:ea typeface="Nimbus Sans"/>
                <a:cs typeface="Nimbus Sans"/>
              </a:rPr>
              <a:t>After funding, the Buyer can repay while a dispute is open.</a:t>
            </a:r>
          </a:p>
        </p:txBody>
      </p:sp>
      <p:sp>
        <p:nvSpPr>
          <p:cNvPr id="26" name="dispute-actor-0">
            <a:extLst xmlns:a="http://schemas.openxmlformats.org/drawingml/2006/main">
              <a:ext uri="{FF2B5EF4-FFF2-40B4-BE49-F238E27FC236}">
                <a16:creationId xmlns:a16="http://schemas.microsoft.com/office/drawing/2014/main" id="{9C1548E5-6D41-4B1C-84ED-D9F63FC9BEA7}"/>
              </a:ext>
            </a:extLst>
          </p:cNvPr>
          <p:cNvSpPr>
            <a:spLocks xmlns:a="http://schemas.openxmlformats.org/drawingml/2006/main" noGrp="1"/>
          </p:cNvSpPr>
          <p:nvPr/>
        </p:nvSpPr>
        <p:spPr>
          <a:xfrm xmlns:a="http://schemas.openxmlformats.org/drawingml/2006/main">
            <a:off x="609600" y="2476500"/>
            <a:ext cx="3276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86D96"/>
                </a:solidFill>
                <a:latin typeface="Nimbus Sans"/>
                <a:ea typeface="Nimbus Sans"/>
                <a:cs typeface="Nimbus Sans"/>
              </a:defRPr>
            </a:defPPr>
          </a:lstStyle>
          <a:p xmlns:a="http://schemas.openxmlformats.org/drawingml/2006/main">
            <a:pPr algn="l">
              <a:buNone/>
              <a:defRPr sz="1650" b="1">
                <a:solidFill>
                  <a:srgbClr val="286D96"/>
                </a:solidFill>
                <a:latin typeface="Nimbus Sans"/>
                <a:ea typeface="Nimbus Sans"/>
                <a:cs typeface="Nimbus Sans"/>
              </a:defRPr>
            </a:pPr>
            <a:r>
              <a:rPr sz="1650" b="1">
                <a:solidFill>
                  <a:srgbClr val="286D96"/>
                </a:solidFill>
                <a:latin typeface="Nimbus Sans"/>
                <a:ea typeface="Nimbus Sans"/>
                <a:cs typeface="Nimbus Sans"/>
              </a:rPr>
              <a:t>PARTICIPANT</a:t>
            </a:r>
          </a:p>
        </p:txBody>
      </p:sp>
      <p:sp>
        <p:nvSpPr>
          <p:cNvPr id="27" name="dispute-action-0">
            <a:extLst xmlns:a="http://schemas.openxmlformats.org/drawingml/2006/main">
              <a:ext uri="{FF2B5EF4-FFF2-40B4-BE49-F238E27FC236}">
                <a16:creationId xmlns:a16="http://schemas.microsoft.com/office/drawing/2014/main" id="{43B27F94-F038-454D-B05D-BC5EAEEB48FE}"/>
              </a:ext>
            </a:extLst>
          </p:cNvPr>
          <p:cNvSpPr>
            <a:spLocks xmlns:a="http://schemas.openxmlformats.org/drawingml/2006/main" noGrp="1"/>
          </p:cNvSpPr>
          <p:nvPr/>
        </p:nvSpPr>
        <p:spPr>
          <a:xfrm xmlns:a="http://schemas.openxmlformats.org/drawingml/2006/main">
            <a:off x="609600" y="3009900"/>
            <a:ext cx="3276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2D46"/>
                </a:solidFill>
                <a:latin typeface="Nimbus Sans"/>
                <a:ea typeface="Nimbus Sans"/>
                <a:cs typeface="Nimbus Sans"/>
              </a:defRPr>
            </a:defPPr>
          </a:lstStyle>
          <a:p xmlns:a="http://schemas.openxmlformats.org/drawingml/2006/main">
            <a:pPr algn="l">
              <a:buNone/>
              <a:defRPr sz="2400" b="1">
                <a:solidFill>
                  <a:srgbClr val="132D46"/>
                </a:solidFill>
                <a:latin typeface="Nimbus Sans"/>
                <a:ea typeface="Nimbus Sans"/>
                <a:cs typeface="Nimbus Sans"/>
              </a:defRPr>
            </a:pPr>
            <a:r>
              <a:rPr sz="2400" b="1">
                <a:solidFill>
                  <a:srgbClr val="132D46"/>
                </a:solidFill>
                <a:latin typeface="Nimbus Sans"/>
                <a:ea typeface="Nimbus Sans"/>
                <a:cs typeface="Nimbus Sans"/>
              </a:rPr>
              <a:t>Open dispute</a:t>
            </a:r>
          </a:p>
        </p:txBody>
      </p:sp>
      <p:sp>
        <p:nvSpPr>
          <p:cNvPr id="28" name="dispute-explanation-0">
            <a:extLst xmlns:a="http://schemas.openxmlformats.org/drawingml/2006/main">
              <a:ext uri="{FF2B5EF4-FFF2-40B4-BE49-F238E27FC236}">
                <a16:creationId xmlns:a16="http://schemas.microsoft.com/office/drawing/2014/main" id="{5AB65E2D-9FFB-4470-8C53-2B09350ABC02}"/>
              </a:ext>
            </a:extLst>
          </p:cNvPr>
          <p:cNvSpPr>
            <a:spLocks xmlns:a="http://schemas.openxmlformats.org/drawingml/2006/main" noGrp="1"/>
          </p:cNvSpPr>
          <p:nvPr/>
        </p:nvSpPr>
        <p:spPr>
          <a:xfrm xmlns:a="http://schemas.openxmlformats.org/drawingml/2006/main">
            <a:off x="609600" y="3724275"/>
            <a:ext cx="3276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14757"/>
                </a:solidFill>
                <a:latin typeface="Nimbus Sans"/>
                <a:ea typeface="Nimbus Sans"/>
                <a:cs typeface="Nimbus Sans"/>
              </a:defRPr>
            </a:defPPr>
          </a:lstStyle>
          <a:p xmlns:a="http://schemas.openxmlformats.org/drawingml/2006/main">
            <a:pPr algn="l">
              <a:buNone/>
              <a:defRPr sz="2025" b="0">
                <a:solidFill>
                  <a:srgbClr val="314757"/>
                </a:solidFill>
                <a:latin typeface="Nimbus Sans"/>
                <a:ea typeface="Nimbus Sans"/>
                <a:cs typeface="Nimbus Sans"/>
              </a:defRPr>
            </a:pPr>
            <a:r>
              <a:rPr sz="2025" b="0">
                <a:solidFill>
                  <a:srgbClr val="314757"/>
                </a:solidFill>
                <a:latin typeface="Nimbus Sans"/>
                <a:ea typeface="Nimbus Sans"/>
                <a:cs typeface="Nimbus Sans"/>
              </a:rPr>
              <a:t>Financing operations</a:t>
            </a:r>
          </a:p>
          <a:p xmlns:a="http://schemas.openxmlformats.org/drawingml/2006/main">
            <a:pPr algn="l">
              <a:buNone/>
              <a:defRPr sz="2025" b="0">
                <a:solidFill>
                  <a:srgbClr val="314757"/>
                </a:solidFill>
                <a:latin typeface="Nimbus Sans"/>
                <a:ea typeface="Nimbus Sans"/>
                <a:cs typeface="Nimbus Sans"/>
              </a:defRPr>
            </a:pPr>
            <a:r>
              <a:rPr sz="2025" b="0">
                <a:solidFill>
                  <a:srgbClr val="314757"/>
                </a:solidFill>
                <a:latin typeface="Nimbus Sans"/>
                <a:ea typeface="Nimbus Sans"/>
                <a:cs typeface="Nimbus Sans"/>
              </a:rPr>
              <a:t>are frozen</a:t>
            </a:r>
          </a:p>
        </p:txBody>
      </p:sp>
      <p:sp>
        <p:nvSpPr>
          <p:cNvPr id="29" name="dispute-state-0">
            <a:extLst xmlns:a="http://schemas.openxmlformats.org/drawingml/2006/main">
              <a:ext uri="{FF2B5EF4-FFF2-40B4-BE49-F238E27FC236}">
                <a16:creationId xmlns:a16="http://schemas.microsoft.com/office/drawing/2014/main" id="{AC99B2FE-CE4E-4804-8664-D4B60ECE93CD}"/>
              </a:ext>
            </a:extLst>
          </p:cNvPr>
          <p:cNvSpPr>
            <a:spLocks xmlns:a="http://schemas.openxmlformats.org/drawingml/2006/main" noGrp="1"/>
          </p:cNvSpPr>
          <p:nvPr/>
        </p:nvSpPr>
        <p:spPr>
          <a:xfrm xmlns:a="http://schemas.openxmlformats.org/drawingml/2006/main">
            <a:off x="609600" y="4905375"/>
            <a:ext cx="32766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6D96"/>
                </a:solidFill>
                <a:latin typeface="Nimbus Sans"/>
                <a:ea typeface="Nimbus Sans"/>
                <a:cs typeface="Nimbus Sans"/>
              </a:defRPr>
            </a:defPPr>
          </a:lstStyle>
          <a:p xmlns:a="http://schemas.openxmlformats.org/drawingml/2006/main">
            <a:pPr algn="l">
              <a:buNone/>
              <a:defRPr sz="1875" b="1">
                <a:solidFill>
                  <a:srgbClr val="286D96"/>
                </a:solidFill>
                <a:latin typeface="Nimbus Sans"/>
                <a:ea typeface="Nimbus Sans"/>
                <a:cs typeface="Nimbus Sans"/>
              </a:defRPr>
            </a:pPr>
            <a:r>
              <a:rPr sz="1875" b="1">
                <a:solidFill>
                  <a:srgbClr val="286D96"/>
                </a:solidFill>
                <a:latin typeface="Nimbus Sans"/>
                <a:ea typeface="Nimbus Sans"/>
                <a:cs typeface="Nimbus Sans"/>
              </a:rPr>
              <a:t>Dispute: Open</a:t>
            </a:r>
          </a:p>
        </p:txBody>
      </p:sp>
      <p:cxnSp>
        <p:nvCxnSpPr>
          <p:cNvPr id="30" name="dispute-sequence-0">
            <a:extLst xmlns:a="http://schemas.openxmlformats.org/drawingml/2006/main">
              <a:ext uri="{FF2B5EF4-FFF2-40B4-BE49-F238E27FC236}">
                <a16:creationId xmlns:a16="http://schemas.microsoft.com/office/drawing/2014/main" id="{DF74D9C8-04ED-41E8-B716-58BA05A3ECCC}"/>
              </a:ext>
            </a:extLst>
          </p:cNvPr>
          <p:cNvCxnSpPr/>
          <p:nvPr/>
        </p:nvCxnSpPr>
        <p:spPr>
          <a:xfrm xmlns:a="http://schemas.openxmlformats.org/drawingml/2006/main">
            <a:off x="2428875" y="2609850"/>
            <a:ext cx="1609725" cy="0"/>
          </a:xfrm>
          <a:prstGeom xmlns:a="http://schemas.openxmlformats.org/drawingml/2006/main" prst="straightConnector1">
            <a:avLst/>
          </a:prstGeom>
          <a:ln xmlns:a="http://schemas.openxmlformats.org/drawingml/2006/main" w="19050">
            <a:solidFill>
              <a:srgbClr val="CBD5DC"/>
            </a:solidFill>
            <a:prstDash val="solid"/>
            <a:tailEnd type="triangle" w="sm" len="sm"/>
          </a:ln>
        </p:spPr>
      </p:cxnSp>
      <p:sp>
        <p:nvSpPr>
          <p:cNvPr id="31" name="dispute-actor-1">
            <a:extLst xmlns:a="http://schemas.openxmlformats.org/drawingml/2006/main">
              <a:ext uri="{FF2B5EF4-FFF2-40B4-BE49-F238E27FC236}">
                <a16:creationId xmlns:a16="http://schemas.microsoft.com/office/drawing/2014/main" id="{430381CA-2310-48E2-9B36-93F86C549C50}"/>
              </a:ext>
            </a:extLst>
          </p:cNvPr>
          <p:cNvSpPr>
            <a:spLocks xmlns:a="http://schemas.openxmlformats.org/drawingml/2006/main" noGrp="1"/>
          </p:cNvSpPr>
          <p:nvPr/>
        </p:nvSpPr>
        <p:spPr>
          <a:xfrm xmlns:a="http://schemas.openxmlformats.org/drawingml/2006/main">
            <a:off x="4267200" y="2476500"/>
            <a:ext cx="3276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86D96"/>
                </a:solidFill>
                <a:latin typeface="Nimbus Sans"/>
                <a:ea typeface="Nimbus Sans"/>
                <a:cs typeface="Nimbus Sans"/>
              </a:defRPr>
            </a:defPPr>
          </a:lstStyle>
          <a:p xmlns:a="http://schemas.openxmlformats.org/drawingml/2006/main">
            <a:pPr algn="l">
              <a:buNone/>
              <a:defRPr sz="1650" b="1">
                <a:solidFill>
                  <a:srgbClr val="286D96"/>
                </a:solidFill>
                <a:latin typeface="Nimbus Sans"/>
                <a:ea typeface="Nimbus Sans"/>
                <a:cs typeface="Nimbus Sans"/>
              </a:defRPr>
            </a:pPr>
            <a:r>
              <a:rPr sz="1650" b="1">
                <a:solidFill>
                  <a:srgbClr val="286D96"/>
                </a:solidFill>
                <a:latin typeface="Nimbus Sans"/>
                <a:ea typeface="Nimbus Sans"/>
                <a:cs typeface="Nimbus Sans"/>
              </a:rPr>
              <a:t>BUYER</a:t>
            </a:r>
          </a:p>
        </p:txBody>
      </p:sp>
      <p:sp>
        <p:nvSpPr>
          <p:cNvPr id="32" name="dispute-action-1">
            <a:extLst xmlns:a="http://schemas.openxmlformats.org/drawingml/2006/main">
              <a:ext uri="{FF2B5EF4-FFF2-40B4-BE49-F238E27FC236}">
                <a16:creationId xmlns:a16="http://schemas.microsoft.com/office/drawing/2014/main" id="{43D30098-3040-4C51-8098-40AAEC3E4B9A}"/>
              </a:ext>
            </a:extLst>
          </p:cNvPr>
          <p:cNvSpPr>
            <a:spLocks xmlns:a="http://schemas.openxmlformats.org/drawingml/2006/main" noGrp="1"/>
          </p:cNvSpPr>
          <p:nvPr/>
        </p:nvSpPr>
        <p:spPr>
          <a:xfrm xmlns:a="http://schemas.openxmlformats.org/drawingml/2006/main">
            <a:off x="4267200" y="3009900"/>
            <a:ext cx="3276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2D46"/>
                </a:solidFill>
                <a:latin typeface="Nimbus Sans"/>
                <a:ea typeface="Nimbus Sans"/>
                <a:cs typeface="Nimbus Sans"/>
              </a:defRPr>
            </a:defPPr>
          </a:lstStyle>
          <a:p xmlns:a="http://schemas.openxmlformats.org/drawingml/2006/main">
            <a:pPr algn="l">
              <a:buNone/>
              <a:defRPr sz="2400" b="1">
                <a:solidFill>
                  <a:srgbClr val="132D46"/>
                </a:solidFill>
                <a:latin typeface="Nimbus Sans"/>
                <a:ea typeface="Nimbus Sans"/>
                <a:cs typeface="Nimbus Sans"/>
              </a:defRPr>
            </a:pPr>
            <a:r>
              <a:rPr sz="2400" b="1">
                <a:solidFill>
                  <a:srgbClr val="132D46"/>
                </a:solidFill>
                <a:latin typeface="Nimbus Sans"/>
                <a:ea typeface="Nimbus Sans"/>
                <a:cs typeface="Nimbus Sans"/>
              </a:rPr>
              <a:t>Deposit repayment</a:t>
            </a:r>
          </a:p>
        </p:txBody>
      </p:sp>
      <p:sp>
        <p:nvSpPr>
          <p:cNvPr id="33" name="dispute-explanation-1">
            <a:extLst xmlns:a="http://schemas.openxmlformats.org/drawingml/2006/main">
              <a:ext uri="{FF2B5EF4-FFF2-40B4-BE49-F238E27FC236}">
                <a16:creationId xmlns:a16="http://schemas.microsoft.com/office/drawing/2014/main" id="{C6BAC500-D470-428D-87A7-D4A7E015882D}"/>
              </a:ext>
            </a:extLst>
          </p:cNvPr>
          <p:cNvSpPr>
            <a:spLocks xmlns:a="http://schemas.openxmlformats.org/drawingml/2006/main" noGrp="1"/>
          </p:cNvSpPr>
          <p:nvPr/>
        </p:nvSpPr>
        <p:spPr>
          <a:xfrm xmlns:a="http://schemas.openxmlformats.org/drawingml/2006/main">
            <a:off x="4267200" y="3724275"/>
            <a:ext cx="3276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14757"/>
                </a:solidFill>
                <a:latin typeface="Nimbus Sans"/>
                <a:ea typeface="Nimbus Sans"/>
                <a:cs typeface="Nimbus Sans"/>
              </a:defRPr>
            </a:defPPr>
          </a:lstStyle>
          <a:p xmlns:a="http://schemas.openxmlformats.org/drawingml/2006/main">
            <a:pPr algn="l">
              <a:buNone/>
              <a:defRPr sz="2025" b="0">
                <a:solidFill>
                  <a:srgbClr val="314757"/>
                </a:solidFill>
                <a:latin typeface="Nimbus Sans"/>
                <a:ea typeface="Nimbus Sans"/>
                <a:cs typeface="Nimbus Sans"/>
              </a:defRPr>
            </a:pPr>
            <a:r>
              <a:rPr sz="2025" b="0">
                <a:solidFill>
                  <a:srgbClr val="314757"/>
                </a:solidFill>
                <a:latin typeface="Nimbus Sans"/>
                <a:ea typeface="Nimbus Sans"/>
                <a:cs typeface="Nimbus Sans"/>
              </a:rPr>
              <a:t>Full face value stays</a:t>
            </a:r>
          </a:p>
          <a:p xmlns:a="http://schemas.openxmlformats.org/drawingml/2006/main">
            <a:pPr algn="l">
              <a:buNone/>
              <a:defRPr sz="2025" b="0">
                <a:solidFill>
                  <a:srgbClr val="314757"/>
                </a:solidFill>
                <a:latin typeface="Nimbus Sans"/>
                <a:ea typeface="Nimbus Sans"/>
                <a:cs typeface="Nimbus Sans"/>
              </a:defRPr>
            </a:pPr>
            <a:r>
              <a:rPr sz="2025" b="0">
                <a:solidFill>
                  <a:srgbClr val="314757"/>
                </a:solidFill>
                <a:latin typeface="Nimbus Sans"/>
                <a:ea typeface="Nimbus Sans"/>
                <a:cs typeface="Nimbus Sans"/>
              </a:rPr>
              <a:t>in escrow</a:t>
            </a:r>
          </a:p>
        </p:txBody>
      </p:sp>
      <p:sp>
        <p:nvSpPr>
          <p:cNvPr id="34" name="dispute-state-1">
            <a:extLst xmlns:a="http://schemas.openxmlformats.org/drawingml/2006/main">
              <a:ext uri="{FF2B5EF4-FFF2-40B4-BE49-F238E27FC236}">
                <a16:creationId xmlns:a16="http://schemas.microsoft.com/office/drawing/2014/main" id="{3432C5ED-C767-4462-99C2-ADDF1F185E65}"/>
              </a:ext>
            </a:extLst>
          </p:cNvPr>
          <p:cNvSpPr>
            <a:spLocks xmlns:a="http://schemas.openxmlformats.org/drawingml/2006/main" noGrp="1"/>
          </p:cNvSpPr>
          <p:nvPr/>
        </p:nvSpPr>
        <p:spPr>
          <a:xfrm xmlns:a="http://schemas.openxmlformats.org/drawingml/2006/main">
            <a:off x="4267200" y="4905375"/>
            <a:ext cx="32766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6D96"/>
                </a:solidFill>
                <a:latin typeface="Nimbus Sans"/>
                <a:ea typeface="Nimbus Sans"/>
                <a:cs typeface="Nimbus Sans"/>
              </a:defRPr>
            </a:defPPr>
          </a:lstStyle>
          <a:p xmlns:a="http://schemas.openxmlformats.org/drawingml/2006/main">
            <a:pPr algn="l">
              <a:buNone/>
              <a:defRPr sz="1875" b="1">
                <a:solidFill>
                  <a:srgbClr val="286D96"/>
                </a:solidFill>
                <a:latin typeface="Nimbus Sans"/>
                <a:ea typeface="Nimbus Sans"/>
                <a:cs typeface="Nimbus Sans"/>
              </a:defRPr>
            </a:pPr>
            <a:r>
              <a:rPr sz="1875" b="1">
                <a:solidFill>
                  <a:srgbClr val="286D96"/>
                </a:solidFill>
                <a:latin typeface="Nimbus Sans"/>
                <a:ea typeface="Nimbus Sans"/>
                <a:cs typeface="Nimbus Sans"/>
              </a:rPr>
              <a:t>Invoice:</a:t>
            </a:r>
          </a:p>
          <a:p xmlns:a="http://schemas.openxmlformats.org/drawingml/2006/main">
            <a:pPr algn="l">
              <a:buNone/>
              <a:defRPr sz="1875" b="1">
                <a:solidFill>
                  <a:srgbClr val="286D96"/>
                </a:solidFill>
                <a:latin typeface="Nimbus Sans"/>
                <a:ea typeface="Nimbus Sans"/>
                <a:cs typeface="Nimbus Sans"/>
              </a:defRPr>
            </a:pPr>
            <a:r>
              <a:rPr sz="1875" b="1">
                <a:solidFill>
                  <a:srgbClr val="286D96"/>
                </a:solidFill>
                <a:latin typeface="Nimbus Sans"/>
                <a:ea typeface="Nimbus Sans"/>
                <a:cs typeface="Nimbus Sans"/>
              </a:rPr>
              <a:t>RepaymentDeposited</a:t>
            </a:r>
          </a:p>
        </p:txBody>
      </p:sp>
      <p:cxnSp>
        <p:nvCxnSpPr>
          <p:cNvPr id="35" name="dispute-sequence-1">
            <a:extLst xmlns:a="http://schemas.openxmlformats.org/drawingml/2006/main">
              <a:ext uri="{FF2B5EF4-FFF2-40B4-BE49-F238E27FC236}">
                <a16:creationId xmlns:a16="http://schemas.microsoft.com/office/drawing/2014/main" id="{DD8AED5F-7F2E-492D-B1BD-61DE61CF1BED}"/>
              </a:ext>
            </a:extLst>
          </p:cNvPr>
          <p:cNvCxnSpPr/>
          <p:nvPr/>
        </p:nvCxnSpPr>
        <p:spPr>
          <a:xfrm xmlns:a="http://schemas.openxmlformats.org/drawingml/2006/main">
            <a:off x="6086475" y="2609850"/>
            <a:ext cx="1609725" cy="0"/>
          </a:xfrm>
          <a:prstGeom xmlns:a="http://schemas.openxmlformats.org/drawingml/2006/main" prst="straightConnector1">
            <a:avLst/>
          </a:prstGeom>
          <a:ln xmlns:a="http://schemas.openxmlformats.org/drawingml/2006/main" w="19050">
            <a:solidFill>
              <a:srgbClr val="CBD5DC"/>
            </a:solidFill>
            <a:prstDash val="solid"/>
            <a:tailEnd type="triangle" w="sm" len="sm"/>
          </a:ln>
        </p:spPr>
      </p:cxnSp>
      <p:sp>
        <p:nvSpPr>
          <p:cNvPr id="36" name="dispute-actor-2">
            <a:extLst xmlns:a="http://schemas.openxmlformats.org/drawingml/2006/main">
              <a:ext uri="{FF2B5EF4-FFF2-40B4-BE49-F238E27FC236}">
                <a16:creationId xmlns:a16="http://schemas.microsoft.com/office/drawing/2014/main" id="{C3E131F8-DCD6-4568-9384-BE1E806DEECE}"/>
              </a:ext>
            </a:extLst>
          </p:cNvPr>
          <p:cNvSpPr>
            <a:spLocks xmlns:a="http://schemas.openxmlformats.org/drawingml/2006/main" noGrp="1"/>
          </p:cNvSpPr>
          <p:nvPr/>
        </p:nvSpPr>
        <p:spPr>
          <a:xfrm xmlns:a="http://schemas.openxmlformats.org/drawingml/2006/main">
            <a:off x="7924800" y="2476500"/>
            <a:ext cx="3276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86D96"/>
                </a:solidFill>
                <a:latin typeface="Nimbus Sans"/>
                <a:ea typeface="Nimbus Sans"/>
                <a:cs typeface="Nimbus Sans"/>
              </a:defRPr>
            </a:defPPr>
          </a:lstStyle>
          <a:p xmlns:a="http://schemas.openxmlformats.org/drawingml/2006/main">
            <a:pPr algn="l">
              <a:buNone/>
              <a:defRPr sz="1650" b="1">
                <a:solidFill>
                  <a:srgbClr val="286D96"/>
                </a:solidFill>
                <a:latin typeface="Nimbus Sans"/>
                <a:ea typeface="Nimbus Sans"/>
                <a:cs typeface="Nimbus Sans"/>
              </a:defRPr>
            </a:pPr>
            <a:r>
              <a:rPr sz="1650" b="1">
                <a:solidFill>
                  <a:srgbClr val="286D96"/>
                </a:solidFill>
                <a:latin typeface="Nimbus Sans"/>
                <a:ea typeface="Nimbus Sans"/>
                <a:cs typeface="Nimbus Sans"/>
              </a:rPr>
              <a:t>ARBITRATOR</a:t>
            </a:r>
          </a:p>
        </p:txBody>
      </p:sp>
      <p:sp>
        <p:nvSpPr>
          <p:cNvPr id="37" name="dispute-action-2">
            <a:extLst xmlns:a="http://schemas.openxmlformats.org/drawingml/2006/main">
              <a:ext uri="{FF2B5EF4-FFF2-40B4-BE49-F238E27FC236}">
                <a16:creationId xmlns:a16="http://schemas.microsoft.com/office/drawing/2014/main" id="{D4FFCDF5-40C2-40DB-A618-B7693CE943D8}"/>
              </a:ext>
            </a:extLst>
          </p:cNvPr>
          <p:cNvSpPr>
            <a:spLocks xmlns:a="http://schemas.openxmlformats.org/drawingml/2006/main" noGrp="1"/>
          </p:cNvSpPr>
          <p:nvPr/>
        </p:nvSpPr>
        <p:spPr>
          <a:xfrm xmlns:a="http://schemas.openxmlformats.org/drawingml/2006/main">
            <a:off x="7924800" y="3009900"/>
            <a:ext cx="3276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32D46"/>
                </a:solidFill>
                <a:latin typeface="Nimbus Sans"/>
                <a:ea typeface="Nimbus Sans"/>
                <a:cs typeface="Nimbus Sans"/>
              </a:defRPr>
            </a:defPPr>
          </a:lstStyle>
          <a:p xmlns:a="http://schemas.openxmlformats.org/drawingml/2006/main">
            <a:pPr algn="l">
              <a:buNone/>
              <a:defRPr sz="2400" b="1">
                <a:solidFill>
                  <a:srgbClr val="132D46"/>
                </a:solidFill>
                <a:latin typeface="Nimbus Sans"/>
                <a:ea typeface="Nimbus Sans"/>
                <a:cs typeface="Nimbus Sans"/>
              </a:defRPr>
            </a:pPr>
            <a:r>
              <a:rPr sz="2400" b="1">
                <a:solidFill>
                  <a:srgbClr val="132D46"/>
                </a:solidFill>
                <a:latin typeface="Nimbus Sans"/>
                <a:ea typeface="Nimbus Sans"/>
                <a:cs typeface="Nimbus Sans"/>
              </a:rPr>
              <a:t>Select RESUME</a:t>
            </a:r>
          </a:p>
        </p:txBody>
      </p:sp>
      <p:sp>
        <p:nvSpPr>
          <p:cNvPr id="38" name="dispute-explanation-2">
            <a:extLst xmlns:a="http://schemas.openxmlformats.org/drawingml/2006/main">
              <a:ext uri="{FF2B5EF4-FFF2-40B4-BE49-F238E27FC236}">
                <a16:creationId xmlns:a16="http://schemas.microsoft.com/office/drawing/2014/main" id="{C3DED3C6-7B49-49FC-92A2-BBC1786D5D9C}"/>
              </a:ext>
            </a:extLst>
          </p:cNvPr>
          <p:cNvSpPr>
            <a:spLocks xmlns:a="http://schemas.openxmlformats.org/drawingml/2006/main" noGrp="1"/>
          </p:cNvSpPr>
          <p:nvPr/>
        </p:nvSpPr>
        <p:spPr>
          <a:xfrm xmlns:a="http://schemas.openxmlformats.org/drawingml/2006/main">
            <a:off x="7924800" y="3724275"/>
            <a:ext cx="3276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314757"/>
                </a:solidFill>
                <a:latin typeface="Nimbus Sans"/>
                <a:ea typeface="Nimbus Sans"/>
                <a:cs typeface="Nimbus Sans"/>
              </a:defRPr>
            </a:defPPr>
          </a:lstStyle>
          <a:p xmlns:a="http://schemas.openxmlformats.org/drawingml/2006/main">
            <a:pPr algn="l">
              <a:buNone/>
              <a:defRPr sz="2025" b="0">
                <a:solidFill>
                  <a:srgbClr val="314757"/>
                </a:solidFill>
                <a:latin typeface="Nimbus Sans"/>
                <a:ea typeface="Nimbus Sans"/>
                <a:cs typeface="Nimbus Sans"/>
              </a:defRPr>
            </a:pPr>
            <a:r>
              <a:rPr sz="2025" b="0">
                <a:solidFill>
                  <a:srgbClr val="314757"/>
                </a:solidFill>
                <a:latin typeface="Nimbus Sans"/>
                <a:ea typeface="Nimbus Sans"/>
                <a:cs typeface="Nimbus Sans"/>
              </a:rPr>
              <a:t>The freeze clears and</a:t>
            </a:r>
          </a:p>
          <a:p xmlns:a="http://schemas.openxmlformats.org/drawingml/2006/main">
            <a:pPr algn="l">
              <a:buNone/>
              <a:defRPr sz="2025" b="0">
                <a:solidFill>
                  <a:srgbClr val="314757"/>
                </a:solidFill>
                <a:latin typeface="Nimbus Sans"/>
                <a:ea typeface="Nimbus Sans"/>
                <a:cs typeface="Nimbus Sans"/>
              </a:defRPr>
            </a:pPr>
            <a:r>
              <a:rPr sz="2025" b="0">
                <a:solidFill>
                  <a:srgbClr val="314757"/>
                </a:solidFill>
                <a:latin typeface="Nimbus Sans"/>
                <a:ea typeface="Nimbus Sans"/>
                <a:cs typeface="Nimbus Sans"/>
              </a:rPr>
              <a:t>locked allocations settle</a:t>
            </a:r>
          </a:p>
        </p:txBody>
      </p:sp>
      <p:sp>
        <p:nvSpPr>
          <p:cNvPr id="39" name="dispute-state-2">
            <a:extLst xmlns:a="http://schemas.openxmlformats.org/drawingml/2006/main">
              <a:ext uri="{FF2B5EF4-FFF2-40B4-BE49-F238E27FC236}">
                <a16:creationId xmlns:a16="http://schemas.microsoft.com/office/drawing/2014/main" id="{12FDAC8D-F3CE-406C-B873-4766BB4AE18B}"/>
              </a:ext>
            </a:extLst>
          </p:cNvPr>
          <p:cNvSpPr>
            <a:spLocks xmlns:a="http://schemas.openxmlformats.org/drawingml/2006/main" noGrp="1"/>
          </p:cNvSpPr>
          <p:nvPr/>
        </p:nvSpPr>
        <p:spPr>
          <a:xfrm xmlns:a="http://schemas.openxmlformats.org/drawingml/2006/main">
            <a:off x="7924800" y="4905375"/>
            <a:ext cx="32766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88746"/>
                </a:solidFill>
                <a:latin typeface="Nimbus Sans"/>
                <a:ea typeface="Nimbus Sans"/>
                <a:cs typeface="Nimbus Sans"/>
              </a:defRPr>
            </a:defPPr>
          </a:lstStyle>
          <a:p xmlns:a="http://schemas.openxmlformats.org/drawingml/2006/main">
            <a:pPr algn="l">
              <a:buNone/>
              <a:defRPr sz="1875" b="1">
                <a:solidFill>
                  <a:srgbClr val="B88746"/>
                </a:solidFill>
                <a:latin typeface="Nimbus Sans"/>
                <a:ea typeface="Nimbus Sans"/>
                <a:cs typeface="Nimbus Sans"/>
              </a:defRPr>
            </a:pPr>
            <a:r>
              <a:rPr sz="1875" b="1">
                <a:solidFill>
                  <a:srgbClr val="B88746"/>
                </a:solidFill>
                <a:latin typeface="Nimbus Sans"/>
                <a:ea typeface="Nimbus Sans"/>
                <a:cs typeface="Nimbus Sans"/>
              </a:rPr>
              <a:t>Invoice: Repaid</a:t>
            </a:r>
          </a:p>
          <a:p xmlns:a="http://schemas.openxmlformats.org/drawingml/2006/main">
            <a:pPr algn="l">
              <a:buNone/>
              <a:defRPr sz="1875" b="1">
                <a:solidFill>
                  <a:srgbClr val="B88746"/>
                </a:solidFill>
                <a:latin typeface="Nimbus Sans"/>
                <a:ea typeface="Nimbus Sans"/>
                <a:cs typeface="Nimbus Sans"/>
              </a:defRPr>
            </a:pPr>
            <a:r>
              <a:rPr sz="1875" b="1">
                <a:solidFill>
                  <a:srgbClr val="B88746"/>
                </a:solidFill>
                <a:latin typeface="Nimbus Sans"/>
                <a:ea typeface="Nimbus Sans"/>
                <a:cs typeface="Nimbus Sans"/>
              </a:rPr>
              <a:t>Financing: Settled</a:t>
            </a:r>
          </a:p>
        </p:txBody>
      </p:sp>
    </p:spTree>
    <p:extLst>
      <p:ext uri="{BB962C8B-B14F-4D97-AF65-F5344CB8AC3E}">
        <p14:creationId xmlns:p14="http://schemas.microsoft.com/office/powerpoint/2010/main" val="13186377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11">
            <a:extLst xmlns:a="http://schemas.openxmlformats.org/drawingml/2006/main">
              <a:ext uri="{FF2B5EF4-FFF2-40B4-BE49-F238E27FC236}">
                <a16:creationId xmlns:a16="http://schemas.microsoft.com/office/drawing/2014/main" id="{573B7CA1-E6AD-4494-8F5E-0BAF2D5CDAAA}"/>
              </a:ext>
            </a:extLst>
          </p:cNvPr>
          <p:cNvSpPr>
            <a:spLocks xmlns:a="http://schemas.openxmlformats.org/drawingml/2006/main" noGrp="1"/>
          </p:cNvSpPr>
          <p:nvPr/>
        </p:nvSpPr>
        <p:spPr>
          <a:xfrm xmlns:a="http://schemas.openxmlformats.org/drawingml/2006/main">
            <a:off x="609600" y="4667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32D46"/>
                </a:solidFill>
                <a:latin typeface="Nimbus Sans"/>
                <a:ea typeface="Nimbus Sans"/>
                <a:cs typeface="Nimbus Sans"/>
              </a:defRPr>
            </a:defPPr>
          </a:lstStyle>
          <a:p xmlns:a="http://schemas.openxmlformats.org/drawingml/2006/main">
            <a:pPr algn="l">
              <a:buNone/>
              <a:defRPr sz="3300" b="1">
                <a:solidFill>
                  <a:srgbClr val="132D46"/>
                </a:solidFill>
                <a:latin typeface="Nimbus Sans"/>
                <a:ea typeface="Nimbus Sans"/>
                <a:cs typeface="Nimbus Sans"/>
              </a:defRPr>
            </a:pPr>
            <a:r>
              <a:rPr sz="3300" b="1">
                <a:solidFill>
                  <a:srgbClr val="132D46"/>
                </a:solidFill>
                <a:latin typeface="Nimbus Sans"/>
                <a:ea typeface="Nimbus Sans"/>
                <a:cs typeface="Nimbus Sans"/>
              </a:rPr>
              <a:t>Demonstration overview</a:t>
            </a:r>
          </a:p>
        </p:txBody>
      </p:sp>
      <p:sp>
        <p:nvSpPr>
          <p:cNvPr id="2" name="footnote-11">
            <a:extLst xmlns:a="http://schemas.openxmlformats.org/drawingml/2006/main">
              <a:ext uri="{FF2B5EF4-FFF2-40B4-BE49-F238E27FC236}">
                <a16:creationId xmlns:a16="http://schemas.microsoft.com/office/drawing/2014/main" id="{4C88E110-1ED0-4BF6-BF80-3FA3FE90D83C}"/>
              </a:ext>
            </a:extLst>
          </p:cNvPr>
          <p:cNvSpPr>
            <a:spLocks xmlns:a="http://schemas.openxmlformats.org/drawingml/2006/main" noGrp="1"/>
          </p:cNvSpPr>
          <p:nvPr/>
        </p:nvSpPr>
        <p:spPr>
          <a:xfrm xmlns:a="http://schemas.openxmlformats.org/drawingml/2006/main">
            <a:off x="609600" y="61722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67784"/>
                </a:solidFill>
                <a:latin typeface="Nimbus Sans"/>
                <a:ea typeface="Nimbus Sans"/>
                <a:cs typeface="Nimbus Sans"/>
              </a:defRPr>
            </a:defPPr>
          </a:lstStyle>
          <a:p xmlns:a="http://schemas.openxmlformats.org/drawingml/2006/main">
            <a:pPr algn="l">
              <a:buNone/>
              <a:defRPr sz="1350" b="0">
                <a:solidFill>
                  <a:srgbClr val="667784"/>
                </a:solidFill>
                <a:latin typeface="Nimbus Sans"/>
                <a:ea typeface="Nimbus Sans"/>
                <a:cs typeface="Nimbus Sans"/>
              </a:defRPr>
            </a:pPr>
            <a:r>
              <a:rPr sz="1350" b="0">
                <a:solidFill>
                  <a:srgbClr val="667784"/>
                </a:solidFill>
                <a:latin typeface="Nimbus Sans"/>
                <a:ea typeface="Nimbus Sans"/>
                <a:cs typeface="Nimbus Sans"/>
              </a:rPr>
              <a:t>Demo: sme.wuziran.fun (Sepolia testnet, test ETH)</a:t>
            </a:r>
          </a:p>
        </p:txBody>
      </p:sp>
      <p:sp>
        <p:nvSpPr>
          <p:cNvPr id="3" name="footer-rule-11">
            <a:extLst xmlns:a="http://schemas.openxmlformats.org/drawingml/2006/main">
              <a:ext uri="{FF2B5EF4-FFF2-40B4-BE49-F238E27FC236}">
                <a16:creationId xmlns:a16="http://schemas.microsoft.com/office/drawing/2014/main" id="{39FD66E3-8E39-4DDE-8228-754A0A3F73A7}"/>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7620">
            <a:solidFill>
              <a:srgbClr val="CBD5DC"/>
            </a:solidFill>
            <a:prstDash val="solid"/>
          </a:ln>
        </p:spPr>
      </p:sp>
      <p:sp>
        <p:nvSpPr>
          <p:cNvPr id="4" name="brand-11">
            <a:extLst xmlns:a="http://schemas.openxmlformats.org/drawingml/2006/main">
              <a:ext uri="{FF2B5EF4-FFF2-40B4-BE49-F238E27FC236}">
                <a16:creationId xmlns:a16="http://schemas.microsoft.com/office/drawing/2014/main" id="{1A1828BD-1AF2-4188-B8DF-A7E56719DEF1}"/>
              </a:ext>
            </a:extLst>
          </p:cNvPr>
          <p:cNvSpPr>
            <a:spLocks xmlns:a="http://schemas.openxmlformats.org/drawingml/2006/main" noGrp="1"/>
          </p:cNvSpPr>
          <p:nvPr/>
        </p:nvSpPr>
        <p:spPr>
          <a:xfrm xmlns:a="http://schemas.openxmlformats.org/drawingml/2006/main">
            <a:off x="609600" y="6591300"/>
            <a:ext cx="5810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67784"/>
                </a:solidFill>
                <a:latin typeface="Nimbus Sans"/>
                <a:ea typeface="Nimbus Sans"/>
                <a:cs typeface="Nimbus Sans"/>
              </a:defRPr>
            </a:defPPr>
          </a:lstStyle>
          <a:p xmlns:a="http://schemas.openxmlformats.org/drawingml/2006/main">
            <a:pPr algn="l">
              <a:buNone/>
              <a:defRPr sz="1125" b="0">
                <a:solidFill>
                  <a:srgbClr val="667784"/>
                </a:solidFill>
                <a:latin typeface="Nimbus Sans"/>
                <a:ea typeface="Nimbus Sans"/>
                <a:cs typeface="Nimbus Sans"/>
              </a:defRPr>
            </a:pPr>
            <a:r>
              <a:rPr sz="1125" b="0">
                <a:solidFill>
                  <a:srgbClr val="667784"/>
                </a:solidFill>
                <a:latin typeface="Nimbus Sans"/>
                <a:ea typeface="Nimbus Sans"/>
                <a:cs typeface="Nimbus Sans"/>
              </a:rPr>
              <a:t>SME Flow</a:t>
            </a:r>
          </a:p>
        </p:txBody>
      </p:sp>
      <p:sp>
        <p:nvSpPr>
          <p:cNvPr id="5" name="folio-11">
            <a:extLst xmlns:a="http://schemas.openxmlformats.org/drawingml/2006/main">
              <a:ext uri="{FF2B5EF4-FFF2-40B4-BE49-F238E27FC236}">
                <a16:creationId xmlns:a16="http://schemas.microsoft.com/office/drawing/2014/main" id="{C540FC3E-B1AB-4F83-A0DF-56A505A51F03}"/>
              </a:ext>
            </a:extLst>
          </p:cNvPr>
          <p:cNvSpPr>
            <a:spLocks xmlns:a="http://schemas.openxmlformats.org/drawingml/2006/main" noGrp="1"/>
          </p:cNvSpPr>
          <p:nvPr/>
        </p:nvSpPr>
        <p:spPr>
          <a:xfrm xmlns:a="http://schemas.openxmlformats.org/drawingml/2006/main">
            <a:off x="11163300" y="659130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67784"/>
                </a:solidFill>
                <a:latin typeface="Nimbus Sans"/>
                <a:ea typeface="Nimbus Sans"/>
                <a:cs typeface="Nimbus Sans"/>
              </a:defRPr>
            </a:defPPr>
          </a:lstStyle>
          <a:p xmlns:a="http://schemas.openxmlformats.org/drawingml/2006/main">
            <a:pPr algn="r">
              <a:buNone/>
              <a:defRPr sz="1125" b="0">
                <a:solidFill>
                  <a:srgbClr val="667784"/>
                </a:solidFill>
                <a:latin typeface="Nimbus Sans"/>
                <a:ea typeface="Nimbus Sans"/>
                <a:cs typeface="Nimbus Sans"/>
              </a:defRPr>
            </a:pPr>
            <a:r>
              <a:rPr sz="1125" b="0">
                <a:solidFill>
                  <a:srgbClr val="667784"/>
                </a:solidFill>
                <a:latin typeface="Nimbus Sans"/>
                <a:ea typeface="Nimbus Sans"/>
                <a:cs typeface="Nimbus Sans"/>
              </a:rPr>
              <a:t>07</a:t>
            </a:r>
          </a:p>
        </p:txBody>
      </p:sp>
      <p:sp>
        <p:nvSpPr>
          <p:cNvPr id="10" name="demo-number-1">
            <a:extLst xmlns:a="http://schemas.openxmlformats.org/drawingml/2006/main">
              <a:ext uri="{FF2B5EF4-FFF2-40B4-BE49-F238E27FC236}">
                <a16:creationId xmlns:a16="http://schemas.microsoft.com/office/drawing/2014/main" id="{65A7A17C-3C77-447E-B326-350CE1BAAED7}"/>
              </a:ext>
            </a:extLst>
          </p:cNvPr>
          <p:cNvSpPr>
            <a:spLocks xmlns:a="http://schemas.openxmlformats.org/drawingml/2006/main" noGrp="1"/>
          </p:cNvSpPr>
          <p:nvPr/>
        </p:nvSpPr>
        <p:spPr>
          <a:xfrm xmlns:a="http://schemas.openxmlformats.org/drawingml/2006/main">
            <a:off x="609600" y="1562100"/>
            <a:ext cx="647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86D96"/>
                </a:solidFill>
                <a:latin typeface="Nimbus Sans"/>
                <a:ea typeface="Nimbus Sans"/>
                <a:cs typeface="Nimbus Sans"/>
              </a:defRPr>
            </a:defPPr>
          </a:lstStyle>
          <a:p xmlns:a="http://schemas.openxmlformats.org/drawingml/2006/main">
            <a:pPr algn="l">
              <a:defRPr sz="2400" b="1">
                <a:solidFill>
                  <a:srgbClr val="286D96"/>
                </a:solidFill>
                <a:latin typeface="Nimbus Sans"/>
                <a:ea typeface="Nimbus Sans"/>
                <a:cs typeface="Nimbus Sans"/>
              </a:defRPr>
            </a:pPr>
            <a:r>
              <a:rPr sz="2400" b="1">
                <a:solidFill>
                  <a:srgbClr val="286D96"/>
                </a:solidFill>
                <a:latin typeface="Nimbus Sans"/>
                <a:ea typeface="Nimbus Sans"/>
                <a:cs typeface="Nimbus Sans"/>
              </a:rPr>
              <a:t>01</a:t>
            </a:r>
          </a:p>
        </p:txBody>
      </p:sp>
      <p:sp>
        <p:nvSpPr>
          <p:cNvPr id="11" name="demo-heading-1">
            <a:extLst xmlns:a="http://schemas.openxmlformats.org/drawingml/2006/main">
              <a:ext uri="{FF2B5EF4-FFF2-40B4-BE49-F238E27FC236}">
                <a16:creationId xmlns:a16="http://schemas.microsoft.com/office/drawing/2014/main" id="{8D2D6920-CA10-4A40-923F-6D481EE3576C}"/>
              </a:ext>
            </a:extLst>
          </p:cNvPr>
          <p:cNvSpPr>
            <a:spLocks xmlns:a="http://schemas.openxmlformats.org/drawingml/2006/main" noGrp="1"/>
          </p:cNvSpPr>
          <p:nvPr/>
        </p:nvSpPr>
        <p:spPr>
          <a:xfrm xmlns:a="http://schemas.openxmlformats.org/drawingml/2006/main">
            <a:off x="1447800" y="1562100"/>
            <a:ext cx="10134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32D46"/>
                </a:solidFill>
                <a:latin typeface="Nimbus Sans"/>
                <a:ea typeface="Nimbus Sans"/>
                <a:cs typeface="Nimbus Sans"/>
              </a:defRPr>
            </a:defPPr>
          </a:lstStyle>
          <a:p xmlns:a="http://schemas.openxmlformats.org/drawingml/2006/main">
            <a:pPr algn="l">
              <a:defRPr sz="2250" b="1">
                <a:solidFill>
                  <a:srgbClr val="132D46"/>
                </a:solidFill>
                <a:latin typeface="Nimbus Sans"/>
                <a:ea typeface="Nimbus Sans"/>
                <a:cs typeface="Nimbus Sans"/>
              </a:defRPr>
            </a:pPr>
            <a:r>
              <a:rPr sz="2250" b="1">
                <a:solidFill>
                  <a:srgbClr val="132D46"/>
                </a:solidFill>
                <a:latin typeface="Nimbus Sans"/>
                <a:ea typeface="Nimbus Sans"/>
                <a:cs typeface="Nimbus Sans"/>
              </a:rPr>
              <a:t>Roles and invoice confirmation</a:t>
            </a:r>
          </a:p>
        </p:txBody>
      </p:sp>
      <p:sp>
        <p:nvSpPr>
          <p:cNvPr id="12" name="demo-body-1">
            <a:extLst xmlns:a="http://schemas.openxmlformats.org/drawingml/2006/main">
              <a:ext uri="{FF2B5EF4-FFF2-40B4-BE49-F238E27FC236}">
                <a16:creationId xmlns:a16="http://schemas.microsoft.com/office/drawing/2014/main" id="{30434F87-87BC-4684-A563-F4FED09BDD89}"/>
              </a:ext>
            </a:extLst>
          </p:cNvPr>
          <p:cNvSpPr>
            <a:spLocks xmlns:a="http://schemas.openxmlformats.org/drawingml/2006/main" noGrp="1"/>
          </p:cNvSpPr>
          <p:nvPr/>
        </p:nvSpPr>
        <p:spPr>
          <a:xfrm xmlns:a="http://schemas.openxmlformats.org/drawingml/2006/main">
            <a:off x="1447800" y="1981200"/>
            <a:ext cx="10134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14757"/>
                </a:solidFill>
                <a:latin typeface="Nimbus Sans"/>
                <a:ea typeface="Nimbus Sans"/>
                <a:cs typeface="Nimbus Sans"/>
              </a:defRPr>
            </a:defPPr>
          </a:lstStyle>
          <a:p xmlns:a="http://schemas.openxmlformats.org/drawingml/2006/main">
            <a:pPr algn="l">
              <a:defRPr sz="1875" b="0">
                <a:solidFill>
                  <a:srgbClr val="314757"/>
                </a:solidFill>
                <a:latin typeface="Nimbus Sans"/>
                <a:ea typeface="Nimbus Sans"/>
                <a:cs typeface="Nimbus Sans"/>
              </a:defRPr>
            </a:pPr>
            <a:r>
              <a:rPr sz="1875" b="0">
                <a:solidFill>
                  <a:srgbClr val="314757"/>
                </a:solidFill>
                <a:latin typeface="Nimbus Sans"/>
                <a:ea typeface="Nimbus Sans"/>
                <a:cs typeface="Nimbus Sans"/>
              </a:rPr>
              <a:t>Role approval, invoice registration and Buyer confirmation</a:t>
            </a:r>
          </a:p>
        </p:txBody>
      </p:sp>
      <p:sp>
        <p:nvSpPr>
          <p:cNvPr id="13" name="demo-number-2">
            <a:extLst xmlns:a="http://schemas.openxmlformats.org/drawingml/2006/main">
              <a:ext uri="{FF2B5EF4-FFF2-40B4-BE49-F238E27FC236}">
                <a16:creationId xmlns:a16="http://schemas.microsoft.com/office/drawing/2014/main" id="{E9311F02-5CCE-47AB-8BCA-66DA51754F61}"/>
              </a:ext>
            </a:extLst>
          </p:cNvPr>
          <p:cNvSpPr>
            <a:spLocks xmlns:a="http://schemas.openxmlformats.org/drawingml/2006/main" noGrp="1"/>
          </p:cNvSpPr>
          <p:nvPr/>
        </p:nvSpPr>
        <p:spPr>
          <a:xfrm xmlns:a="http://schemas.openxmlformats.org/drawingml/2006/main">
            <a:off x="609600" y="2638425"/>
            <a:ext cx="647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86D96"/>
                </a:solidFill>
                <a:latin typeface="Nimbus Sans"/>
                <a:ea typeface="Nimbus Sans"/>
                <a:cs typeface="Nimbus Sans"/>
              </a:defRPr>
            </a:defPPr>
          </a:lstStyle>
          <a:p xmlns:a="http://schemas.openxmlformats.org/drawingml/2006/main">
            <a:pPr algn="l">
              <a:defRPr sz="2400" b="1">
                <a:solidFill>
                  <a:srgbClr val="286D96"/>
                </a:solidFill>
                <a:latin typeface="Nimbus Sans"/>
                <a:ea typeface="Nimbus Sans"/>
                <a:cs typeface="Nimbus Sans"/>
              </a:defRPr>
            </a:pPr>
            <a:r>
              <a:rPr sz="2400" b="1">
                <a:solidFill>
                  <a:srgbClr val="286D96"/>
                </a:solidFill>
                <a:latin typeface="Nimbus Sans"/>
                <a:ea typeface="Nimbus Sans"/>
                <a:cs typeface="Nimbus Sans"/>
              </a:rPr>
              <a:t>02</a:t>
            </a:r>
          </a:p>
        </p:txBody>
      </p:sp>
      <p:sp>
        <p:nvSpPr>
          <p:cNvPr id="14" name="demo-heading-2">
            <a:extLst xmlns:a="http://schemas.openxmlformats.org/drawingml/2006/main">
              <a:ext uri="{FF2B5EF4-FFF2-40B4-BE49-F238E27FC236}">
                <a16:creationId xmlns:a16="http://schemas.microsoft.com/office/drawing/2014/main" id="{4E433E1D-916D-4C01-A031-A15338191FDC}"/>
              </a:ext>
            </a:extLst>
          </p:cNvPr>
          <p:cNvSpPr>
            <a:spLocks xmlns:a="http://schemas.openxmlformats.org/drawingml/2006/main" noGrp="1"/>
          </p:cNvSpPr>
          <p:nvPr/>
        </p:nvSpPr>
        <p:spPr>
          <a:xfrm xmlns:a="http://schemas.openxmlformats.org/drawingml/2006/main">
            <a:off x="1447800" y="2638425"/>
            <a:ext cx="10134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32D46"/>
                </a:solidFill>
                <a:latin typeface="Nimbus Sans"/>
                <a:ea typeface="Nimbus Sans"/>
                <a:cs typeface="Nimbus Sans"/>
              </a:defRPr>
            </a:defPPr>
          </a:lstStyle>
          <a:p xmlns:a="http://schemas.openxmlformats.org/drawingml/2006/main">
            <a:pPr algn="l">
              <a:defRPr sz="2250" b="1">
                <a:solidFill>
                  <a:srgbClr val="132D46"/>
                </a:solidFill>
                <a:latin typeface="Nimbus Sans"/>
                <a:ea typeface="Nimbus Sans"/>
                <a:cs typeface="Nimbus Sans"/>
              </a:defRPr>
            </a:pPr>
            <a:r>
              <a:rPr sz="2250" b="1">
                <a:solidFill>
                  <a:srgbClr val="132D46"/>
                </a:solidFill>
                <a:latin typeface="Nimbus Sans"/>
                <a:ea typeface="Nimbus Sans"/>
                <a:cs typeface="Nimbus Sans"/>
              </a:rPr>
              <a:t>Financing and disbursement</a:t>
            </a:r>
          </a:p>
        </p:txBody>
      </p:sp>
      <p:sp>
        <p:nvSpPr>
          <p:cNvPr id="15" name="demo-body-2">
            <a:extLst xmlns:a="http://schemas.openxmlformats.org/drawingml/2006/main">
              <a:ext uri="{FF2B5EF4-FFF2-40B4-BE49-F238E27FC236}">
                <a16:creationId xmlns:a16="http://schemas.microsoft.com/office/drawing/2014/main" id="{81E47014-0C8F-48C9-A7AE-9E2B8846D7CB}"/>
              </a:ext>
            </a:extLst>
          </p:cNvPr>
          <p:cNvSpPr>
            <a:spLocks xmlns:a="http://schemas.openxmlformats.org/drawingml/2006/main" noGrp="1"/>
          </p:cNvSpPr>
          <p:nvPr/>
        </p:nvSpPr>
        <p:spPr>
          <a:xfrm xmlns:a="http://schemas.openxmlformats.org/drawingml/2006/main">
            <a:off x="1447800" y="3057525"/>
            <a:ext cx="10134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14757"/>
                </a:solidFill>
                <a:latin typeface="Nimbus Sans"/>
                <a:ea typeface="Nimbus Sans"/>
                <a:cs typeface="Nimbus Sans"/>
              </a:defRPr>
            </a:defPPr>
          </a:lstStyle>
          <a:p xmlns:a="http://schemas.openxmlformats.org/drawingml/2006/main">
            <a:pPr algn="l">
              <a:defRPr sz="1875" b="0">
                <a:solidFill>
                  <a:srgbClr val="314757"/>
                </a:solidFill>
                <a:latin typeface="Nimbus Sans"/>
                <a:ea typeface="Nimbus Sans"/>
                <a:cs typeface="Nimbus Sans"/>
              </a:defRPr>
            </a:pPr>
            <a:r>
              <a:rPr sz="1875" b="0">
                <a:solidFill>
                  <a:srgbClr val="314757"/>
                </a:solidFill>
                <a:latin typeface="Nimbus Sans"/>
                <a:ea typeface="Nimbus Sans"/>
                <a:cs typeface="Nimbus Sans"/>
              </a:rPr>
              <a:t>Financing requests, offer acceptance and transfer of the Supplier's advance</a:t>
            </a:r>
          </a:p>
        </p:txBody>
      </p:sp>
      <p:sp>
        <p:nvSpPr>
          <p:cNvPr id="16" name="demo-number-3">
            <a:extLst xmlns:a="http://schemas.openxmlformats.org/drawingml/2006/main">
              <a:ext uri="{FF2B5EF4-FFF2-40B4-BE49-F238E27FC236}">
                <a16:creationId xmlns:a16="http://schemas.microsoft.com/office/drawing/2014/main" id="{CBB35548-434D-4DB6-9B66-48CCD93745B9}"/>
              </a:ext>
            </a:extLst>
          </p:cNvPr>
          <p:cNvSpPr>
            <a:spLocks xmlns:a="http://schemas.openxmlformats.org/drawingml/2006/main" noGrp="1"/>
          </p:cNvSpPr>
          <p:nvPr/>
        </p:nvSpPr>
        <p:spPr>
          <a:xfrm xmlns:a="http://schemas.openxmlformats.org/drawingml/2006/main">
            <a:off x="609600" y="3714750"/>
            <a:ext cx="647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86D96"/>
                </a:solidFill>
                <a:latin typeface="Nimbus Sans"/>
                <a:ea typeface="Nimbus Sans"/>
                <a:cs typeface="Nimbus Sans"/>
              </a:defRPr>
            </a:defPPr>
          </a:lstStyle>
          <a:p xmlns:a="http://schemas.openxmlformats.org/drawingml/2006/main">
            <a:pPr algn="l">
              <a:defRPr sz="2400" b="1">
                <a:solidFill>
                  <a:srgbClr val="286D96"/>
                </a:solidFill>
                <a:latin typeface="Nimbus Sans"/>
                <a:ea typeface="Nimbus Sans"/>
                <a:cs typeface="Nimbus Sans"/>
              </a:defRPr>
            </a:pPr>
            <a:r>
              <a:rPr sz="2400" b="1">
                <a:solidFill>
                  <a:srgbClr val="286D96"/>
                </a:solidFill>
                <a:latin typeface="Nimbus Sans"/>
                <a:ea typeface="Nimbus Sans"/>
                <a:cs typeface="Nimbus Sans"/>
              </a:rPr>
              <a:t>03</a:t>
            </a:r>
          </a:p>
        </p:txBody>
      </p:sp>
      <p:sp>
        <p:nvSpPr>
          <p:cNvPr id="17" name="demo-heading-3">
            <a:extLst xmlns:a="http://schemas.openxmlformats.org/drawingml/2006/main">
              <a:ext uri="{FF2B5EF4-FFF2-40B4-BE49-F238E27FC236}">
                <a16:creationId xmlns:a16="http://schemas.microsoft.com/office/drawing/2014/main" id="{15A2A695-3876-4D2D-BE2A-18333F030501}"/>
              </a:ext>
            </a:extLst>
          </p:cNvPr>
          <p:cNvSpPr>
            <a:spLocks xmlns:a="http://schemas.openxmlformats.org/drawingml/2006/main" noGrp="1"/>
          </p:cNvSpPr>
          <p:nvPr/>
        </p:nvSpPr>
        <p:spPr>
          <a:xfrm xmlns:a="http://schemas.openxmlformats.org/drawingml/2006/main">
            <a:off x="1447800" y="3714750"/>
            <a:ext cx="10134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32D46"/>
                </a:solidFill>
                <a:latin typeface="Nimbus Sans"/>
                <a:ea typeface="Nimbus Sans"/>
                <a:cs typeface="Nimbus Sans"/>
              </a:defRPr>
            </a:defPPr>
          </a:lstStyle>
          <a:p xmlns:a="http://schemas.openxmlformats.org/drawingml/2006/main">
            <a:pPr algn="l">
              <a:defRPr sz="2250" b="1">
                <a:solidFill>
                  <a:srgbClr val="132D46"/>
                </a:solidFill>
                <a:latin typeface="Nimbus Sans"/>
                <a:ea typeface="Nimbus Sans"/>
                <a:cs typeface="Nimbus Sans"/>
              </a:defRPr>
            </a:pPr>
            <a:r>
              <a:rPr sz="2250" b="1">
                <a:solidFill>
                  <a:srgbClr val="132D46"/>
                </a:solidFill>
                <a:latin typeface="Nimbus Sans"/>
                <a:ea typeface="Nimbus Sans"/>
                <a:cs typeface="Nimbus Sans"/>
              </a:rPr>
              <a:t>Disputed repayment and settlement</a:t>
            </a:r>
          </a:p>
        </p:txBody>
      </p:sp>
      <p:sp>
        <p:nvSpPr>
          <p:cNvPr id="18" name="demo-body-3">
            <a:extLst xmlns:a="http://schemas.openxmlformats.org/drawingml/2006/main">
              <a:ext uri="{FF2B5EF4-FFF2-40B4-BE49-F238E27FC236}">
                <a16:creationId xmlns:a16="http://schemas.microsoft.com/office/drawing/2014/main" id="{2FB12775-8D60-498B-B7B8-C5A1A6841A73}"/>
              </a:ext>
            </a:extLst>
          </p:cNvPr>
          <p:cNvSpPr>
            <a:spLocks xmlns:a="http://schemas.openxmlformats.org/drawingml/2006/main" noGrp="1"/>
          </p:cNvSpPr>
          <p:nvPr/>
        </p:nvSpPr>
        <p:spPr>
          <a:xfrm xmlns:a="http://schemas.openxmlformats.org/drawingml/2006/main">
            <a:off x="1447800" y="4133850"/>
            <a:ext cx="10134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14757"/>
                </a:solidFill>
                <a:latin typeface="Nimbus Sans"/>
                <a:ea typeface="Nimbus Sans"/>
                <a:cs typeface="Nimbus Sans"/>
              </a:defRPr>
            </a:defPPr>
          </a:lstStyle>
          <a:p xmlns:a="http://schemas.openxmlformats.org/drawingml/2006/main">
            <a:pPr algn="l">
              <a:defRPr sz="1875" b="0">
                <a:solidFill>
                  <a:srgbClr val="314757"/>
                </a:solidFill>
                <a:latin typeface="Nimbus Sans"/>
                <a:ea typeface="Nimbus Sans"/>
                <a:cs typeface="Nimbus Sans"/>
              </a:defRPr>
            </a:pPr>
            <a:r>
              <a:rPr sz="1875" b="0">
                <a:solidFill>
                  <a:srgbClr val="314757"/>
                </a:solidFill>
                <a:latin typeface="Nimbus Sans"/>
                <a:ea typeface="Nimbus Sans"/>
                <a:cs typeface="Nimbus Sans"/>
              </a:rPr>
              <a:t>Evidence submission, repayment into escrow and a RESUME ruling</a:t>
            </a:r>
          </a:p>
        </p:txBody>
      </p:sp>
      <p:sp>
        <p:nvSpPr>
          <p:cNvPr id="19" name="demo-number-4">
            <a:extLst xmlns:a="http://schemas.openxmlformats.org/drawingml/2006/main">
              <a:ext uri="{FF2B5EF4-FFF2-40B4-BE49-F238E27FC236}">
                <a16:creationId xmlns:a16="http://schemas.microsoft.com/office/drawing/2014/main" id="{3BB03491-180D-488B-B520-0E671B68FD86}"/>
              </a:ext>
            </a:extLst>
          </p:cNvPr>
          <p:cNvSpPr>
            <a:spLocks xmlns:a="http://schemas.openxmlformats.org/drawingml/2006/main" noGrp="1"/>
          </p:cNvSpPr>
          <p:nvPr/>
        </p:nvSpPr>
        <p:spPr>
          <a:xfrm xmlns:a="http://schemas.openxmlformats.org/drawingml/2006/main">
            <a:off x="609600" y="4791075"/>
            <a:ext cx="647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86D96"/>
                </a:solidFill>
                <a:latin typeface="Nimbus Sans"/>
                <a:ea typeface="Nimbus Sans"/>
                <a:cs typeface="Nimbus Sans"/>
              </a:defRPr>
            </a:defPPr>
          </a:lstStyle>
          <a:p xmlns:a="http://schemas.openxmlformats.org/drawingml/2006/main">
            <a:pPr algn="l">
              <a:defRPr sz="2400" b="1">
                <a:solidFill>
                  <a:srgbClr val="286D96"/>
                </a:solidFill>
                <a:latin typeface="Nimbus Sans"/>
                <a:ea typeface="Nimbus Sans"/>
                <a:cs typeface="Nimbus Sans"/>
              </a:defRPr>
            </a:pPr>
            <a:r>
              <a:rPr sz="2400" b="1">
                <a:solidFill>
                  <a:srgbClr val="286D96"/>
                </a:solidFill>
                <a:latin typeface="Nimbus Sans"/>
                <a:ea typeface="Nimbus Sans"/>
                <a:cs typeface="Nimbus Sans"/>
              </a:rPr>
              <a:t>04</a:t>
            </a:r>
          </a:p>
        </p:txBody>
      </p:sp>
      <p:sp>
        <p:nvSpPr>
          <p:cNvPr id="20" name="demo-heading-4">
            <a:extLst xmlns:a="http://schemas.openxmlformats.org/drawingml/2006/main">
              <a:ext uri="{FF2B5EF4-FFF2-40B4-BE49-F238E27FC236}">
                <a16:creationId xmlns:a16="http://schemas.microsoft.com/office/drawing/2014/main" id="{EC6375EE-9D78-4AE2-8DB8-62FFBC12C25E}"/>
              </a:ext>
            </a:extLst>
          </p:cNvPr>
          <p:cNvSpPr>
            <a:spLocks xmlns:a="http://schemas.openxmlformats.org/drawingml/2006/main" noGrp="1"/>
          </p:cNvSpPr>
          <p:nvPr/>
        </p:nvSpPr>
        <p:spPr>
          <a:xfrm xmlns:a="http://schemas.openxmlformats.org/drawingml/2006/main">
            <a:off x="1447800" y="4791075"/>
            <a:ext cx="10134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32D46"/>
                </a:solidFill>
                <a:latin typeface="Nimbus Sans"/>
                <a:ea typeface="Nimbus Sans"/>
                <a:cs typeface="Nimbus Sans"/>
              </a:defRPr>
            </a:defPPr>
          </a:lstStyle>
          <a:p xmlns:a="http://schemas.openxmlformats.org/drawingml/2006/main">
            <a:pPr algn="l">
              <a:defRPr sz="2250" b="1">
                <a:solidFill>
                  <a:srgbClr val="132D46"/>
                </a:solidFill>
                <a:latin typeface="Nimbus Sans"/>
                <a:ea typeface="Nimbus Sans"/>
                <a:cs typeface="Nimbus Sans"/>
              </a:defRPr>
            </a:pPr>
            <a:r>
              <a:rPr sz="2250" b="1">
                <a:solidFill>
                  <a:srgbClr val="132D46"/>
                </a:solidFill>
                <a:latin typeface="Nimbus Sans"/>
                <a:ea typeface="Nimbus Sans"/>
                <a:cs typeface="Nimbus Sans"/>
              </a:rPr>
              <a:t>Records and audit</a:t>
            </a:r>
          </a:p>
        </p:txBody>
      </p:sp>
      <p:sp>
        <p:nvSpPr>
          <p:cNvPr id="21" name="demo-body-4">
            <a:extLst xmlns:a="http://schemas.openxmlformats.org/drawingml/2006/main">
              <a:ext uri="{FF2B5EF4-FFF2-40B4-BE49-F238E27FC236}">
                <a16:creationId xmlns:a16="http://schemas.microsoft.com/office/drawing/2014/main" id="{E7837AAE-DBDA-40C2-919F-CE8F883E95BE}"/>
              </a:ext>
            </a:extLst>
          </p:cNvPr>
          <p:cNvSpPr>
            <a:spLocks xmlns:a="http://schemas.openxmlformats.org/drawingml/2006/main" noGrp="1"/>
          </p:cNvSpPr>
          <p:nvPr/>
        </p:nvSpPr>
        <p:spPr>
          <a:xfrm xmlns:a="http://schemas.openxmlformats.org/drawingml/2006/main">
            <a:off x="1447800" y="5210175"/>
            <a:ext cx="10134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314757"/>
                </a:solidFill>
                <a:latin typeface="Nimbus Sans"/>
                <a:ea typeface="Nimbus Sans"/>
                <a:cs typeface="Nimbus Sans"/>
              </a:defRPr>
            </a:defPPr>
          </a:lstStyle>
          <a:p xmlns:a="http://schemas.openxmlformats.org/drawingml/2006/main">
            <a:pPr algn="l">
              <a:defRPr sz="1875" b="0">
                <a:solidFill>
                  <a:srgbClr val="314757"/>
                </a:solidFill>
                <a:latin typeface="Nimbus Sans"/>
                <a:ea typeface="Nimbus Sans"/>
                <a:cs typeface="Nimbus Sans"/>
              </a:defRPr>
            </a:pPr>
            <a:r>
              <a:rPr sz="1875" b="0">
                <a:solidFill>
                  <a:srgbClr val="314757"/>
                </a:solidFill>
                <a:latin typeface="Nimbus Sans"/>
                <a:ea typeface="Nimbus Sans"/>
                <a:cs typeface="Nimbus Sans"/>
              </a:rPr>
              <a:t>Final invoice states, payment allocations and transaction receipts</a:t>
            </a:r>
          </a:p>
        </p:txBody>
      </p:sp>
    </p:spTree>
    <p:extLst>
      <p:ext uri="{BB962C8B-B14F-4D97-AF65-F5344CB8AC3E}">
        <p14:creationId xmlns:p14="http://schemas.microsoft.com/office/powerpoint/2010/main" val="282227265"/>
      </p:ext>
    </p:extLst>
  </p:cSld>
</p:sld>
</file>

<file path=ppt/slides/slide8.xml><?xml version="1.0" encoding="utf-8"?>
<p:sld xmlns:p="http://schemas.openxmlformats.org/presentationml/2006/main">
  <p:cSld>
    <p:bg>
      <p:bgPr>
        <a:solidFill xmlns:a="http://schemas.openxmlformats.org/drawingml/2006/main">
          <a:srgbClr val="122C44"/>
        </a:solidFill>
      </p:bgPr>
    </p:bg>
    <p:spTree>
      <p:nvGrpSpPr>
        <p:cNvPr id="1" name=""/>
        <p:cNvGrpSpPr/>
        <p:nvPr/>
      </p:nvGrpSpPr>
      <p:grpSpPr>
        <a:xfrm xmlns:a="http://schemas.openxmlformats.org/drawingml/2006/main"/>
      </p:grpSpPr>
      <p:sp>
        <p:nvSpPr>
          <p:cNvPr id="16" name="title-12">
            <a:extLst xmlns:a="http://schemas.openxmlformats.org/drawingml/2006/main">
              <a:ext uri="{FF2B5EF4-FFF2-40B4-BE49-F238E27FC236}">
                <a16:creationId xmlns:a16="http://schemas.microsoft.com/office/drawing/2014/main" id="{491EC881-A47D-46E7-BF91-B92E53052570}"/>
              </a:ext>
            </a:extLst>
          </p:cNvPr>
          <p:cNvSpPr>
            <a:spLocks xmlns:a="http://schemas.openxmlformats.org/drawingml/2006/main" noGrp="1"/>
          </p:cNvSpPr>
          <p:nvPr/>
        </p:nvSpPr>
        <p:spPr>
          <a:xfrm xmlns:a="http://schemas.openxmlformats.org/drawingml/2006/main">
            <a:off x="609600" y="4667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Nimbus Sans"/>
                <a:ea typeface="Nimbus Sans"/>
                <a:cs typeface="Nimbus Sans"/>
              </a:defRPr>
            </a:defPPr>
          </a:lstStyle>
          <a:p xmlns:a="http://schemas.openxmlformats.org/drawingml/2006/main">
            <a:pPr algn="l">
              <a:buNone/>
              <a:defRPr sz="3300" b="1">
                <a:solidFill>
                  <a:srgbClr val="FFFFFF"/>
                </a:solidFill>
                <a:latin typeface="Nimbus Sans"/>
                <a:ea typeface="Nimbus Sans"/>
                <a:cs typeface="Nimbus Sans"/>
              </a:defRPr>
            </a:pPr>
            <a:r>
              <a:rPr sz="3300" b="1">
                <a:solidFill>
                  <a:srgbClr val="FFFFFF"/>
                </a:solidFill>
                <a:latin typeface="Nimbus Sans"/>
                <a:ea typeface="Nimbus Sans"/>
                <a:cs typeface="Nimbus Sans"/>
              </a:rPr>
              <a:t>Project results</a:t>
            </a:r>
          </a:p>
        </p:txBody>
      </p:sp>
      <p:sp>
        <p:nvSpPr>
          <p:cNvPr id="2" name="footnote-12">
            <a:extLst xmlns:a="http://schemas.openxmlformats.org/drawingml/2006/main">
              <a:ext uri="{FF2B5EF4-FFF2-40B4-BE49-F238E27FC236}">
                <a16:creationId xmlns:a16="http://schemas.microsoft.com/office/drawing/2014/main" id="{C09644B4-57C0-4A86-AB1E-3984A866D314}"/>
              </a:ext>
            </a:extLst>
          </p:cNvPr>
          <p:cNvSpPr>
            <a:spLocks xmlns:a="http://schemas.openxmlformats.org/drawingml/2006/main" noGrp="1"/>
          </p:cNvSpPr>
          <p:nvPr/>
        </p:nvSpPr>
        <p:spPr>
          <a:xfrm xmlns:a="http://schemas.openxmlformats.org/drawingml/2006/main">
            <a:off x="609600" y="61722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D8E4ED"/>
                </a:solidFill>
                <a:latin typeface="Nimbus Sans"/>
                <a:ea typeface="Nimbus Sans"/>
                <a:cs typeface="Nimbus Sans"/>
              </a:defRPr>
            </a:defPPr>
          </a:lstStyle>
          <a:p xmlns:a="http://schemas.openxmlformats.org/drawingml/2006/main">
            <a:pPr algn="l">
              <a:buNone/>
              <a:defRPr sz="1350" b="0">
                <a:solidFill>
                  <a:srgbClr val="D8E4ED"/>
                </a:solidFill>
                <a:latin typeface="Nimbus Sans"/>
                <a:ea typeface="Nimbus Sans"/>
                <a:cs typeface="Nimbus Sans"/>
              </a:defRPr>
            </a:pPr>
            <a:r>
              <a:rPr sz="1350" b="0">
                <a:solidFill>
                  <a:srgbClr val="D8E4ED"/>
                </a:solidFill>
                <a:latin typeface="Nimbus Sans"/>
                <a:ea typeface="Nimbus Sans"/>
                <a:cs typeface="Nimbus Sans"/>
              </a:rPr>
              <a:t>Documented Sepolia scenario; amounts in test ETH.</a:t>
            </a:r>
          </a:p>
        </p:txBody>
      </p:sp>
      <p:sp>
        <p:nvSpPr>
          <p:cNvPr id="3" name="footer-rule-12">
            <a:extLst xmlns:a="http://schemas.openxmlformats.org/drawingml/2006/main">
              <a:ext uri="{FF2B5EF4-FFF2-40B4-BE49-F238E27FC236}">
                <a16:creationId xmlns:a16="http://schemas.microsoft.com/office/drawing/2014/main" id="{8E403D05-FE70-4264-8127-4F5D6D0B6F32}"/>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7620">
            <a:solidFill>
              <a:srgbClr val="446077"/>
            </a:solidFill>
            <a:prstDash val="solid"/>
          </a:ln>
        </p:spPr>
      </p:sp>
      <p:sp>
        <p:nvSpPr>
          <p:cNvPr id="4" name="brand-12">
            <a:extLst xmlns:a="http://schemas.openxmlformats.org/drawingml/2006/main">
              <a:ext uri="{FF2B5EF4-FFF2-40B4-BE49-F238E27FC236}">
                <a16:creationId xmlns:a16="http://schemas.microsoft.com/office/drawing/2014/main" id="{DF682FEE-29A8-4B16-A1AC-7CC58291787B}"/>
              </a:ext>
            </a:extLst>
          </p:cNvPr>
          <p:cNvSpPr>
            <a:spLocks xmlns:a="http://schemas.openxmlformats.org/drawingml/2006/main" noGrp="1"/>
          </p:cNvSpPr>
          <p:nvPr/>
        </p:nvSpPr>
        <p:spPr>
          <a:xfrm xmlns:a="http://schemas.openxmlformats.org/drawingml/2006/main">
            <a:off x="609600" y="6591300"/>
            <a:ext cx="5810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FBFCC"/>
                </a:solidFill>
                <a:latin typeface="Nimbus Sans"/>
                <a:ea typeface="Nimbus Sans"/>
                <a:cs typeface="Nimbus Sans"/>
              </a:defRPr>
            </a:defPPr>
          </a:lstStyle>
          <a:p xmlns:a="http://schemas.openxmlformats.org/drawingml/2006/main">
            <a:pPr algn="l">
              <a:buNone/>
              <a:defRPr sz="1125" b="0">
                <a:solidFill>
                  <a:srgbClr val="AFBFCC"/>
                </a:solidFill>
                <a:latin typeface="Nimbus Sans"/>
                <a:ea typeface="Nimbus Sans"/>
                <a:cs typeface="Nimbus Sans"/>
              </a:defRPr>
            </a:pPr>
            <a:r>
              <a:rPr sz="1125" b="0">
                <a:solidFill>
                  <a:srgbClr val="AFBFCC"/>
                </a:solidFill>
                <a:latin typeface="Nimbus Sans"/>
                <a:ea typeface="Nimbus Sans"/>
                <a:cs typeface="Nimbus Sans"/>
              </a:rPr>
              <a:t>SME Flow</a:t>
            </a:r>
          </a:p>
        </p:txBody>
      </p:sp>
      <p:sp>
        <p:nvSpPr>
          <p:cNvPr id="5" name="folio-12">
            <a:extLst xmlns:a="http://schemas.openxmlformats.org/drawingml/2006/main">
              <a:ext uri="{FF2B5EF4-FFF2-40B4-BE49-F238E27FC236}">
                <a16:creationId xmlns:a16="http://schemas.microsoft.com/office/drawing/2014/main" id="{66EB989A-4120-432C-905B-D3542594DDAE}"/>
              </a:ext>
            </a:extLst>
          </p:cNvPr>
          <p:cNvSpPr>
            <a:spLocks xmlns:a="http://schemas.openxmlformats.org/drawingml/2006/main" noGrp="1"/>
          </p:cNvSpPr>
          <p:nvPr/>
        </p:nvSpPr>
        <p:spPr>
          <a:xfrm xmlns:a="http://schemas.openxmlformats.org/drawingml/2006/main">
            <a:off x="11163300" y="659130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AFBFCC"/>
                </a:solidFill>
                <a:latin typeface="Nimbus Sans"/>
                <a:ea typeface="Nimbus Sans"/>
                <a:cs typeface="Nimbus Sans"/>
              </a:defRPr>
            </a:defPPr>
          </a:lstStyle>
          <a:p xmlns:a="http://schemas.openxmlformats.org/drawingml/2006/main">
            <a:pPr algn="r">
              <a:buNone/>
              <a:defRPr sz="1125" b="0">
                <a:solidFill>
                  <a:srgbClr val="AFBFCC"/>
                </a:solidFill>
                <a:latin typeface="Nimbus Sans"/>
                <a:ea typeface="Nimbus Sans"/>
                <a:cs typeface="Nimbus Sans"/>
              </a:defRPr>
            </a:pPr>
            <a:r>
              <a:rPr sz="1125" b="0">
                <a:solidFill>
                  <a:srgbClr val="AFBFCC"/>
                </a:solidFill>
                <a:latin typeface="Nimbus Sans"/>
                <a:ea typeface="Nimbus Sans"/>
                <a:cs typeface="Nimbus Sans"/>
              </a:rPr>
              <a:t>08</a:t>
            </a:r>
          </a:p>
        </p:txBody>
      </p:sp>
      <p:sp>
        <p:nvSpPr>
          <p:cNvPr id="17" name="result-heading-0">
            <a:extLst xmlns:a="http://schemas.openxmlformats.org/drawingml/2006/main">
              <a:ext uri="{FF2B5EF4-FFF2-40B4-BE49-F238E27FC236}">
                <a16:creationId xmlns:a16="http://schemas.microsoft.com/office/drawing/2014/main" id="{FA385515-B3DB-48E8-AA6C-4FC6F64C2CEA}"/>
              </a:ext>
            </a:extLst>
          </p:cNvPr>
          <p:cNvSpPr>
            <a:spLocks xmlns:a="http://schemas.openxmlformats.org/drawingml/2006/main" noGrp="1"/>
          </p:cNvSpPr>
          <p:nvPr/>
        </p:nvSpPr>
        <p:spPr>
          <a:xfrm xmlns:a="http://schemas.openxmlformats.org/drawingml/2006/main">
            <a:off x="609600" y="1552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DEC398"/>
                </a:solidFill>
                <a:latin typeface="Nimbus Sans"/>
                <a:ea typeface="Nimbus Sans"/>
                <a:cs typeface="Nimbus Sans"/>
              </a:defRPr>
            </a:defPPr>
          </a:lstStyle>
          <a:p xmlns:a="http://schemas.openxmlformats.org/drawingml/2006/main">
            <a:pPr algn="l">
              <a:buNone/>
              <a:defRPr sz="2400" b="1">
                <a:solidFill>
                  <a:srgbClr val="DEC398"/>
                </a:solidFill>
                <a:latin typeface="Nimbus Sans"/>
                <a:ea typeface="Nimbus Sans"/>
                <a:cs typeface="Nimbus Sans"/>
              </a:defRPr>
            </a:pPr>
            <a:r>
              <a:rPr sz="2400" b="1">
                <a:solidFill>
                  <a:srgbClr val="DEC398"/>
                </a:solidFill>
                <a:latin typeface="Nimbus Sans"/>
                <a:ea typeface="Nimbus Sans"/>
                <a:cs typeface="Nimbus Sans"/>
              </a:rPr>
              <a:t>Implemented workflow</a:t>
            </a:r>
          </a:p>
        </p:txBody>
      </p:sp>
      <p:sp>
        <p:nvSpPr>
          <p:cNvPr id="18" name="result-detail-0">
            <a:extLst xmlns:a="http://schemas.openxmlformats.org/drawingml/2006/main">
              <a:ext uri="{FF2B5EF4-FFF2-40B4-BE49-F238E27FC236}">
                <a16:creationId xmlns:a16="http://schemas.microsoft.com/office/drawing/2014/main" id="{A8C348D4-7C16-4BD3-BFFE-B8D3B6BFCFE5}"/>
              </a:ext>
            </a:extLst>
          </p:cNvPr>
          <p:cNvSpPr>
            <a:spLocks xmlns:a="http://schemas.openxmlformats.org/drawingml/2006/main" noGrp="1"/>
          </p:cNvSpPr>
          <p:nvPr/>
        </p:nvSpPr>
        <p:spPr>
          <a:xfrm xmlns:a="http://schemas.openxmlformats.org/drawingml/2006/main">
            <a:off x="609600" y="20383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D8E4ED"/>
                </a:solidFill>
                <a:latin typeface="Nimbus Sans"/>
                <a:ea typeface="Nimbus Sans"/>
                <a:cs typeface="Nimbus Sans"/>
              </a:defRPr>
            </a:defPPr>
          </a:lstStyle>
          <a:p xmlns:a="http://schemas.openxmlformats.org/drawingml/2006/main">
            <a:pPr algn="l">
              <a:buNone/>
              <a:defRPr sz="2100" b="0">
                <a:solidFill>
                  <a:srgbClr val="D8E4ED"/>
                </a:solidFill>
                <a:latin typeface="Nimbus Sans"/>
                <a:ea typeface="Nimbus Sans"/>
                <a:cs typeface="Nimbus Sans"/>
              </a:defRPr>
            </a:pPr>
            <a:r>
              <a:rPr sz="2100" b="0">
                <a:solidFill>
                  <a:srgbClr val="D8E4ED"/>
                </a:solidFill>
                <a:latin typeface="Nimbus Sans"/>
                <a:ea typeface="Nimbus Sans"/>
                <a:cs typeface="Nimbus Sans"/>
              </a:rPr>
              <a:t>Invoice confirmation, funding, disputed repayment</a:t>
            </a:r>
          </a:p>
          <a:p xmlns:a="http://schemas.openxmlformats.org/drawingml/2006/main">
            <a:pPr algn="l">
              <a:buNone/>
              <a:defRPr sz="2100" b="0">
                <a:solidFill>
                  <a:srgbClr val="D8E4ED"/>
                </a:solidFill>
                <a:latin typeface="Nimbus Sans"/>
                <a:ea typeface="Nimbus Sans"/>
                <a:cs typeface="Nimbus Sans"/>
              </a:defRPr>
            </a:pPr>
            <a:r>
              <a:rPr sz="2100" b="0">
                <a:solidFill>
                  <a:srgbClr val="D8E4ED"/>
                </a:solidFill>
                <a:latin typeface="Nimbus Sans"/>
                <a:ea typeface="Nimbus Sans"/>
                <a:cs typeface="Nimbus Sans"/>
              </a:rPr>
              <a:t>and audit in one Sepolia DApp.</a:t>
            </a:r>
          </a:p>
        </p:txBody>
      </p:sp>
      <p:sp>
        <p:nvSpPr>
          <p:cNvPr id="19" name="result-heading-1">
            <a:extLst xmlns:a="http://schemas.openxmlformats.org/drawingml/2006/main">
              <a:ext uri="{FF2B5EF4-FFF2-40B4-BE49-F238E27FC236}">
                <a16:creationId xmlns:a16="http://schemas.microsoft.com/office/drawing/2014/main" id="{AC1F1BBA-7807-4135-AFF6-70931CB9BBF0}"/>
              </a:ext>
            </a:extLst>
          </p:cNvPr>
          <p:cNvSpPr>
            <a:spLocks xmlns:a="http://schemas.openxmlformats.org/drawingml/2006/main" noGrp="1"/>
          </p:cNvSpPr>
          <p:nvPr/>
        </p:nvSpPr>
        <p:spPr>
          <a:xfrm xmlns:a="http://schemas.openxmlformats.org/drawingml/2006/main">
            <a:off x="609600" y="30384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DEC398"/>
                </a:solidFill>
                <a:latin typeface="Nimbus Sans"/>
                <a:ea typeface="Nimbus Sans"/>
                <a:cs typeface="Nimbus Sans"/>
              </a:defRPr>
            </a:defPPr>
          </a:lstStyle>
          <a:p xmlns:a="http://schemas.openxmlformats.org/drawingml/2006/main">
            <a:pPr algn="l">
              <a:buNone/>
              <a:defRPr sz="2400" b="1">
                <a:solidFill>
                  <a:srgbClr val="DEC398"/>
                </a:solidFill>
                <a:latin typeface="Nimbus Sans"/>
                <a:ea typeface="Nimbus Sans"/>
                <a:cs typeface="Nimbus Sans"/>
              </a:defRPr>
            </a:pPr>
            <a:r>
              <a:rPr sz="2400" b="1">
                <a:solidFill>
                  <a:srgbClr val="DEC398"/>
                </a:solidFill>
                <a:latin typeface="Nimbus Sans"/>
                <a:ea typeface="Nimbus Sans"/>
                <a:cs typeface="Nimbus Sans"/>
              </a:rPr>
              <a:t>Earlier supplier liquidity</a:t>
            </a:r>
          </a:p>
        </p:txBody>
      </p:sp>
      <p:sp>
        <p:nvSpPr>
          <p:cNvPr id="20" name="result-detail-1">
            <a:extLst xmlns:a="http://schemas.openxmlformats.org/drawingml/2006/main">
              <a:ext uri="{FF2B5EF4-FFF2-40B4-BE49-F238E27FC236}">
                <a16:creationId xmlns:a16="http://schemas.microsoft.com/office/drawing/2014/main" id="{F6E7F9AF-64FB-4052-9C2A-37CFB1A56DA2}"/>
              </a:ext>
            </a:extLst>
          </p:cNvPr>
          <p:cNvSpPr>
            <a:spLocks xmlns:a="http://schemas.openxmlformats.org/drawingml/2006/main" noGrp="1"/>
          </p:cNvSpPr>
          <p:nvPr/>
        </p:nvSpPr>
        <p:spPr>
          <a:xfrm xmlns:a="http://schemas.openxmlformats.org/drawingml/2006/main">
            <a:off x="609600" y="35242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D8E4ED"/>
                </a:solidFill>
                <a:latin typeface="Nimbus Sans"/>
                <a:ea typeface="Nimbus Sans"/>
                <a:cs typeface="Nimbus Sans"/>
              </a:defRPr>
            </a:defPPr>
          </a:lstStyle>
          <a:p xmlns:a="http://schemas.openxmlformats.org/drawingml/2006/main">
            <a:pPr algn="l">
              <a:buNone/>
              <a:defRPr sz="2100" b="0">
                <a:solidFill>
                  <a:srgbClr val="D8E4ED"/>
                </a:solidFill>
                <a:latin typeface="Nimbus Sans"/>
                <a:ea typeface="Nimbus Sans"/>
                <a:cs typeface="Nimbus Sans"/>
              </a:defRPr>
            </a:pPr>
            <a:r>
              <a:rPr sz="2100" b="0">
                <a:solidFill>
                  <a:srgbClr val="D8E4ED"/>
                </a:solidFill>
                <a:latin typeface="Nimbus Sans"/>
                <a:ea typeface="Nimbus Sans"/>
                <a:cs typeface="Nimbus Sans"/>
              </a:rPr>
              <a:t>Example advance: 0.036 test ETH before Buyer repayment.</a:t>
            </a:r>
          </a:p>
          <a:p xmlns:a="http://schemas.openxmlformats.org/drawingml/2006/main">
            <a:pPr algn="l">
              <a:buNone/>
              <a:defRPr sz="2100" b="0">
                <a:solidFill>
                  <a:srgbClr val="D8E4ED"/>
                </a:solidFill>
                <a:latin typeface="Nimbus Sans"/>
                <a:ea typeface="Nimbus Sans"/>
                <a:cs typeface="Nimbus Sans"/>
              </a:defRPr>
            </a:pPr>
            <a:r>
              <a:rPr sz="2100" b="0">
                <a:solidFill>
                  <a:srgbClr val="D8E4ED"/>
                </a:solidFill>
                <a:latin typeface="Nimbus Sans"/>
                <a:ea typeface="Nimbus Sans"/>
                <a:cs typeface="Nimbus Sans"/>
              </a:rPr>
              <a:t>Equivalent to 72% of the invoice value.</a:t>
            </a:r>
          </a:p>
        </p:txBody>
      </p:sp>
      <p:sp>
        <p:nvSpPr>
          <p:cNvPr id="21" name="result-heading-2">
            <a:extLst xmlns:a="http://schemas.openxmlformats.org/drawingml/2006/main">
              <a:ext uri="{FF2B5EF4-FFF2-40B4-BE49-F238E27FC236}">
                <a16:creationId xmlns:a16="http://schemas.microsoft.com/office/drawing/2014/main" id="{9E0F54FA-A58D-4DDE-9E12-9241185EA31F}"/>
              </a:ext>
            </a:extLst>
          </p:cNvPr>
          <p:cNvSpPr>
            <a:spLocks xmlns:a="http://schemas.openxmlformats.org/drawingml/2006/main" noGrp="1"/>
          </p:cNvSpPr>
          <p:nvPr/>
        </p:nvSpPr>
        <p:spPr>
          <a:xfrm xmlns:a="http://schemas.openxmlformats.org/drawingml/2006/main">
            <a:off x="609600" y="4524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DEC398"/>
                </a:solidFill>
                <a:latin typeface="Nimbus Sans"/>
                <a:ea typeface="Nimbus Sans"/>
                <a:cs typeface="Nimbus Sans"/>
              </a:defRPr>
            </a:defPPr>
          </a:lstStyle>
          <a:p xmlns:a="http://schemas.openxmlformats.org/drawingml/2006/main">
            <a:pPr algn="l">
              <a:buNone/>
              <a:defRPr sz="2400" b="1">
                <a:solidFill>
                  <a:srgbClr val="DEC398"/>
                </a:solidFill>
                <a:latin typeface="Nimbus Sans"/>
                <a:ea typeface="Nimbus Sans"/>
                <a:cs typeface="Nimbus Sans"/>
              </a:defRPr>
            </a:pPr>
            <a:r>
              <a:rPr sz="2400" b="1">
                <a:solidFill>
                  <a:srgbClr val="DEC398"/>
                </a:solidFill>
                <a:latin typeface="Nimbus Sans"/>
                <a:ea typeface="Nimbus Sans"/>
                <a:cs typeface="Nimbus Sans"/>
              </a:rPr>
              <a:t>Settlement and audit</a:t>
            </a:r>
          </a:p>
        </p:txBody>
      </p:sp>
      <p:sp>
        <p:nvSpPr>
          <p:cNvPr id="22" name="result-detail-2">
            <a:extLst xmlns:a="http://schemas.openxmlformats.org/drawingml/2006/main">
              <a:ext uri="{FF2B5EF4-FFF2-40B4-BE49-F238E27FC236}">
                <a16:creationId xmlns:a16="http://schemas.microsoft.com/office/drawing/2014/main" id="{9E1ED585-95BD-48D8-95FD-005390A83687}"/>
              </a:ext>
            </a:extLst>
          </p:cNvPr>
          <p:cNvSpPr>
            <a:spLocks xmlns:a="http://schemas.openxmlformats.org/drawingml/2006/main" noGrp="1"/>
          </p:cNvSpPr>
          <p:nvPr/>
        </p:nvSpPr>
        <p:spPr>
          <a:xfrm xmlns:a="http://schemas.openxmlformats.org/drawingml/2006/main">
            <a:off x="609600" y="5010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D8E4ED"/>
                </a:solidFill>
                <a:latin typeface="Nimbus Sans"/>
                <a:ea typeface="Nimbus Sans"/>
                <a:cs typeface="Nimbus Sans"/>
              </a:defRPr>
            </a:defPPr>
          </a:lstStyle>
          <a:p xmlns:a="http://schemas.openxmlformats.org/drawingml/2006/main">
            <a:pPr algn="l">
              <a:buNone/>
              <a:defRPr sz="2100" b="0">
                <a:solidFill>
                  <a:srgbClr val="D8E4ED"/>
                </a:solidFill>
                <a:latin typeface="Nimbus Sans"/>
                <a:ea typeface="Nimbus Sans"/>
                <a:cs typeface="Nimbus Sans"/>
              </a:defRPr>
            </a:pPr>
            <a:r>
              <a:rPr sz="2100" b="0">
                <a:solidFill>
                  <a:srgbClr val="D8E4ED"/>
                </a:solidFill>
                <a:latin typeface="Nimbus Sans"/>
                <a:ea typeface="Nimbus Sans"/>
                <a:cs typeface="Nimbus Sans"/>
              </a:rPr>
              <a:t>Repayment follows the locked allocation.</a:t>
            </a:r>
          </a:p>
          <a:p xmlns:a="http://schemas.openxmlformats.org/drawingml/2006/main">
            <a:pPr algn="l">
              <a:buNone/>
              <a:defRPr sz="2100" b="0">
                <a:solidFill>
                  <a:srgbClr val="D8E4ED"/>
                </a:solidFill>
                <a:latin typeface="Nimbus Sans"/>
                <a:ea typeface="Nimbus Sans"/>
                <a:cs typeface="Nimbus Sans"/>
              </a:defRPr>
            </a:pPr>
            <a:r>
              <a:rPr sz="2100" b="0">
                <a:solidFill>
                  <a:srgbClr val="D8E4ED"/>
                </a:solidFill>
                <a:latin typeface="Nimbus Sans"/>
                <a:ea typeface="Nimbus Sans"/>
                <a:cs typeface="Nimbus Sans"/>
              </a:rPr>
              <a:t>Events and receipts make the funds traceable.</a:t>
            </a:r>
          </a:p>
        </p:txBody>
      </p:sp>
    </p:spTree>
    <p:extLst>
      <p:ext uri="{BB962C8B-B14F-4D97-AF65-F5344CB8AC3E}">
        <p14:creationId xmlns:p14="http://schemas.microsoft.com/office/powerpoint/2010/main" val="40052547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15">
            <a:extLst xmlns:a="http://schemas.openxmlformats.org/drawingml/2006/main">
              <a:ext uri="{FF2B5EF4-FFF2-40B4-BE49-F238E27FC236}">
                <a16:creationId xmlns:a16="http://schemas.microsoft.com/office/drawing/2014/main" id="{F1F199AE-15D9-4412-BE1A-D5AD4EF36777}"/>
              </a:ext>
            </a:extLst>
          </p:cNvPr>
          <p:cNvSpPr>
            <a:spLocks xmlns:a="http://schemas.openxmlformats.org/drawingml/2006/main" noGrp="1"/>
          </p:cNvSpPr>
          <p:nvPr/>
        </p:nvSpPr>
        <p:spPr>
          <a:xfrm xmlns:a="http://schemas.openxmlformats.org/drawingml/2006/main">
            <a:off x="609600" y="4667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32D46"/>
                </a:solidFill>
                <a:latin typeface="Nimbus Sans"/>
                <a:ea typeface="Nimbus Sans"/>
                <a:cs typeface="Nimbus Sans"/>
              </a:defRPr>
            </a:defPPr>
          </a:lstStyle>
          <a:p xmlns:a="http://schemas.openxmlformats.org/drawingml/2006/main">
            <a:pPr algn="l">
              <a:buNone/>
              <a:defRPr sz="3300" b="1">
                <a:solidFill>
                  <a:srgbClr val="132D46"/>
                </a:solidFill>
                <a:latin typeface="Nimbus Sans"/>
                <a:ea typeface="Nimbus Sans"/>
                <a:cs typeface="Nimbus Sans"/>
              </a:defRPr>
            </a:pPr>
            <a:r>
              <a:rPr sz="3300" b="1">
                <a:solidFill>
                  <a:srgbClr val="132D46"/>
                </a:solidFill>
                <a:latin typeface="Nimbus Sans"/>
                <a:ea typeface="Nimbus Sans"/>
                <a:cs typeface="Nimbus Sans"/>
              </a:rPr>
              <a:t>Illustrative settlement calculation</a:t>
            </a:r>
          </a:p>
        </p:txBody>
      </p:sp>
      <p:sp>
        <p:nvSpPr>
          <p:cNvPr id="2" name="footnote-15">
            <a:extLst xmlns:a="http://schemas.openxmlformats.org/drawingml/2006/main">
              <a:ext uri="{FF2B5EF4-FFF2-40B4-BE49-F238E27FC236}">
                <a16:creationId xmlns:a16="http://schemas.microsoft.com/office/drawing/2014/main" id="{13A8D296-F007-4CB8-ADDB-67C2A6804C81}"/>
              </a:ext>
            </a:extLst>
          </p:cNvPr>
          <p:cNvSpPr>
            <a:spLocks xmlns:a="http://schemas.openxmlformats.org/drawingml/2006/main" noGrp="1"/>
          </p:cNvSpPr>
          <p:nvPr/>
        </p:nvSpPr>
        <p:spPr>
          <a:xfrm xmlns:a="http://schemas.openxmlformats.org/drawingml/2006/main">
            <a:off x="609600" y="61722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67784"/>
                </a:solidFill>
                <a:latin typeface="Nimbus Sans"/>
                <a:ea typeface="Nimbus Sans"/>
                <a:cs typeface="Nimbus Sans"/>
              </a:defRPr>
            </a:defPPr>
          </a:lstStyle>
          <a:p xmlns:a="http://schemas.openxmlformats.org/drawingml/2006/main">
            <a:pPr algn="l">
              <a:buNone/>
              <a:defRPr sz="1350" b="0">
                <a:solidFill>
                  <a:srgbClr val="667784"/>
                </a:solidFill>
                <a:latin typeface="Nimbus Sans"/>
                <a:ea typeface="Nimbus Sans"/>
                <a:cs typeface="Nimbus Sans"/>
              </a:defRPr>
            </a:pPr>
            <a:r>
              <a:rPr sz="1350" b="0">
                <a:solidFill>
                  <a:srgbClr val="667784"/>
                </a:solidFill>
                <a:latin typeface="Nimbus Sans"/>
                <a:ea typeface="Nimbus Sans"/>
                <a:cs typeface="Nimbus Sans"/>
              </a:rPr>
              <a:t>This example assumes a platform fee of 1% of principal. Term: 30 days; test ETH; Gas is separate.</a:t>
            </a:r>
          </a:p>
        </p:txBody>
      </p:sp>
      <p:sp>
        <p:nvSpPr>
          <p:cNvPr id="3" name="footer-rule-15">
            <a:extLst xmlns:a="http://schemas.openxmlformats.org/drawingml/2006/main">
              <a:ext uri="{FF2B5EF4-FFF2-40B4-BE49-F238E27FC236}">
                <a16:creationId xmlns:a16="http://schemas.microsoft.com/office/drawing/2014/main" id="{B9AE3B8C-C225-4563-B6E1-38764D0754C1}"/>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7620">
            <a:solidFill>
              <a:srgbClr val="CBD5DC"/>
            </a:solidFill>
            <a:prstDash val="solid"/>
          </a:ln>
        </p:spPr>
      </p:sp>
      <p:sp>
        <p:nvSpPr>
          <p:cNvPr id="4" name="brand-15">
            <a:extLst xmlns:a="http://schemas.openxmlformats.org/drawingml/2006/main">
              <a:ext uri="{FF2B5EF4-FFF2-40B4-BE49-F238E27FC236}">
                <a16:creationId xmlns:a16="http://schemas.microsoft.com/office/drawing/2014/main" id="{71299BF1-278A-497F-87FD-84275E453E53}"/>
              </a:ext>
            </a:extLst>
          </p:cNvPr>
          <p:cNvSpPr>
            <a:spLocks xmlns:a="http://schemas.openxmlformats.org/drawingml/2006/main" noGrp="1"/>
          </p:cNvSpPr>
          <p:nvPr/>
        </p:nvSpPr>
        <p:spPr>
          <a:xfrm xmlns:a="http://schemas.openxmlformats.org/drawingml/2006/main">
            <a:off x="609600" y="6591300"/>
            <a:ext cx="5810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667784"/>
                </a:solidFill>
                <a:latin typeface="Nimbus Sans"/>
                <a:ea typeface="Nimbus Sans"/>
                <a:cs typeface="Nimbus Sans"/>
              </a:defRPr>
            </a:defPPr>
          </a:lstStyle>
          <a:p xmlns:a="http://schemas.openxmlformats.org/drawingml/2006/main">
            <a:pPr algn="l">
              <a:buNone/>
              <a:defRPr sz="1125" b="0">
                <a:solidFill>
                  <a:srgbClr val="667784"/>
                </a:solidFill>
                <a:latin typeface="Nimbus Sans"/>
                <a:ea typeface="Nimbus Sans"/>
                <a:cs typeface="Nimbus Sans"/>
              </a:defRPr>
            </a:pPr>
            <a:r>
              <a:rPr sz="1125" b="0">
                <a:solidFill>
                  <a:srgbClr val="667784"/>
                </a:solidFill>
                <a:latin typeface="Nimbus Sans"/>
                <a:ea typeface="Nimbus Sans"/>
                <a:cs typeface="Nimbus Sans"/>
              </a:rPr>
              <a:t>SME Flow  /  Calculation backup</a:t>
            </a:r>
          </a:p>
        </p:txBody>
      </p:sp>
      <p:sp>
        <p:nvSpPr>
          <p:cNvPr id="5" name="folio-15">
            <a:extLst xmlns:a="http://schemas.openxmlformats.org/drawingml/2006/main">
              <a:ext uri="{FF2B5EF4-FFF2-40B4-BE49-F238E27FC236}">
                <a16:creationId xmlns:a16="http://schemas.microsoft.com/office/drawing/2014/main" id="{916A198D-521B-4AF0-A643-303C9483A044}"/>
              </a:ext>
            </a:extLst>
          </p:cNvPr>
          <p:cNvSpPr>
            <a:spLocks xmlns:a="http://schemas.openxmlformats.org/drawingml/2006/main" noGrp="1"/>
          </p:cNvSpPr>
          <p:nvPr/>
        </p:nvSpPr>
        <p:spPr>
          <a:xfrm xmlns:a="http://schemas.openxmlformats.org/drawingml/2006/main">
            <a:off x="11163300" y="659130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667784"/>
                </a:solidFill>
                <a:latin typeface="Nimbus Sans"/>
                <a:ea typeface="Nimbus Sans"/>
                <a:cs typeface="Nimbus Sans"/>
              </a:defRPr>
            </a:defPPr>
          </a:lstStyle>
          <a:p xmlns:a="http://schemas.openxmlformats.org/drawingml/2006/main">
            <a:pPr algn="r">
              <a:buNone/>
              <a:defRPr sz="1125" b="0">
                <a:solidFill>
                  <a:srgbClr val="667784"/>
                </a:solidFill>
                <a:latin typeface="Nimbus Sans"/>
                <a:ea typeface="Nimbus Sans"/>
                <a:cs typeface="Nimbus Sans"/>
              </a:defRPr>
            </a:pPr>
            <a:r>
              <a:rPr sz="1125" b="0">
                <a:solidFill>
                  <a:srgbClr val="667784"/>
                </a:solidFill>
                <a:latin typeface="Nimbus Sans"/>
                <a:ea typeface="Nimbus Sans"/>
                <a:cs typeface="Nimbus Sans"/>
              </a:rPr>
              <a:t>09</a:t>
            </a:r>
          </a:p>
        </p:txBody>
      </p:sp>
      <p:sp>
        <p:nvSpPr>
          <p:cNvPr id="6" name="arithmetic-input-heading">
            <a:extLst xmlns:a="http://schemas.openxmlformats.org/drawingml/2006/main">
              <a:ext uri="{FF2B5EF4-FFF2-40B4-BE49-F238E27FC236}">
                <a16:creationId xmlns:a16="http://schemas.microsoft.com/office/drawing/2014/main" id="{BCEE38E1-FD08-4B55-A1B1-0912E9A05659}"/>
              </a:ext>
            </a:extLst>
          </p:cNvPr>
          <p:cNvSpPr>
            <a:spLocks xmlns:a="http://schemas.openxmlformats.org/drawingml/2006/main" noGrp="1"/>
          </p:cNvSpPr>
          <p:nvPr/>
        </p:nvSpPr>
        <p:spPr>
          <a:xfrm xmlns:a="http://schemas.openxmlformats.org/drawingml/2006/main">
            <a:off x="609600" y="1514475"/>
            <a:ext cx="34575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86D96"/>
                </a:solidFill>
                <a:latin typeface="Nimbus Sans"/>
                <a:ea typeface="Nimbus Sans"/>
                <a:cs typeface="Nimbus Sans"/>
              </a:defRPr>
            </a:defPPr>
          </a:lstStyle>
          <a:p xmlns:a="http://schemas.openxmlformats.org/drawingml/2006/main">
            <a:pPr algn="l">
              <a:buNone/>
              <a:defRPr sz="2175" b="1">
                <a:solidFill>
                  <a:srgbClr val="286D96"/>
                </a:solidFill>
                <a:latin typeface="Nimbus Sans"/>
                <a:ea typeface="Nimbus Sans"/>
                <a:cs typeface="Nimbus Sans"/>
              </a:defRPr>
            </a:pPr>
            <a:r>
              <a:rPr sz="2175" b="1">
                <a:solidFill>
                  <a:srgbClr val="286D96"/>
                </a:solidFill>
                <a:latin typeface="Nimbus Sans"/>
                <a:ea typeface="Nimbus Sans"/>
                <a:cs typeface="Nimbus Sans"/>
              </a:rPr>
              <a:t>Scenario inputs</a:t>
            </a:r>
          </a:p>
        </p:txBody>
      </p:sp>
      <p:graphicFrame>
        <p:nvGraphicFramePr>
          <p:cNvPr id="7" name="arithmetic-inputs">
            <a:extLst xmlns:a="http://schemas.openxmlformats.org/drawingml/2006/main">
              <a:ext uri="{FF2B5EF4-FFF2-40B4-BE49-F238E27FC236}">
                <a16:creationId xmlns:a16="http://schemas.microsoft.com/office/drawing/2014/main" id="{9B65682E-083F-489A-8979-8C4DFC76FBF7}"/>
              </a:ext>
            </a:extLst>
          </p:cNvPr>
          <p:cNvGraphicFramePr/>
          <p:nvPr/>
        </p:nvGraphicFramePr>
        <p:xfrm>
          <a:off xmlns:a="http://schemas.openxmlformats.org/drawingml/2006/main" x="609600" y="2095500"/>
          <a:ext xmlns:a="http://schemas.openxmlformats.org/drawingml/2006/main" cx="3371850" cy="2400300"/>
        </p:xfrm>
        <a:graphic xmlns:a="http://schemas.openxmlformats.org/drawingml/2006/main">
          <a:graphicData uri="http://schemas.openxmlformats.org/drawingml/2006/table">
            <a:tbl>
              <a:tblPr firstRow="0" bandRow="0" bandCol="0"/>
              <a:tblGrid>
                <a:gridCol w="2028825"/>
                <a:gridCol w="1343025"/>
              </a:tblGrid>
              <a:tr h="342900">
                <a:tc>
                  <a:txBody>
                    <a:bodyPr lIns="114300" tIns="114300" rIns="114300" bIns="114300">
                      <a:noAutofit/>
                    </a:bodyPr>
                    <a:lstStyle/>
                    <a:p>
                      <a:pPr algn="l">
                        <a:buNone/>
                      </a:pPr>
                      <a:r>
                        <a:rPr sz="1725" b="1">
                          <a:solidFill>
                            <a:srgbClr val="132D46"/>
                          </a:solidFill>
                          <a:latin typeface="Nimbus Sans"/>
                          <a:ea typeface="Nimbus Sans"/>
                          <a:cs typeface="Nimbus Sans"/>
                        </a:rPr>
                        <a:t>Input</a:t>
                      </a:r>
                    </a:p>
                  </a:txBody>
                  <a:tcPr marL="91440" marR="91440" marT="45720" marB="45720" anchor="ctr">
                    <a:lnL w="0">
                      <a:noFill/>
                    </a:lnL>
                    <a:lnR w="0">
                      <a:noFill/>
                    </a:lnR>
                    <a:lnT w="9525">
                      <a:solidFill>
                        <a:srgbClr val="CBD5DC"/>
                      </a:solidFill>
                    </a:lnT>
                    <a:lnB w="9525">
                      <a:solidFill>
                        <a:srgbClr val="CBD5DC"/>
                      </a:solidFill>
                    </a:lnB>
                    <a:solidFill>
                      <a:srgbClr val="EDF2F6"/>
                    </a:solidFill>
                  </a:tcPr>
                </a:tc>
                <a:tc>
                  <a:txBody>
                    <a:bodyPr lIns="114300" tIns="114300" rIns="114300" bIns="114300">
                      <a:noAutofit/>
                    </a:bodyPr>
                    <a:lstStyle/>
                    <a:p>
                      <a:pPr algn="r">
                        <a:buNone/>
                      </a:pPr>
                      <a:r>
                        <a:rPr sz="1725" b="1">
                          <a:solidFill>
                            <a:srgbClr val="132D46"/>
                          </a:solidFill>
                          <a:latin typeface="Nimbus Sans"/>
                          <a:ea typeface="Nimbus Sans"/>
                          <a:cs typeface="Nimbus Sans"/>
                        </a:rPr>
                        <a:t>Value</a:t>
                      </a:r>
                    </a:p>
                  </a:txBody>
                  <a:tcPr marL="91440" marR="91440" marT="45720" marB="45720" anchor="ctr">
                    <a:lnR w="0">
                      <a:noFill/>
                    </a:lnR>
                    <a:lnT w="9525">
                      <a:solidFill>
                        <a:srgbClr val="CBD5DC"/>
                      </a:solidFill>
                    </a:lnT>
                    <a:lnB w="9525">
                      <a:solidFill>
                        <a:srgbClr val="CBD5DC"/>
                      </a:solidFill>
                    </a:lnB>
                    <a:solidFill>
                      <a:srgbClr val="EDF2F6"/>
                    </a:solidFill>
                  </a:tcPr>
                </a:tc>
              </a:tr>
              <a:tr h="342900">
                <a:tc>
                  <a:txBody>
                    <a:bodyPr lIns="114300" tIns="114300" rIns="114300" bIns="114300">
                      <a:noAutofit/>
                    </a:bodyPr>
                    <a:lstStyle/>
                    <a:p>
                      <a:pPr algn="l">
                        <a:buNone/>
                      </a:pPr>
                      <a:r>
                        <a:rPr sz="1725" b="1">
                          <a:solidFill>
                            <a:srgbClr val="132D46"/>
                          </a:solidFill>
                          <a:latin typeface="Nimbus Sans"/>
                          <a:ea typeface="Nimbus Sans"/>
                          <a:cs typeface="Nimbus Sans"/>
                        </a:rPr>
                        <a:t>Invoice value</a:t>
                      </a:r>
                    </a:p>
                  </a:txBody>
                  <a:tcPr marL="91440" marR="91440" marT="45720" marB="45720" anchor="ctr">
                    <a:lnL w="0">
                      <a:noFill/>
                    </a:lnL>
                    <a:lnR w="0">
                      <a:noFill/>
                    </a:lnR>
                    <a:lnB w="9525">
                      <a:solidFill>
                        <a:srgbClr val="CBD5DC"/>
                      </a:solidFill>
                    </a:lnB>
                    <a:solidFill>
                      <a:srgbClr val="FFFFFF"/>
                    </a:solidFill>
                  </a:tcPr>
                </a:tc>
                <a:tc>
                  <a:txBody>
                    <a:bodyPr lIns="114300" tIns="114300" rIns="114300" bIns="114300">
                      <a:noAutofit/>
                    </a:bodyPr>
                    <a:lstStyle/>
                    <a:p>
                      <a:pPr algn="r">
                        <a:buNone/>
                      </a:pPr>
                      <a:r>
                        <a:rPr sz="1725" b="0">
                          <a:solidFill>
                            <a:srgbClr val="132D46"/>
                          </a:solidFill>
                          <a:latin typeface="Nimbus Sans"/>
                          <a:ea typeface="Nimbus Sans"/>
                          <a:cs typeface="Nimbus Sans"/>
                        </a:rPr>
                        <a:t>0.05</a:t>
                      </a:r>
                    </a:p>
                  </a:txBody>
                  <a:tcPr marL="91440" marR="91440" marT="45720" marB="45720" anchor="ctr">
                    <a:lnR w="0">
                      <a:noFill/>
                    </a:lnR>
                    <a:lnB w="9525">
                      <a:solidFill>
                        <a:srgbClr val="CBD5DC"/>
                      </a:solidFill>
                    </a:lnB>
                    <a:solidFill>
                      <a:srgbClr val="FFFFFF"/>
                    </a:solidFill>
                  </a:tcPr>
                </a:tc>
              </a:tr>
              <a:tr h="342900">
                <a:tc>
                  <a:txBody>
                    <a:bodyPr lIns="114300" tIns="114300" rIns="114300" bIns="114300">
                      <a:noAutofit/>
                    </a:bodyPr>
                    <a:lstStyle/>
                    <a:p>
                      <a:pPr algn="l">
                        <a:buNone/>
                      </a:pPr>
                      <a:r>
                        <a:rPr sz="1725" b="1">
                          <a:solidFill>
                            <a:srgbClr val="132D46"/>
                          </a:solidFill>
                          <a:latin typeface="Nimbus Sans"/>
                          <a:ea typeface="Nimbus Sans"/>
                          <a:cs typeface="Nimbus Sans"/>
                        </a:rPr>
                        <a:t>Principal</a:t>
                      </a:r>
                    </a:p>
                  </a:txBody>
                  <a:tcPr marL="91440" marR="91440" marT="45720" marB="45720" anchor="ctr">
                    <a:lnL w="0">
                      <a:noFill/>
                    </a:lnL>
                    <a:lnR w="0">
                      <a:noFill/>
                    </a:lnR>
                    <a:lnB w="9525">
                      <a:solidFill>
                        <a:srgbClr val="CBD5DC"/>
                      </a:solidFill>
                    </a:lnB>
                    <a:solidFill>
                      <a:srgbClr val="FFFFFF"/>
                    </a:solidFill>
                  </a:tcPr>
                </a:tc>
                <a:tc>
                  <a:txBody>
                    <a:bodyPr lIns="114300" tIns="114300" rIns="114300" bIns="114300">
                      <a:noAutofit/>
                    </a:bodyPr>
                    <a:lstStyle/>
                    <a:p>
                      <a:pPr algn="r">
                        <a:buNone/>
                      </a:pPr>
                      <a:r>
                        <a:rPr sz="1725" b="0">
                          <a:solidFill>
                            <a:srgbClr val="132D46"/>
                          </a:solidFill>
                          <a:latin typeface="Nimbus Sans"/>
                          <a:ea typeface="Nimbus Sans"/>
                          <a:cs typeface="Nimbus Sans"/>
                        </a:rPr>
                        <a:t>0.04</a:t>
                      </a:r>
                    </a:p>
                  </a:txBody>
                  <a:tcPr marL="91440" marR="91440" marT="45720" marB="45720" anchor="ctr">
                    <a:lnR w="0">
                      <a:noFill/>
                    </a:lnR>
                    <a:lnB w="9525">
                      <a:solidFill>
                        <a:srgbClr val="CBD5DC"/>
                      </a:solidFill>
                    </a:lnB>
                    <a:solidFill>
                      <a:srgbClr val="FFFFFF"/>
                    </a:solidFill>
                  </a:tcPr>
                </a:tc>
              </a:tr>
              <a:tr h="342900">
                <a:tc>
                  <a:txBody>
                    <a:bodyPr lIns="114300" tIns="114300" rIns="114300" bIns="114300">
                      <a:noAutofit/>
                    </a:bodyPr>
                    <a:lstStyle/>
                    <a:p>
                      <a:pPr algn="l">
                        <a:buNone/>
                      </a:pPr>
                      <a:r>
                        <a:rPr sz="1725" b="1">
                          <a:solidFill>
                            <a:srgbClr val="132D46"/>
                          </a:solidFill>
                          <a:latin typeface="Nimbus Sans"/>
                          <a:ea typeface="Nimbus Sans"/>
                          <a:cs typeface="Nimbus Sans"/>
                        </a:rPr>
                        <a:t>Holdback</a:t>
                      </a:r>
                    </a:p>
                  </a:txBody>
                  <a:tcPr marL="91440" marR="91440" marT="45720" marB="45720" anchor="ctr">
                    <a:lnL w="0">
                      <a:noFill/>
                    </a:lnL>
                    <a:lnR w="0">
                      <a:noFill/>
                    </a:lnR>
                    <a:lnB w="9525">
                      <a:solidFill>
                        <a:srgbClr val="CBD5DC"/>
                      </a:solidFill>
                    </a:lnB>
                    <a:solidFill>
                      <a:srgbClr val="FFFFFF"/>
                    </a:solidFill>
                  </a:tcPr>
                </a:tc>
                <a:tc>
                  <a:txBody>
                    <a:bodyPr lIns="114300" tIns="114300" rIns="114300" bIns="114300">
                      <a:noAutofit/>
                    </a:bodyPr>
                    <a:lstStyle/>
                    <a:p>
                      <a:pPr algn="r">
                        <a:buNone/>
                      </a:pPr>
                      <a:r>
                        <a:rPr sz="1725" b="0">
                          <a:solidFill>
                            <a:srgbClr val="132D46"/>
                          </a:solidFill>
                          <a:latin typeface="Nimbus Sans"/>
                          <a:ea typeface="Nimbus Sans"/>
                          <a:cs typeface="Nimbus Sans"/>
                        </a:rPr>
                        <a:t>10% of P</a:t>
                      </a:r>
                    </a:p>
                  </a:txBody>
                  <a:tcPr marL="91440" marR="91440" marT="45720" marB="45720" anchor="ctr">
                    <a:lnR w="0">
                      <a:noFill/>
                    </a:lnR>
                    <a:lnB w="9525">
                      <a:solidFill>
                        <a:srgbClr val="CBD5DC"/>
                      </a:solidFill>
                    </a:lnB>
                    <a:solidFill>
                      <a:srgbClr val="FFFFFF"/>
                    </a:solidFill>
                  </a:tcPr>
                </a:tc>
              </a:tr>
              <a:tr h="342900">
                <a:tc>
                  <a:txBody>
                    <a:bodyPr lIns="114300" tIns="114300" rIns="114300" bIns="114300">
                      <a:noAutofit/>
                    </a:bodyPr>
                    <a:lstStyle/>
                    <a:p>
                      <a:pPr algn="l">
                        <a:buNone/>
                      </a:pPr>
                      <a:r>
                        <a:rPr sz="1725" b="1">
                          <a:solidFill>
                            <a:srgbClr val="132D46"/>
                          </a:solidFill>
                          <a:latin typeface="Nimbus Sans"/>
                          <a:ea typeface="Nimbus Sans"/>
                          <a:cs typeface="Nimbus Sans"/>
                        </a:rPr>
                        <a:t>Annual rate</a:t>
                      </a:r>
                    </a:p>
                  </a:txBody>
                  <a:tcPr marL="91440" marR="91440" marT="45720" marB="45720" anchor="ctr">
                    <a:lnL w="0">
                      <a:noFill/>
                    </a:lnL>
                    <a:lnR w="0">
                      <a:noFill/>
                    </a:lnR>
                    <a:lnB w="9525">
                      <a:solidFill>
                        <a:srgbClr val="CBD5DC"/>
                      </a:solidFill>
                    </a:lnB>
                    <a:solidFill>
                      <a:srgbClr val="FFFFFF"/>
                    </a:solidFill>
                  </a:tcPr>
                </a:tc>
                <a:tc>
                  <a:txBody>
                    <a:bodyPr lIns="114300" tIns="114300" rIns="114300" bIns="114300">
                      <a:noAutofit/>
                    </a:bodyPr>
                    <a:lstStyle/>
                    <a:p>
                      <a:pPr algn="r">
                        <a:buNone/>
                      </a:pPr>
                      <a:r>
                        <a:rPr sz="1725" b="0">
                          <a:solidFill>
                            <a:srgbClr val="132D46"/>
                          </a:solidFill>
                          <a:latin typeface="Nimbus Sans"/>
                          <a:ea typeface="Nimbus Sans"/>
                          <a:cs typeface="Nimbus Sans"/>
                        </a:rPr>
                        <a:t>6%</a:t>
                      </a:r>
                    </a:p>
                  </a:txBody>
                  <a:tcPr marL="91440" marR="91440" marT="45720" marB="45720" anchor="ctr">
                    <a:lnR w="0">
                      <a:noFill/>
                    </a:lnR>
                    <a:lnB w="9525">
                      <a:solidFill>
                        <a:srgbClr val="CBD5DC"/>
                      </a:solidFill>
                    </a:lnB>
                    <a:solidFill>
                      <a:srgbClr val="FFFFFF"/>
                    </a:solidFill>
                  </a:tcPr>
                </a:tc>
              </a:tr>
              <a:tr h="342900">
                <a:tc>
                  <a:txBody>
                    <a:bodyPr lIns="114300" tIns="114300" rIns="114300" bIns="114300">
                      <a:noAutofit/>
                    </a:bodyPr>
                    <a:lstStyle/>
                    <a:p>
                      <a:pPr algn="l">
                        <a:buNone/>
                      </a:pPr>
                      <a:r>
                        <a:rPr sz="1725" b="1">
                          <a:solidFill>
                            <a:srgbClr val="132D46"/>
                          </a:solidFill>
                          <a:latin typeface="Nimbus Sans"/>
                          <a:ea typeface="Nimbus Sans"/>
                          <a:cs typeface="Nimbus Sans"/>
                        </a:rPr>
                        <a:t>Term</a:t>
                      </a:r>
                    </a:p>
                  </a:txBody>
                  <a:tcPr marL="91440" marR="91440" marT="45720" marB="45720" anchor="ctr">
                    <a:lnL w="0">
                      <a:noFill/>
                    </a:lnL>
                    <a:lnR w="0">
                      <a:noFill/>
                    </a:lnR>
                    <a:lnB w="9525">
                      <a:solidFill>
                        <a:srgbClr val="CBD5DC"/>
                      </a:solidFill>
                    </a:lnB>
                    <a:solidFill>
                      <a:srgbClr val="FFFFFF"/>
                    </a:solidFill>
                  </a:tcPr>
                </a:tc>
                <a:tc>
                  <a:txBody>
                    <a:bodyPr lIns="114300" tIns="114300" rIns="114300" bIns="114300">
                      <a:noAutofit/>
                    </a:bodyPr>
                    <a:lstStyle/>
                    <a:p>
                      <a:pPr algn="r">
                        <a:buNone/>
                      </a:pPr>
                      <a:r>
                        <a:rPr sz="1725" b="0">
                          <a:solidFill>
                            <a:srgbClr val="132D46"/>
                          </a:solidFill>
                          <a:latin typeface="Nimbus Sans"/>
                          <a:ea typeface="Nimbus Sans"/>
                          <a:cs typeface="Nimbus Sans"/>
                        </a:rPr>
                        <a:t>30 days</a:t>
                      </a:r>
                    </a:p>
                  </a:txBody>
                  <a:tcPr marL="91440" marR="91440" marT="45720" marB="45720" anchor="ctr">
                    <a:lnR w="0">
                      <a:noFill/>
                    </a:lnR>
                    <a:lnB w="9525">
                      <a:solidFill>
                        <a:srgbClr val="CBD5DC"/>
                      </a:solidFill>
                    </a:lnB>
                    <a:solidFill>
                      <a:srgbClr val="FFFFFF"/>
                    </a:solidFill>
                  </a:tcPr>
                </a:tc>
              </a:tr>
              <a:tr h="342900">
                <a:tc>
                  <a:txBody>
                    <a:bodyPr lIns="114300" tIns="114300" rIns="114300" bIns="114300">
                      <a:noAutofit/>
                    </a:bodyPr>
                    <a:lstStyle/>
                    <a:p>
                      <a:pPr algn="l">
                        <a:buNone/>
                      </a:pPr>
                      <a:r>
                        <a:rPr sz="1725" b="1">
                          <a:solidFill>
                            <a:srgbClr val="132D46"/>
                          </a:solidFill>
                          <a:latin typeface="Nimbus Sans"/>
                          <a:ea typeface="Nimbus Sans"/>
                          <a:cs typeface="Nimbus Sans"/>
                        </a:rPr>
                        <a:t>Platform fee</a:t>
                      </a:r>
                    </a:p>
                  </a:txBody>
                  <a:tcPr marL="91440" marR="91440" marT="45720" marB="45720" anchor="ctr">
                    <a:lnL w="0">
                      <a:noFill/>
                    </a:lnL>
                    <a:lnR w="0">
                      <a:noFill/>
                    </a:lnR>
                    <a:lnB w="9525">
                      <a:solidFill>
                        <a:srgbClr val="CBD5DC"/>
                      </a:solidFill>
                    </a:lnB>
                    <a:solidFill>
                      <a:srgbClr val="FFFFFF"/>
                    </a:solidFill>
                  </a:tcPr>
                </a:tc>
                <a:tc>
                  <a:txBody>
                    <a:bodyPr lIns="114300" tIns="114300" rIns="114300" bIns="114300">
                      <a:noAutofit/>
                    </a:bodyPr>
                    <a:lstStyle/>
                    <a:p>
                      <a:pPr algn="r">
                        <a:buNone/>
                      </a:pPr>
                      <a:r>
                        <a:rPr sz="1725" b="0">
                          <a:solidFill>
                            <a:srgbClr val="132D46"/>
                          </a:solidFill>
                          <a:latin typeface="Nimbus Sans"/>
                          <a:ea typeface="Nimbus Sans"/>
                          <a:cs typeface="Nimbus Sans"/>
                        </a:rPr>
                        <a:t>1% of P</a:t>
                      </a:r>
                    </a:p>
                  </a:txBody>
                  <a:tcPr marL="91440" marR="91440" marT="45720" marB="45720" anchor="ctr">
                    <a:lnR w="0">
                      <a:noFill/>
                    </a:lnR>
                    <a:lnB w="9525">
                      <a:solidFill>
                        <a:srgbClr val="CBD5DC"/>
                      </a:solidFill>
                    </a:lnB>
                    <a:solidFill>
                      <a:srgbClr val="FFFFFF"/>
                    </a:solidFill>
                  </a:tcPr>
                </a:tc>
              </a:tr>
            </a:tbl>
          </a:graphicData>
        </a:graphic>
      </p:graphicFrame>
      <p:sp>
        <p:nvSpPr>
          <p:cNvPr id="8" name="arithmetic-input-rule">
            <a:extLst xmlns:a="http://schemas.openxmlformats.org/drawingml/2006/main">
              <a:ext uri="{FF2B5EF4-FFF2-40B4-BE49-F238E27FC236}">
                <a16:creationId xmlns:a16="http://schemas.microsoft.com/office/drawing/2014/main" id="{D9580B68-A959-4224-BA24-21E9AB88173F}"/>
              </a:ext>
            </a:extLst>
          </p:cNvPr>
          <p:cNvSpPr>
            <a:spLocks xmlns:a="http://schemas.openxmlformats.org/drawingml/2006/main" noGrp="1"/>
          </p:cNvSpPr>
          <p:nvPr/>
        </p:nvSpPr>
        <p:spPr>
          <a:xfrm xmlns:a="http://schemas.openxmlformats.org/drawingml/2006/main">
            <a:off x="609600" y="4657725"/>
            <a:ext cx="3286125" cy="0"/>
          </a:xfrm>
          <a:prstGeom xmlns:a="http://schemas.openxmlformats.org/drawingml/2006/main" prst="line">
            <a:avLst/>
          </a:prstGeom>
          <a:noFill xmlns:a="http://schemas.openxmlformats.org/drawingml/2006/main"/>
          <a:ln xmlns:a="http://schemas.openxmlformats.org/drawingml/2006/main" w="9525">
            <a:solidFill>
              <a:srgbClr val="CBD5DC"/>
            </a:solidFill>
            <a:prstDash val="solid"/>
          </a:ln>
        </p:spPr>
      </p:sp>
      <p:sp>
        <p:nvSpPr>
          <p:cNvPr id="9" name="arithmetic-locked">
            <a:extLst xmlns:a="http://schemas.openxmlformats.org/drawingml/2006/main">
              <a:ext uri="{FF2B5EF4-FFF2-40B4-BE49-F238E27FC236}">
                <a16:creationId xmlns:a16="http://schemas.microsoft.com/office/drawing/2014/main" id="{B1D1701A-7ACB-426D-8BB2-2D447EDDE4DD}"/>
              </a:ext>
            </a:extLst>
          </p:cNvPr>
          <p:cNvSpPr>
            <a:spLocks xmlns:a="http://schemas.openxmlformats.org/drawingml/2006/main" noGrp="1"/>
          </p:cNvSpPr>
          <p:nvPr/>
        </p:nvSpPr>
        <p:spPr>
          <a:xfrm xmlns:a="http://schemas.openxmlformats.org/drawingml/2006/main">
            <a:off x="609600" y="4905375"/>
            <a:ext cx="3371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86D96"/>
                </a:solidFill>
                <a:latin typeface="Nimbus Sans"/>
                <a:ea typeface="Nimbus Sans"/>
                <a:cs typeface="Nimbus Sans"/>
              </a:defRPr>
            </a:defPPr>
          </a:lstStyle>
          <a:p xmlns:a="http://schemas.openxmlformats.org/drawingml/2006/main">
            <a:pPr algn="l">
              <a:buNone/>
              <a:defRPr sz="1950" b="0">
                <a:solidFill>
                  <a:srgbClr val="286D96"/>
                </a:solidFill>
                <a:latin typeface="Nimbus Sans"/>
                <a:ea typeface="Nimbus Sans"/>
                <a:cs typeface="Nimbus Sans"/>
              </a:defRPr>
            </a:pPr>
            <a:r>
              <a:rPr sz="1950" b="0">
                <a:solidFill>
                  <a:srgbClr val="286D96"/>
                </a:solidFill>
                <a:latin typeface="Nimbus Sans"/>
                <a:ea typeface="Nimbus Sans"/>
                <a:cs typeface="Nimbus Sans"/>
              </a:rPr>
              <a:t>R = 0.004000</a:t>
            </a:r>
          </a:p>
          <a:p xmlns:a="http://schemas.openxmlformats.org/drawingml/2006/main">
            <a:pPr algn="l">
              <a:buNone/>
              <a:defRPr sz="1950" b="0">
                <a:solidFill>
                  <a:srgbClr val="286D96"/>
                </a:solidFill>
                <a:latin typeface="Nimbus Sans"/>
                <a:ea typeface="Nimbus Sans"/>
                <a:cs typeface="Nimbus Sans"/>
              </a:defRPr>
            </a:pPr>
            <a:r>
              <a:rPr sz="1950" b="0">
                <a:solidFill>
                  <a:srgbClr val="286D96"/>
                </a:solidFill>
                <a:latin typeface="Nimbus Sans"/>
                <a:ea typeface="Nimbus Sans"/>
                <a:cs typeface="Nimbus Sans"/>
              </a:rPr>
              <a:t>I = 0.000197260274</a:t>
            </a:r>
          </a:p>
          <a:p xmlns:a="http://schemas.openxmlformats.org/drawingml/2006/main">
            <a:pPr algn="l">
              <a:buNone/>
              <a:defRPr sz="1950" b="0">
                <a:solidFill>
                  <a:srgbClr val="286D96"/>
                </a:solidFill>
                <a:latin typeface="Nimbus Sans"/>
                <a:ea typeface="Nimbus Sans"/>
                <a:cs typeface="Nimbus Sans"/>
              </a:defRPr>
            </a:pPr>
            <a:r>
              <a:rPr sz="1950" b="0">
                <a:solidFill>
                  <a:srgbClr val="286D96"/>
                </a:solidFill>
                <a:latin typeface="Nimbus Sans"/>
                <a:ea typeface="Nimbus Sans"/>
                <a:cs typeface="Nimbus Sans"/>
              </a:rPr>
              <a:t>F = 0.000400</a:t>
            </a:r>
          </a:p>
        </p:txBody>
      </p:sp>
      <p:graphicFrame>
        <p:nvGraphicFramePr>
          <p:cNvPr id="10" name="settlement-table">
            <a:extLst xmlns:a="http://schemas.openxmlformats.org/drawingml/2006/main">
              <a:ext uri="{FF2B5EF4-FFF2-40B4-BE49-F238E27FC236}">
                <a16:creationId xmlns:a16="http://schemas.microsoft.com/office/drawing/2014/main" id="{9C6954A6-FE70-4635-84E3-E44FB8323F32}"/>
              </a:ext>
            </a:extLst>
          </p:cNvPr>
          <p:cNvGraphicFramePr/>
          <p:nvPr/>
        </p:nvGraphicFramePr>
        <p:xfrm>
          <a:off xmlns:a="http://schemas.openxmlformats.org/drawingml/2006/main" x="4505325" y="1590675"/>
          <a:ext xmlns:a="http://schemas.openxmlformats.org/drawingml/2006/main" cx="7077075" cy="3533775"/>
        </p:xfrm>
        <a:graphic xmlns:a="http://schemas.openxmlformats.org/drawingml/2006/main">
          <a:graphicData uri="http://schemas.openxmlformats.org/drawingml/2006/table">
            <a:tbl>
              <a:tblPr firstRow="0" bandRow="0" bandCol="0"/>
              <a:tblGrid>
                <a:gridCol w="4495800"/>
                <a:gridCol w="2581275"/>
              </a:tblGrid>
              <a:tr h="533400">
                <a:tc>
                  <a:txBody>
                    <a:bodyPr lIns="114300" tIns="114300" rIns="114300" bIns="114300">
                      <a:noAutofit/>
                    </a:bodyPr>
                    <a:lstStyle/>
                    <a:p>
                      <a:pPr algn="l">
                        <a:buNone/>
                      </a:pPr>
                      <a:r>
                        <a:rPr sz="1950" b="1">
                          <a:solidFill>
                            <a:srgbClr val="132D46"/>
                          </a:solidFill>
                          <a:latin typeface="Nimbus Sans"/>
                          <a:ea typeface="Nimbus Sans"/>
                          <a:cs typeface="Nimbus Sans"/>
                        </a:rPr>
                        <a:t>Recipient / stage</a:t>
                      </a:r>
                    </a:p>
                  </a:txBody>
                  <a:tcPr marL="91440" marR="91440" marT="45720" marB="45720" anchor="ctr">
                    <a:lnL w="0">
                      <a:noFill/>
                    </a:lnL>
                    <a:lnR w="0">
                      <a:noFill/>
                    </a:lnR>
                    <a:lnT w="9525">
                      <a:solidFill>
                        <a:srgbClr val="CBD5DC"/>
                      </a:solidFill>
                    </a:lnT>
                    <a:lnB w="9525">
                      <a:solidFill>
                        <a:srgbClr val="CBD5DC"/>
                      </a:solidFill>
                    </a:lnB>
                    <a:solidFill>
                      <a:srgbClr val="EDF2F6"/>
                    </a:solidFill>
                  </a:tcPr>
                </a:tc>
                <a:tc>
                  <a:txBody>
                    <a:bodyPr lIns="114300" tIns="114300" rIns="114300" bIns="114300">
                      <a:noAutofit/>
                    </a:bodyPr>
                    <a:lstStyle/>
                    <a:p>
                      <a:pPr algn="r">
                        <a:buNone/>
                      </a:pPr>
                      <a:r>
                        <a:rPr sz="1950" b="1">
                          <a:solidFill>
                            <a:srgbClr val="132D46"/>
                          </a:solidFill>
                          <a:latin typeface="Nimbus Sans"/>
                          <a:ea typeface="Nimbus Sans"/>
                          <a:cs typeface="Nimbus Sans"/>
                        </a:rPr>
                        <a:t>Test ETH</a:t>
                      </a:r>
                    </a:p>
                  </a:txBody>
                  <a:tcPr marL="91440" marR="91440" marT="45720" marB="45720" anchor="ctr">
                    <a:lnR w="0">
                      <a:noFill/>
                    </a:lnR>
                    <a:lnT w="9525">
                      <a:solidFill>
                        <a:srgbClr val="CBD5DC"/>
                      </a:solidFill>
                    </a:lnT>
                    <a:lnB w="9525">
                      <a:solidFill>
                        <a:srgbClr val="CBD5DC"/>
                      </a:solidFill>
                    </a:lnB>
                    <a:solidFill>
                      <a:srgbClr val="EDF2F6"/>
                    </a:solidFill>
                  </a:tcPr>
                </a:tc>
              </a:tr>
              <a:tr h="600075">
                <a:tc>
                  <a:txBody>
                    <a:bodyPr lIns="114300" tIns="114300" rIns="114300" bIns="114300">
                      <a:noAutofit/>
                    </a:bodyPr>
                    <a:lstStyle/>
                    <a:p>
                      <a:pPr algn="l">
                        <a:buNone/>
                      </a:pPr>
                      <a:r>
                        <a:rPr sz="1950" b="1">
                          <a:solidFill>
                            <a:srgbClr val="132D46"/>
                          </a:solidFill>
                          <a:latin typeface="Nimbus Sans"/>
                          <a:ea typeface="Nimbus Sans"/>
                          <a:cs typeface="Nimbus Sans"/>
                        </a:rPr>
                        <a:t>Supplier upfront</a:t>
                      </a:r>
                    </a:p>
                  </a:txBody>
                  <a:tcPr marL="91440" marR="91440" marT="45720" marB="45720" anchor="ctr">
                    <a:lnL w="0">
                      <a:noFill/>
                    </a:lnL>
                    <a:lnR w="0">
                      <a:noFill/>
                    </a:lnR>
                    <a:lnB w="9525">
                      <a:solidFill>
                        <a:srgbClr val="CBD5DC"/>
                      </a:solidFill>
                    </a:lnB>
                    <a:solidFill>
                      <a:srgbClr val="FFFFFF"/>
                    </a:solidFill>
                  </a:tcPr>
                </a:tc>
                <a:tc>
                  <a:txBody>
                    <a:bodyPr lIns="114300" tIns="114300" rIns="114300" bIns="114300">
                      <a:noAutofit/>
                    </a:bodyPr>
                    <a:lstStyle/>
                    <a:p>
                      <a:pPr algn="r">
                        <a:buNone/>
                      </a:pPr>
                      <a:r>
                        <a:rPr sz="1950" b="0">
                          <a:solidFill>
                            <a:srgbClr val="132D46"/>
                          </a:solidFill>
                          <a:latin typeface="Nimbus Sans"/>
                          <a:ea typeface="Nimbus Sans"/>
                          <a:cs typeface="Nimbus Sans"/>
                        </a:rPr>
                        <a:t>0.036000</a:t>
                      </a:r>
                    </a:p>
                  </a:txBody>
                  <a:tcPr marL="91440" marR="91440" marT="45720" marB="45720" anchor="ctr">
                    <a:lnR w="0">
                      <a:noFill/>
                    </a:lnR>
                    <a:lnB w="9525">
                      <a:solidFill>
                        <a:srgbClr val="CBD5DC"/>
                      </a:solidFill>
                    </a:lnB>
                    <a:solidFill>
                      <a:srgbClr val="FFFFFF"/>
                    </a:solidFill>
                  </a:tcPr>
                </a:tc>
              </a:tr>
              <a:tr h="600075">
                <a:tc>
                  <a:txBody>
                    <a:bodyPr lIns="114300" tIns="114300" rIns="114300" bIns="114300">
                      <a:noAutofit/>
                    </a:bodyPr>
                    <a:lstStyle/>
                    <a:p>
                      <a:pPr algn="l">
                        <a:buNone/>
                      </a:pPr>
                      <a:r>
                        <a:rPr sz="1950" b="1">
                          <a:solidFill>
                            <a:srgbClr val="132D46"/>
                          </a:solidFill>
                          <a:latin typeface="Nimbus Sans"/>
                          <a:ea typeface="Nimbus Sans"/>
                          <a:cs typeface="Nimbus Sans"/>
                        </a:rPr>
                        <a:t>Funder at settlement</a:t>
                      </a:r>
                    </a:p>
                  </a:txBody>
                  <a:tcPr marL="91440" marR="91440" marT="45720" marB="45720" anchor="ctr">
                    <a:lnL w="0">
                      <a:noFill/>
                    </a:lnL>
                    <a:lnR w="0">
                      <a:noFill/>
                    </a:lnR>
                    <a:lnB w="9525">
                      <a:solidFill>
                        <a:srgbClr val="CBD5DC"/>
                      </a:solidFill>
                    </a:lnB>
                    <a:solidFill>
                      <a:srgbClr val="FFFFFF"/>
                    </a:solidFill>
                  </a:tcPr>
                </a:tc>
                <a:tc>
                  <a:txBody>
                    <a:bodyPr lIns="114300" tIns="114300" rIns="114300" bIns="114300">
                      <a:noAutofit/>
                    </a:bodyPr>
                    <a:lstStyle/>
                    <a:p>
                      <a:pPr algn="r">
                        <a:buNone/>
                      </a:pPr>
                      <a:r>
                        <a:rPr sz="1950" b="0">
                          <a:solidFill>
                            <a:srgbClr val="132D46"/>
                          </a:solidFill>
                          <a:latin typeface="Nimbus Sans"/>
                          <a:ea typeface="Nimbus Sans"/>
                          <a:cs typeface="Nimbus Sans"/>
                        </a:rPr>
                        <a:t>0.040197</a:t>
                      </a:r>
                    </a:p>
                  </a:txBody>
                  <a:tcPr marL="91440" marR="91440" marT="45720" marB="45720" anchor="ctr">
                    <a:lnR w="0">
                      <a:noFill/>
                    </a:lnR>
                    <a:lnB w="9525">
                      <a:solidFill>
                        <a:srgbClr val="CBD5DC"/>
                      </a:solidFill>
                    </a:lnB>
                    <a:solidFill>
                      <a:srgbClr val="FFFFFF"/>
                    </a:solidFill>
                  </a:tcPr>
                </a:tc>
              </a:tr>
              <a:tr h="600075">
                <a:tc>
                  <a:txBody>
                    <a:bodyPr lIns="114300" tIns="114300" rIns="114300" bIns="114300">
                      <a:noAutofit/>
                    </a:bodyPr>
                    <a:lstStyle/>
                    <a:p>
                      <a:pPr algn="l">
                        <a:buNone/>
                      </a:pPr>
                      <a:r>
                        <a:rPr sz="1950" b="1">
                          <a:solidFill>
                            <a:srgbClr val="132D46"/>
                          </a:solidFill>
                          <a:latin typeface="Nimbus Sans"/>
                          <a:ea typeface="Nimbus Sans"/>
                          <a:cs typeface="Nimbus Sans"/>
                        </a:rPr>
                        <a:t>Supplier final</a:t>
                      </a:r>
                    </a:p>
                  </a:txBody>
                  <a:tcPr marL="91440" marR="91440" marT="45720" marB="45720" anchor="ctr">
                    <a:lnL w="0">
                      <a:noFill/>
                    </a:lnL>
                    <a:lnR w="0">
                      <a:noFill/>
                    </a:lnR>
                    <a:lnB w="9525">
                      <a:solidFill>
                        <a:srgbClr val="CBD5DC"/>
                      </a:solidFill>
                    </a:lnB>
                    <a:solidFill>
                      <a:srgbClr val="FFFFFF"/>
                    </a:solidFill>
                  </a:tcPr>
                </a:tc>
                <a:tc>
                  <a:txBody>
                    <a:bodyPr lIns="114300" tIns="114300" rIns="114300" bIns="114300">
                      <a:noAutofit/>
                    </a:bodyPr>
                    <a:lstStyle/>
                    <a:p>
                      <a:pPr algn="r">
                        <a:buNone/>
                      </a:pPr>
                      <a:r>
                        <a:rPr sz="1950" b="0">
                          <a:solidFill>
                            <a:srgbClr val="132D46"/>
                          </a:solidFill>
                          <a:latin typeface="Nimbus Sans"/>
                          <a:ea typeface="Nimbus Sans"/>
                          <a:cs typeface="Nimbus Sans"/>
                        </a:rPr>
                        <a:t>0.013403</a:t>
                      </a:r>
                    </a:p>
                  </a:txBody>
                  <a:tcPr marL="91440" marR="91440" marT="45720" marB="45720" anchor="ctr">
                    <a:lnR w="0">
                      <a:noFill/>
                    </a:lnR>
                    <a:lnB w="9525">
                      <a:solidFill>
                        <a:srgbClr val="CBD5DC"/>
                      </a:solidFill>
                    </a:lnB>
                    <a:solidFill>
                      <a:srgbClr val="FFFFFF"/>
                    </a:solidFill>
                  </a:tcPr>
                </a:tc>
              </a:tr>
              <a:tr h="600075">
                <a:tc>
                  <a:txBody>
                    <a:bodyPr lIns="114300" tIns="114300" rIns="114300" bIns="114300">
                      <a:noAutofit/>
                    </a:bodyPr>
                    <a:lstStyle/>
                    <a:p>
                      <a:pPr algn="l">
                        <a:buNone/>
                      </a:pPr>
                      <a:r>
                        <a:rPr sz="1950" b="1">
                          <a:solidFill>
                            <a:srgbClr val="132D46"/>
                          </a:solidFill>
                          <a:latin typeface="Nimbus Sans"/>
                          <a:ea typeface="Nimbus Sans"/>
                          <a:cs typeface="Nimbus Sans"/>
                        </a:rPr>
                        <a:t>Treasury fee</a:t>
                      </a:r>
                    </a:p>
                  </a:txBody>
                  <a:tcPr marL="91440" marR="91440" marT="45720" marB="45720" anchor="ctr">
                    <a:lnL w="0">
                      <a:noFill/>
                    </a:lnL>
                    <a:lnR w="0">
                      <a:noFill/>
                    </a:lnR>
                    <a:lnB w="9525">
                      <a:solidFill>
                        <a:srgbClr val="CBD5DC"/>
                      </a:solidFill>
                    </a:lnB>
                    <a:solidFill>
                      <a:srgbClr val="FFFFFF"/>
                    </a:solidFill>
                  </a:tcPr>
                </a:tc>
                <a:tc>
                  <a:txBody>
                    <a:bodyPr lIns="114300" tIns="114300" rIns="114300" bIns="114300">
                      <a:noAutofit/>
                    </a:bodyPr>
                    <a:lstStyle/>
                    <a:p>
                      <a:pPr algn="r">
                        <a:buNone/>
                      </a:pPr>
                      <a:r>
                        <a:rPr sz="1950" b="0">
                          <a:solidFill>
                            <a:srgbClr val="132D46"/>
                          </a:solidFill>
                          <a:latin typeface="Nimbus Sans"/>
                          <a:ea typeface="Nimbus Sans"/>
                          <a:cs typeface="Nimbus Sans"/>
                        </a:rPr>
                        <a:t>0.000400</a:t>
                      </a:r>
                    </a:p>
                  </a:txBody>
                  <a:tcPr marL="91440" marR="91440" marT="45720" marB="45720" anchor="ctr">
                    <a:lnR w="0">
                      <a:noFill/>
                    </a:lnR>
                    <a:lnB w="9525">
                      <a:solidFill>
                        <a:srgbClr val="CBD5DC"/>
                      </a:solidFill>
                    </a:lnB>
                    <a:solidFill>
                      <a:srgbClr val="FFFFFF"/>
                    </a:solidFill>
                  </a:tcPr>
                </a:tc>
              </a:tr>
              <a:tr h="600075">
                <a:tc>
                  <a:txBody>
                    <a:bodyPr lIns="114300" tIns="114300" rIns="114300" bIns="114300">
                      <a:noAutofit/>
                    </a:bodyPr>
                    <a:lstStyle/>
                    <a:p>
                      <a:pPr algn="l">
                        <a:buNone/>
                      </a:pPr>
                      <a:r>
                        <a:rPr sz="1950" b="1">
                          <a:solidFill>
                            <a:srgbClr val="132D46"/>
                          </a:solidFill>
                          <a:latin typeface="Nimbus Sans"/>
                          <a:ea typeface="Nimbus Sans"/>
                          <a:cs typeface="Nimbus Sans"/>
                        </a:rPr>
                        <a:t>Total payout</a:t>
                      </a:r>
                    </a:p>
                  </a:txBody>
                  <a:tcPr marL="91440" marR="91440" marT="45720" marB="45720" anchor="ctr">
                    <a:lnL w="0">
                      <a:noFill/>
                    </a:lnL>
                    <a:lnR w="0">
                      <a:noFill/>
                    </a:lnR>
                    <a:lnB w="9525">
                      <a:solidFill>
                        <a:srgbClr val="CBD5DC"/>
                      </a:solidFill>
                    </a:lnB>
                    <a:solidFill>
                      <a:srgbClr val="F6F8FA"/>
                    </a:solidFill>
                  </a:tcPr>
                </a:tc>
                <a:tc>
                  <a:txBody>
                    <a:bodyPr lIns="114300" tIns="114300" rIns="114300" bIns="114300">
                      <a:noAutofit/>
                    </a:bodyPr>
                    <a:lstStyle/>
                    <a:p>
                      <a:pPr algn="r">
                        <a:buNone/>
                      </a:pPr>
                      <a:r>
                        <a:rPr sz="1950" b="1">
                          <a:solidFill>
                            <a:srgbClr val="132D46"/>
                          </a:solidFill>
                          <a:latin typeface="Nimbus Sans"/>
                          <a:ea typeface="Nimbus Sans"/>
                          <a:cs typeface="Nimbus Sans"/>
                        </a:rPr>
                        <a:t>0.090000</a:t>
                      </a:r>
                    </a:p>
                  </a:txBody>
                  <a:tcPr marL="91440" marR="91440" marT="45720" marB="45720" anchor="ctr">
                    <a:lnR w="0">
                      <a:noFill/>
                    </a:lnR>
                    <a:lnB w="9525">
                      <a:solidFill>
                        <a:srgbClr val="CBD5DC"/>
                      </a:solidFill>
                    </a:lnB>
                    <a:solidFill>
                      <a:srgbClr val="F6F8FA"/>
                    </a:solidFill>
                  </a:tcPr>
                </a:tc>
              </a:tr>
            </a:tbl>
          </a:graphicData>
        </a:graphic>
      </p:graphicFrame>
      <p:sp>
        <p:nvSpPr>
          <p:cNvPr id="11" name="fund-conservation">
            <a:extLst xmlns:a="http://schemas.openxmlformats.org/drawingml/2006/main">
              <a:ext uri="{FF2B5EF4-FFF2-40B4-BE49-F238E27FC236}">
                <a16:creationId xmlns:a16="http://schemas.microsoft.com/office/drawing/2014/main" id="{5D87BB8B-F5E4-4A37-8659-D0938950C910}"/>
              </a:ext>
            </a:extLst>
          </p:cNvPr>
          <p:cNvSpPr>
            <a:spLocks xmlns:a="http://schemas.openxmlformats.org/drawingml/2006/main" noGrp="1"/>
          </p:cNvSpPr>
          <p:nvPr/>
        </p:nvSpPr>
        <p:spPr>
          <a:xfrm xmlns:a="http://schemas.openxmlformats.org/drawingml/2006/main">
            <a:off x="4514850" y="5438775"/>
            <a:ext cx="704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32D46"/>
                </a:solidFill>
                <a:latin typeface="Nimbus Sans"/>
                <a:ea typeface="Nimbus Sans"/>
                <a:cs typeface="Nimbus Sans"/>
              </a:defRPr>
            </a:defPPr>
          </a:lstStyle>
          <a:p xmlns:a="http://schemas.openxmlformats.org/drawingml/2006/main">
            <a:pPr algn="l">
              <a:buNone/>
              <a:defRPr sz="2100" b="1">
                <a:solidFill>
                  <a:srgbClr val="132D46"/>
                </a:solidFill>
                <a:latin typeface="Nimbus Sans"/>
                <a:ea typeface="Nimbus Sans"/>
                <a:cs typeface="Nimbus Sans"/>
              </a:defRPr>
            </a:pPr>
            <a:r>
              <a:rPr sz="2100" b="1">
                <a:solidFill>
                  <a:srgbClr val="132D46"/>
                </a:solidFill>
                <a:latin typeface="Nimbus Sans"/>
                <a:ea typeface="Nimbus Sans"/>
                <a:cs typeface="Nimbus Sans"/>
              </a:rPr>
              <a:t>Principal + Buyer repayment = 0.090000</a:t>
            </a:r>
          </a:p>
        </p:txBody>
      </p:sp>
      <p:sp>
        <p:nvSpPr>
          <p:cNvPr id="12" name="allocation-formula">
            <a:extLst xmlns:a="http://schemas.openxmlformats.org/drawingml/2006/main">
              <a:ext uri="{FF2B5EF4-FFF2-40B4-BE49-F238E27FC236}">
                <a16:creationId xmlns:a16="http://schemas.microsoft.com/office/drawing/2014/main" id="{E024F523-1DF8-4CE1-BD01-66182147665D}"/>
              </a:ext>
            </a:extLst>
          </p:cNvPr>
          <p:cNvSpPr>
            <a:spLocks xmlns:a="http://schemas.openxmlformats.org/drawingml/2006/main" noGrp="1"/>
          </p:cNvSpPr>
          <p:nvPr/>
        </p:nvSpPr>
        <p:spPr>
          <a:xfrm xmlns:a="http://schemas.openxmlformats.org/drawingml/2006/main">
            <a:off x="4514850" y="5857875"/>
            <a:ext cx="704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67784"/>
                </a:solidFill>
                <a:latin typeface="Nimbus Sans"/>
                <a:ea typeface="Nimbus Sans"/>
                <a:cs typeface="Nimbus Sans"/>
              </a:defRPr>
            </a:defPPr>
          </a:lstStyle>
          <a:p xmlns:a="http://schemas.openxmlformats.org/drawingml/2006/main">
            <a:pPr algn="l">
              <a:buNone/>
              <a:defRPr sz="1575" b="0">
                <a:solidFill>
                  <a:srgbClr val="667784"/>
                </a:solidFill>
                <a:latin typeface="Nimbus Sans"/>
                <a:ea typeface="Nimbus Sans"/>
                <a:cs typeface="Nimbus Sans"/>
              </a:defRPr>
            </a:pPr>
            <a:r>
              <a:rPr sz="1575" b="0">
                <a:solidFill>
                  <a:srgbClr val="667784"/>
                </a:solidFill>
                <a:latin typeface="Nimbus Sans"/>
                <a:ea typeface="Nimbus Sans"/>
                <a:cs typeface="Nimbus Sans"/>
              </a:rPr>
              <a:t>Final settlement alone distributes V + R = 0.054000 test ETH.</a:t>
            </a:r>
          </a:p>
        </p:txBody>
      </p:sp>
    </p:spTree>
    <p:extLst>
      <p:ext uri="{BB962C8B-B14F-4D97-AF65-F5344CB8AC3E}">
        <p14:creationId xmlns:p14="http://schemas.microsoft.com/office/powerpoint/2010/main" val="361841909"/>
      </p:ext>
    </p:extLst>
  </p:cSld>
</p:sld>
</file>

<file path=ppt/slides/slide10.xml><?xml version="1.0" encoding="utf-8"?>
<p:sld xmlns:p="http://schemas.openxmlformats.org/presentationml/2006/main">
  <p:cSld>
    <p:bg>
      <p:bgPr>
        <a:solidFill xmlns:a="http://schemas.openxmlformats.org/drawingml/2006/main">
          <a:srgbClr val="122C44"/>
        </a:solidFill>
      </p:bgPr>
    </p:bg>
    <p:spTree>
      <p:nvGrpSpPr>
        <p:cNvPr id="1" name=""/>
        <p:cNvGrpSpPr/>
        <p:nvPr/>
      </p:nvGrpSpPr>
      <p:grpSpPr>
        <a:xfrm xmlns:a="http://schemas.openxmlformats.org/drawingml/2006/main"/>
      </p:grpSpPr>
      <p:sp>
        <p:nvSpPr>
          <p:cNvPr id="6" name="title-10">
            <a:extLst xmlns:a="http://schemas.openxmlformats.org/drawingml/2006/main">
              <a:ext uri="{FF2B5EF4-FFF2-40B4-BE49-F238E27FC236}">
                <a16:creationId xmlns:a16="http://schemas.microsoft.com/office/drawing/2014/main" id="{7B9C86E2-C8E7-4E42-804D-42DE70E50132}"/>
              </a:ext>
            </a:extLst>
          </p:cNvPr>
          <p:cNvSpPr>
            <a:spLocks xmlns:a="http://schemas.openxmlformats.org/drawingml/2006/main" noGrp="1"/>
          </p:cNvSpPr>
          <p:nvPr/>
        </p:nvSpPr>
        <p:spPr>
          <a:xfrm xmlns:a="http://schemas.openxmlformats.org/drawingml/2006/main">
            <a:off x="609600" y="2362200"/>
            <a:ext cx="109728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7800" b="1">
                <a:solidFill>
                  <a:srgbClr val="FFFFFF"/>
                </a:solidFill>
                <a:latin typeface="Nimbus Sans"/>
                <a:ea typeface="Nimbus Sans"/>
                <a:cs typeface="Nimbus Sans"/>
              </a:defRPr>
            </a:defPPr>
          </a:lstStyle>
          <a:p xmlns:a="http://schemas.openxmlformats.org/drawingml/2006/main">
            <a:pPr algn="ctr">
              <a:buNone/>
              <a:defRPr sz="7800" b="1">
                <a:solidFill>
                  <a:srgbClr val="FFFFFF"/>
                </a:solidFill>
                <a:latin typeface="Nimbus Sans"/>
                <a:ea typeface="Nimbus Sans"/>
                <a:cs typeface="Nimbus Sans"/>
              </a:defRPr>
            </a:pPr>
            <a:r>
              <a:rPr sz="7800" b="1">
                <a:solidFill>
                  <a:srgbClr val="FFFFFF"/>
                </a:solidFill>
                <a:latin typeface="Nimbus Sans"/>
                <a:ea typeface="Nimbus Sans"/>
                <a:cs typeface="Nimbus Sans"/>
              </a:rPr>
              <a:t>Thank you</a:t>
            </a:r>
          </a:p>
        </p:txBody>
      </p:sp>
      <p:sp>
        <p:nvSpPr>
          <p:cNvPr id="2" name="project-10">
            <a:extLst xmlns:a="http://schemas.openxmlformats.org/drawingml/2006/main">
              <a:ext uri="{FF2B5EF4-FFF2-40B4-BE49-F238E27FC236}">
                <a16:creationId xmlns:a16="http://schemas.microsoft.com/office/drawing/2014/main" id="{4F6D9C28-13B0-448F-92A6-0953DB0ED238}"/>
              </a:ext>
            </a:extLst>
          </p:cNvPr>
          <p:cNvSpPr>
            <a:spLocks xmlns:a="http://schemas.openxmlformats.org/drawingml/2006/main" noGrp="1"/>
          </p:cNvSpPr>
          <p:nvPr/>
        </p:nvSpPr>
        <p:spPr>
          <a:xfrm xmlns:a="http://schemas.openxmlformats.org/drawingml/2006/main">
            <a:off x="609600" y="38862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0">
                <a:solidFill>
                  <a:srgbClr val="DEC398"/>
                </a:solidFill>
                <a:latin typeface="Nimbus Sans"/>
                <a:ea typeface="Nimbus Sans"/>
                <a:cs typeface="Nimbus Sans"/>
              </a:defRPr>
            </a:defPPr>
          </a:lstStyle>
          <a:p xmlns:a="http://schemas.openxmlformats.org/drawingml/2006/main">
            <a:pPr algn="ctr">
              <a:buNone/>
              <a:defRPr sz="2250" b="0">
                <a:solidFill>
                  <a:srgbClr val="DEC398"/>
                </a:solidFill>
                <a:latin typeface="Nimbus Sans"/>
                <a:ea typeface="Nimbus Sans"/>
                <a:cs typeface="Nimbus Sans"/>
              </a:defRPr>
            </a:pPr>
            <a:r>
              <a:rPr sz="2250" b="0">
                <a:solidFill>
                  <a:srgbClr val="DEC398"/>
                </a:solidFill>
                <a:latin typeface="Nimbus Sans"/>
                <a:ea typeface="Nimbus Sans"/>
                <a:cs typeface="Nimbus Sans"/>
              </a:rPr>
              <a:t>SME Flow</a:t>
            </a:r>
          </a:p>
        </p:txBody>
      </p:sp>
      <p:sp>
        <p:nvSpPr>
          <p:cNvPr id="3" name="footer-rule-10">
            <a:extLst xmlns:a="http://schemas.openxmlformats.org/drawingml/2006/main">
              <a:ext uri="{FF2B5EF4-FFF2-40B4-BE49-F238E27FC236}">
                <a16:creationId xmlns:a16="http://schemas.microsoft.com/office/drawing/2014/main" id="{E796C594-0163-4034-8CF8-C7955AD44477}"/>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7620">
            <a:solidFill>
              <a:srgbClr val="446077"/>
            </a:solidFill>
            <a:prstDash val="solid"/>
          </a:ln>
        </p:spPr>
      </p:sp>
      <p:sp>
        <p:nvSpPr>
          <p:cNvPr id="4" name="brand-10">
            <a:extLst xmlns:a="http://schemas.openxmlformats.org/drawingml/2006/main">
              <a:ext uri="{FF2B5EF4-FFF2-40B4-BE49-F238E27FC236}">
                <a16:creationId xmlns:a16="http://schemas.microsoft.com/office/drawing/2014/main" id="{066638AA-302C-4FC4-B099-15B96A479D9A}"/>
              </a:ext>
            </a:extLst>
          </p:cNvPr>
          <p:cNvSpPr>
            <a:spLocks xmlns:a="http://schemas.openxmlformats.org/drawingml/2006/main" noGrp="1"/>
          </p:cNvSpPr>
          <p:nvPr/>
        </p:nvSpPr>
        <p:spPr>
          <a:xfrm xmlns:a="http://schemas.openxmlformats.org/drawingml/2006/main">
            <a:off x="609600" y="6591300"/>
            <a:ext cx="5810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AFBFCC"/>
                </a:solidFill>
                <a:latin typeface="Nimbus Sans"/>
                <a:ea typeface="Nimbus Sans"/>
                <a:cs typeface="Nimbus Sans"/>
              </a:defRPr>
            </a:defPPr>
          </a:lstStyle>
          <a:p xmlns:a="http://schemas.openxmlformats.org/drawingml/2006/main">
            <a:pPr algn="l">
              <a:buNone/>
              <a:defRPr sz="1125" b="0">
                <a:solidFill>
                  <a:srgbClr val="AFBFCC"/>
                </a:solidFill>
                <a:latin typeface="Nimbus Sans"/>
                <a:ea typeface="Nimbus Sans"/>
                <a:cs typeface="Nimbus Sans"/>
              </a:defRPr>
            </a:pPr>
            <a:r>
              <a:rPr sz="1125" b="0">
                <a:solidFill>
                  <a:srgbClr val="AFBFCC"/>
                </a:solidFill>
                <a:latin typeface="Nimbus Sans"/>
                <a:ea typeface="Nimbus Sans"/>
                <a:cs typeface="Nimbus Sans"/>
              </a:rPr>
              <a:t>SME Flow</a:t>
            </a:r>
          </a:p>
        </p:txBody>
      </p:sp>
      <p:sp>
        <p:nvSpPr>
          <p:cNvPr id="5" name="folio-10">
            <a:extLst xmlns:a="http://schemas.openxmlformats.org/drawingml/2006/main">
              <a:ext uri="{FF2B5EF4-FFF2-40B4-BE49-F238E27FC236}">
                <a16:creationId xmlns:a16="http://schemas.microsoft.com/office/drawing/2014/main" id="{A7EC3A0A-B955-408C-87D1-685B383F24EE}"/>
              </a:ext>
            </a:extLst>
          </p:cNvPr>
          <p:cNvSpPr>
            <a:spLocks xmlns:a="http://schemas.openxmlformats.org/drawingml/2006/main" noGrp="1"/>
          </p:cNvSpPr>
          <p:nvPr/>
        </p:nvSpPr>
        <p:spPr>
          <a:xfrm xmlns:a="http://schemas.openxmlformats.org/drawingml/2006/main">
            <a:off x="11163300" y="6591300"/>
            <a:ext cx="419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AFBFCC"/>
                </a:solidFill>
                <a:latin typeface="Nimbus Sans"/>
                <a:ea typeface="Nimbus Sans"/>
                <a:cs typeface="Nimbus Sans"/>
              </a:defRPr>
            </a:defPPr>
          </a:lstStyle>
          <a:p xmlns:a="http://schemas.openxmlformats.org/drawingml/2006/main">
            <a:pPr algn="r">
              <a:buNone/>
              <a:defRPr sz="1125" b="0">
                <a:solidFill>
                  <a:srgbClr val="AFBFCC"/>
                </a:solidFill>
                <a:latin typeface="Nimbus Sans"/>
                <a:ea typeface="Nimbus Sans"/>
                <a:cs typeface="Nimbus Sans"/>
              </a:defRPr>
            </a:pPr>
            <a:r>
              <a:rPr sz="1125" b="0">
                <a:solidFill>
                  <a:srgbClr val="AFBFCC"/>
                </a:solidFill>
                <a:latin typeface="Nimbus Sans"/>
                <a:ea typeface="Nimbus Sans"/>
                <a:cs typeface="Nimbus Sans"/>
              </a:rPr>
              <a:t>10</a:t>
            </a:r>
          </a:p>
        </p:txBody>
      </p:sp>
    </p:spTree>
    <p:extLst>
      <p:ext uri="{BB962C8B-B14F-4D97-AF65-F5344CB8AC3E}">
        <p14:creationId xmlns:p14="http://schemas.microsoft.com/office/powerpoint/2010/main" val="5371986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2026-10-12T18:09:16.0010000Z</dcterms:created>
  <dcterms:modified xsi:type="dcterms:W3CDTF">2026-10-12T18:09:16.0010000Z</dcterms:modified>
</coreProperties>
</file>